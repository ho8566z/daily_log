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59" r:id="rId4"/>
    <p:sldId id="257" r:id="rId5"/>
    <p:sldId id="258" r:id="rId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404040"/>
    <a:srgbClr val="E7E6E6"/>
    <a:srgbClr val="D0CECE"/>
    <a:srgbClr val="7F7F7F"/>
    <a:srgbClr val="FFD9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447" autoAdjust="0"/>
    <p:restoredTop sz="94660"/>
  </p:normalViewPr>
  <p:slideViewPr>
    <p:cSldViewPr snapToGrid="0">
      <p:cViewPr>
        <p:scale>
          <a:sx n="50" d="100"/>
          <a:sy n="50" d="100"/>
        </p:scale>
        <p:origin x="708" y="15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2026-08-13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73587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2026-08-13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49670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2026-08-13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96171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2026-08-13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60156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2026-08-13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3043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2026-08-13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774975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2026-08-13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76925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2026-08-13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956665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2026-08-13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04264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2026-08-13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92555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2026-08-13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79361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37CE1A-8831-48B5-BA93-72483C6E34E8}" type="datetimeFigureOut">
              <a:rPr lang="ko-KR" altLang="en-US" smtClean="0"/>
              <a:t>2026-08-13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422006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그룹 72"/>
          <p:cNvGrpSpPr/>
          <p:nvPr/>
        </p:nvGrpSpPr>
        <p:grpSpPr>
          <a:xfrm>
            <a:off x="649767" y="767507"/>
            <a:ext cx="14514212" cy="5304499"/>
            <a:chOff x="649767" y="767507"/>
            <a:chExt cx="14514212" cy="5304499"/>
          </a:xfrm>
        </p:grpSpPr>
        <p:sp>
          <p:nvSpPr>
            <p:cNvPr id="69" name="모서리가 둥근 직사각형 68"/>
            <p:cNvSpPr/>
            <p:nvPr/>
          </p:nvSpPr>
          <p:spPr>
            <a:xfrm>
              <a:off x="5210623" y="3192006"/>
              <a:ext cx="6480000" cy="2880000"/>
            </a:xfrm>
            <a:prstGeom prst="roundRect">
              <a:avLst>
                <a:gd name="adj" fmla="val 5620"/>
              </a:avLst>
            </a:prstGeom>
            <a:solidFill>
              <a:schemeClr val="bg2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>
                <a:lnSpc>
                  <a:spcPct val="150000"/>
                </a:lnSpc>
              </a:pP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public </a:t>
              </a:r>
              <a:r>
                <a:rPr lang="en-US" altLang="ko-KR" sz="2000" dirty="0" err="1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C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oolingSystem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(String color) {</a:t>
              </a:r>
            </a:p>
            <a:p>
              <a:pPr>
                <a:lnSpc>
                  <a:spcPct val="150000"/>
                </a:lnSpc>
              </a:pPr>
              <a:r>
                <a:rPr lang="en-US" altLang="ko-KR" sz="20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   power = false;</a:t>
              </a:r>
            </a:p>
            <a:p>
              <a:pPr>
                <a:lnSpc>
                  <a:spcPct val="150000"/>
                </a:lnSpc>
              </a:pP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   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targetTemperature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= 18;</a:t>
              </a:r>
            </a:p>
            <a:p>
              <a:pPr>
                <a:lnSpc>
                  <a:spcPct val="150000"/>
                </a:lnSpc>
              </a:pP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   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dateOfManufacture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=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getSystemDateTime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();</a:t>
              </a:r>
            </a:p>
            <a:p>
              <a:pPr>
                <a:lnSpc>
                  <a:spcPct val="150000"/>
                </a:lnSpc>
              </a:pPr>
              <a:r>
                <a:rPr lang="en-US" altLang="ko-KR" sz="20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  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this.color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= color;</a:t>
              </a:r>
            </a:p>
            <a:p>
              <a:pPr>
                <a:lnSpc>
                  <a:spcPct val="150000"/>
                </a:lnSpc>
              </a:pP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}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" name="모서리가 둥근 직사각형 1"/>
            <p:cNvSpPr/>
            <p:nvPr/>
          </p:nvSpPr>
          <p:spPr>
            <a:xfrm>
              <a:off x="5210623" y="767507"/>
              <a:ext cx="6480000" cy="2160000"/>
            </a:xfrm>
            <a:prstGeom prst="roundRect">
              <a:avLst>
                <a:gd name="adj" fmla="val 5620"/>
              </a:avLst>
            </a:prstGeom>
            <a:solidFill>
              <a:schemeClr val="bg2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>
                <a:lnSpc>
                  <a:spcPct val="150000"/>
                </a:lnSpc>
              </a:pP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private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boolean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power;		    // 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전원</a:t>
              </a:r>
              <a:endPara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pPr>
                <a:lnSpc>
                  <a:spcPct val="150000"/>
                </a:lnSpc>
              </a:pP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private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int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targetTemperature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;	    // 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희망 온도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pPr>
                <a:lnSpc>
                  <a:spcPct val="150000"/>
                </a:lnSpc>
              </a:pP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private String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dateOfManufacture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;	    // 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제조일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pPr>
                <a:lnSpc>
                  <a:spcPct val="150000"/>
                </a:lnSpc>
              </a:pP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private String color;			    // 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색상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4" name="타원 3"/>
            <p:cNvSpPr/>
            <p:nvPr/>
          </p:nvSpPr>
          <p:spPr>
            <a:xfrm>
              <a:off x="649767" y="4130106"/>
              <a:ext cx="1080000" cy="1080000"/>
            </a:xfrm>
            <a:prstGeom prst="ellipse">
              <a:avLst/>
            </a:prstGeom>
            <a:solidFill>
              <a:schemeClr val="accent2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6" name="직선 화살표 연결선 5"/>
            <p:cNvCxnSpPr/>
            <p:nvPr/>
          </p:nvCxnSpPr>
          <p:spPr>
            <a:xfrm>
              <a:off x="1729767" y="4670106"/>
              <a:ext cx="3420000" cy="0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2532070" y="4262674"/>
              <a:ext cx="156004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외부 접근 가능</a:t>
              </a:r>
              <a:endParaRPr lang="ko-KR" altLang="en-US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47" name="타원 46"/>
            <p:cNvSpPr/>
            <p:nvPr/>
          </p:nvSpPr>
          <p:spPr>
            <a:xfrm>
              <a:off x="649767" y="1322793"/>
              <a:ext cx="1080000" cy="1080000"/>
            </a:xfrm>
            <a:prstGeom prst="ellipse">
              <a:avLst/>
            </a:prstGeom>
            <a:solidFill>
              <a:schemeClr val="accent2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48" name="직선 화살표 연결선 47"/>
            <p:cNvCxnSpPr/>
            <p:nvPr/>
          </p:nvCxnSpPr>
          <p:spPr>
            <a:xfrm>
              <a:off x="1729767" y="1862793"/>
              <a:ext cx="3420000" cy="0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TextBox 48"/>
            <p:cNvSpPr txBox="1"/>
            <p:nvPr/>
          </p:nvSpPr>
          <p:spPr>
            <a:xfrm>
              <a:off x="2427073" y="1459559"/>
              <a:ext cx="17700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외부 접근 불가능</a:t>
              </a:r>
              <a:endParaRPr lang="ko-KR" altLang="en-US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70" name="오른쪽 중괄호 69"/>
            <p:cNvSpPr/>
            <p:nvPr/>
          </p:nvSpPr>
          <p:spPr>
            <a:xfrm>
              <a:off x="11796000" y="3897156"/>
              <a:ext cx="396000" cy="1584000"/>
            </a:xfrm>
            <a:prstGeom prst="rightBrac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2" name="TextBox 71"/>
            <p:cNvSpPr txBox="1"/>
            <p:nvPr/>
          </p:nvSpPr>
          <p:spPr>
            <a:xfrm>
              <a:off x="12496261" y="4504490"/>
              <a:ext cx="26677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dirty="0" err="1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생성자를</a:t>
              </a:r>
              <a:r>
                <a:rPr lang="ko-KR" altLang="en-US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통한 속성 초기화</a:t>
              </a:r>
              <a:endParaRPr lang="ko-KR" altLang="en-US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400702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1857829" y="769257"/>
            <a:ext cx="5962748" cy="5013372"/>
            <a:chOff x="1857829" y="769257"/>
            <a:chExt cx="5962748" cy="5013372"/>
          </a:xfrm>
        </p:grpSpPr>
        <p:sp>
          <p:nvSpPr>
            <p:cNvPr id="2" name="모서리가 둥근 직사각형 1"/>
            <p:cNvSpPr/>
            <p:nvPr/>
          </p:nvSpPr>
          <p:spPr>
            <a:xfrm>
              <a:off x="1857829" y="769257"/>
              <a:ext cx="3600000" cy="108000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6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GrandParentsClass</a:t>
              </a:r>
              <a:endParaRPr lang="ko-KR" altLang="en-US" sz="26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57" name="모서리가 둥근 직사각형 56"/>
            <p:cNvSpPr/>
            <p:nvPr/>
          </p:nvSpPr>
          <p:spPr>
            <a:xfrm>
              <a:off x="1857829" y="2735943"/>
              <a:ext cx="3600000" cy="108000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6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ParentsClass</a:t>
              </a:r>
              <a:endParaRPr lang="ko-KR" altLang="en-US" sz="26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58" name="모서리가 둥근 직사각형 57"/>
            <p:cNvSpPr/>
            <p:nvPr/>
          </p:nvSpPr>
          <p:spPr>
            <a:xfrm>
              <a:off x="1857829" y="4702629"/>
              <a:ext cx="3600000" cy="108000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6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ChindClass</a:t>
              </a:r>
              <a:endParaRPr lang="ko-KR" altLang="en-US" sz="26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cxnSp>
          <p:nvCxnSpPr>
            <p:cNvPr id="4" name="직선 화살표 연결선 3"/>
            <p:cNvCxnSpPr>
              <a:stCxn id="58" idx="0"/>
              <a:endCxn id="57" idx="2"/>
            </p:cNvCxnSpPr>
            <p:nvPr/>
          </p:nvCxnSpPr>
          <p:spPr>
            <a:xfrm flipV="1">
              <a:off x="3657829" y="3815943"/>
              <a:ext cx="0" cy="886686"/>
            </a:xfrm>
            <a:prstGeom prst="straightConnector1">
              <a:avLst/>
            </a:prstGeom>
            <a:ln w="762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직선 화살표 연결선 60"/>
            <p:cNvCxnSpPr>
              <a:stCxn id="57" idx="0"/>
              <a:endCxn id="2" idx="2"/>
            </p:cNvCxnSpPr>
            <p:nvPr/>
          </p:nvCxnSpPr>
          <p:spPr>
            <a:xfrm flipV="1">
              <a:off x="3657829" y="1849257"/>
              <a:ext cx="0" cy="886686"/>
            </a:xfrm>
            <a:prstGeom prst="straightConnector1">
              <a:avLst/>
            </a:prstGeom>
            <a:ln w="762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모서리가 둥근 직사각형 9"/>
            <p:cNvSpPr/>
            <p:nvPr/>
          </p:nvSpPr>
          <p:spPr>
            <a:xfrm>
              <a:off x="5660577" y="769257"/>
              <a:ext cx="2160000" cy="1080000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속성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1 &amp; 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기능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1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68" name="모서리가 둥근 직사각형 67"/>
            <p:cNvSpPr/>
            <p:nvPr/>
          </p:nvSpPr>
          <p:spPr>
            <a:xfrm>
              <a:off x="5660577" y="2735943"/>
              <a:ext cx="2160000" cy="1080000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0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속성</a:t>
              </a:r>
              <a:r>
                <a:rPr lang="en-US" altLang="ko-KR" sz="20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1 &amp; </a:t>
              </a:r>
              <a:r>
                <a:rPr lang="ko-KR" altLang="en-US" sz="20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기능</a:t>
              </a:r>
              <a:r>
                <a:rPr lang="en-US" altLang="ko-KR" sz="20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1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pPr algn="ctr"/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속성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2 </a:t>
              </a:r>
              <a:r>
                <a:rPr lang="en-US" altLang="ko-KR" sz="20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&amp; 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기능</a:t>
              </a:r>
              <a:r>
                <a:rPr lang="en-US" altLang="ko-KR" sz="20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2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69" name="모서리가 둥근 직사각형 68"/>
            <p:cNvSpPr/>
            <p:nvPr/>
          </p:nvSpPr>
          <p:spPr>
            <a:xfrm>
              <a:off x="5660577" y="4702629"/>
              <a:ext cx="2160000" cy="1080000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0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속성</a:t>
              </a:r>
              <a:r>
                <a:rPr lang="en-US" altLang="ko-KR" sz="20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1 &amp; </a:t>
              </a:r>
              <a:r>
                <a:rPr lang="ko-KR" altLang="en-US" sz="20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기능</a:t>
              </a:r>
              <a:r>
                <a:rPr lang="en-US" altLang="ko-KR" sz="20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1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pPr algn="ctr"/>
              <a:r>
                <a:rPr lang="ko-KR" altLang="en-US" sz="20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속성</a:t>
              </a:r>
              <a:r>
                <a:rPr lang="en-US" altLang="ko-KR" sz="20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2 &amp; </a:t>
              </a:r>
              <a:r>
                <a:rPr lang="ko-KR" altLang="en-US" sz="20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기능</a:t>
              </a:r>
              <a:r>
                <a:rPr lang="en-US" altLang="ko-KR" sz="20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2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pPr algn="ctr"/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속성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3 &amp; 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속성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3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579898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직사각형 80"/>
          <p:cNvSpPr>
            <a:spLocks noChangeAspect="1"/>
          </p:cNvSpPr>
          <p:nvPr/>
        </p:nvSpPr>
        <p:spPr>
          <a:xfrm>
            <a:off x="1187772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TextBox 82"/>
          <p:cNvSpPr txBox="1"/>
          <p:nvPr/>
        </p:nvSpPr>
        <p:spPr>
          <a:xfrm>
            <a:off x="1133543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86" name="직사각형 85"/>
          <p:cNvSpPr>
            <a:spLocks noChangeAspect="1"/>
          </p:cNvSpPr>
          <p:nvPr/>
        </p:nvSpPr>
        <p:spPr>
          <a:xfrm>
            <a:off x="2051772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" name="TextBox 86"/>
          <p:cNvSpPr txBox="1"/>
          <p:nvPr/>
        </p:nvSpPr>
        <p:spPr>
          <a:xfrm>
            <a:off x="1997543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88" name="직사각형 87"/>
          <p:cNvSpPr>
            <a:spLocks noChangeAspect="1"/>
          </p:cNvSpPr>
          <p:nvPr/>
        </p:nvSpPr>
        <p:spPr>
          <a:xfrm>
            <a:off x="2915771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TextBox 88"/>
          <p:cNvSpPr txBox="1"/>
          <p:nvPr/>
        </p:nvSpPr>
        <p:spPr>
          <a:xfrm>
            <a:off x="2861542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0" name="직사각형 89"/>
          <p:cNvSpPr>
            <a:spLocks noChangeAspect="1"/>
          </p:cNvSpPr>
          <p:nvPr/>
        </p:nvSpPr>
        <p:spPr>
          <a:xfrm>
            <a:off x="3779771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TextBox 90"/>
          <p:cNvSpPr txBox="1"/>
          <p:nvPr/>
        </p:nvSpPr>
        <p:spPr>
          <a:xfrm>
            <a:off x="3725542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2" name="직사각형 91"/>
          <p:cNvSpPr>
            <a:spLocks noChangeAspect="1"/>
          </p:cNvSpPr>
          <p:nvPr/>
        </p:nvSpPr>
        <p:spPr>
          <a:xfrm>
            <a:off x="4643770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3" name="TextBox 92"/>
          <p:cNvSpPr txBox="1"/>
          <p:nvPr/>
        </p:nvSpPr>
        <p:spPr>
          <a:xfrm>
            <a:off x="4589541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4" name="직사각형 93"/>
          <p:cNvSpPr>
            <a:spLocks noChangeAspect="1"/>
          </p:cNvSpPr>
          <p:nvPr/>
        </p:nvSpPr>
        <p:spPr>
          <a:xfrm>
            <a:off x="1187772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5" name="TextBox 94"/>
          <p:cNvSpPr txBox="1"/>
          <p:nvPr/>
        </p:nvSpPr>
        <p:spPr>
          <a:xfrm>
            <a:off x="1133543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6" name="직사각형 95"/>
          <p:cNvSpPr>
            <a:spLocks noChangeAspect="1"/>
          </p:cNvSpPr>
          <p:nvPr/>
        </p:nvSpPr>
        <p:spPr>
          <a:xfrm>
            <a:off x="2051772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TextBox 96"/>
          <p:cNvSpPr txBox="1"/>
          <p:nvPr/>
        </p:nvSpPr>
        <p:spPr>
          <a:xfrm>
            <a:off x="1997543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8" name="직사각형 97"/>
          <p:cNvSpPr>
            <a:spLocks noChangeAspect="1"/>
          </p:cNvSpPr>
          <p:nvPr/>
        </p:nvSpPr>
        <p:spPr>
          <a:xfrm>
            <a:off x="2915771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9" name="TextBox 98"/>
          <p:cNvSpPr txBox="1"/>
          <p:nvPr/>
        </p:nvSpPr>
        <p:spPr>
          <a:xfrm>
            <a:off x="2861542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0" name="직사각형 99"/>
          <p:cNvSpPr>
            <a:spLocks noChangeAspect="1"/>
          </p:cNvSpPr>
          <p:nvPr/>
        </p:nvSpPr>
        <p:spPr>
          <a:xfrm>
            <a:off x="3779771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1" name="TextBox 100"/>
          <p:cNvSpPr txBox="1"/>
          <p:nvPr/>
        </p:nvSpPr>
        <p:spPr>
          <a:xfrm>
            <a:off x="3725542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2" name="직사각형 101"/>
          <p:cNvSpPr>
            <a:spLocks noChangeAspect="1"/>
          </p:cNvSpPr>
          <p:nvPr/>
        </p:nvSpPr>
        <p:spPr>
          <a:xfrm>
            <a:off x="4643770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" name="TextBox 102"/>
          <p:cNvSpPr txBox="1"/>
          <p:nvPr/>
        </p:nvSpPr>
        <p:spPr>
          <a:xfrm>
            <a:off x="4589541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4" name="직사각형 103"/>
          <p:cNvSpPr>
            <a:spLocks noChangeAspect="1"/>
          </p:cNvSpPr>
          <p:nvPr/>
        </p:nvSpPr>
        <p:spPr>
          <a:xfrm>
            <a:off x="1187772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5" name="TextBox 104"/>
          <p:cNvSpPr txBox="1"/>
          <p:nvPr/>
        </p:nvSpPr>
        <p:spPr>
          <a:xfrm>
            <a:off x="1133543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6" name="직사각형 105"/>
          <p:cNvSpPr>
            <a:spLocks noChangeAspect="1"/>
          </p:cNvSpPr>
          <p:nvPr/>
        </p:nvSpPr>
        <p:spPr>
          <a:xfrm>
            <a:off x="2051772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7" name="TextBox 106"/>
          <p:cNvSpPr txBox="1"/>
          <p:nvPr/>
        </p:nvSpPr>
        <p:spPr>
          <a:xfrm>
            <a:off x="1997543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8" name="직사각형 107"/>
          <p:cNvSpPr>
            <a:spLocks noChangeAspect="1"/>
          </p:cNvSpPr>
          <p:nvPr/>
        </p:nvSpPr>
        <p:spPr>
          <a:xfrm>
            <a:off x="2915771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9" name="TextBox 108"/>
          <p:cNvSpPr txBox="1"/>
          <p:nvPr/>
        </p:nvSpPr>
        <p:spPr>
          <a:xfrm>
            <a:off x="2861542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0" name="직사각형 109"/>
          <p:cNvSpPr>
            <a:spLocks noChangeAspect="1"/>
          </p:cNvSpPr>
          <p:nvPr/>
        </p:nvSpPr>
        <p:spPr>
          <a:xfrm>
            <a:off x="3779771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1" name="TextBox 110"/>
          <p:cNvSpPr txBox="1"/>
          <p:nvPr/>
        </p:nvSpPr>
        <p:spPr>
          <a:xfrm>
            <a:off x="3725542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2" name="직사각형 111"/>
          <p:cNvSpPr>
            <a:spLocks noChangeAspect="1"/>
          </p:cNvSpPr>
          <p:nvPr/>
        </p:nvSpPr>
        <p:spPr>
          <a:xfrm>
            <a:off x="4643770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3" name="TextBox 112"/>
          <p:cNvSpPr txBox="1"/>
          <p:nvPr/>
        </p:nvSpPr>
        <p:spPr>
          <a:xfrm>
            <a:off x="4589541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4" name="직사각형 113"/>
          <p:cNvSpPr>
            <a:spLocks noChangeAspect="1"/>
          </p:cNvSpPr>
          <p:nvPr/>
        </p:nvSpPr>
        <p:spPr>
          <a:xfrm>
            <a:off x="6451196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5" name="TextBox 114"/>
          <p:cNvSpPr txBox="1"/>
          <p:nvPr/>
        </p:nvSpPr>
        <p:spPr>
          <a:xfrm>
            <a:off x="6396967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6" name="직사각형 115"/>
          <p:cNvSpPr>
            <a:spLocks noChangeAspect="1"/>
          </p:cNvSpPr>
          <p:nvPr/>
        </p:nvSpPr>
        <p:spPr>
          <a:xfrm>
            <a:off x="7315196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7" name="TextBox 116"/>
          <p:cNvSpPr txBox="1"/>
          <p:nvPr/>
        </p:nvSpPr>
        <p:spPr>
          <a:xfrm>
            <a:off x="7260967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8" name="직사각형 117"/>
          <p:cNvSpPr>
            <a:spLocks noChangeAspect="1"/>
          </p:cNvSpPr>
          <p:nvPr/>
        </p:nvSpPr>
        <p:spPr>
          <a:xfrm>
            <a:off x="8179195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9" name="TextBox 118"/>
          <p:cNvSpPr txBox="1"/>
          <p:nvPr/>
        </p:nvSpPr>
        <p:spPr>
          <a:xfrm>
            <a:off x="8124966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0" name="직사각형 119"/>
          <p:cNvSpPr>
            <a:spLocks noChangeAspect="1"/>
          </p:cNvSpPr>
          <p:nvPr/>
        </p:nvSpPr>
        <p:spPr>
          <a:xfrm>
            <a:off x="9043195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1" name="TextBox 120"/>
          <p:cNvSpPr txBox="1"/>
          <p:nvPr/>
        </p:nvSpPr>
        <p:spPr>
          <a:xfrm>
            <a:off x="8988966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2" name="직사각형 121"/>
          <p:cNvSpPr>
            <a:spLocks noChangeAspect="1"/>
          </p:cNvSpPr>
          <p:nvPr/>
        </p:nvSpPr>
        <p:spPr>
          <a:xfrm>
            <a:off x="9907194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3" name="TextBox 122"/>
          <p:cNvSpPr txBox="1"/>
          <p:nvPr/>
        </p:nvSpPr>
        <p:spPr>
          <a:xfrm>
            <a:off x="9852965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4" name="직사각형 123"/>
          <p:cNvSpPr>
            <a:spLocks noChangeAspect="1"/>
          </p:cNvSpPr>
          <p:nvPr/>
        </p:nvSpPr>
        <p:spPr>
          <a:xfrm>
            <a:off x="6451196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5" name="TextBox 124"/>
          <p:cNvSpPr txBox="1"/>
          <p:nvPr/>
        </p:nvSpPr>
        <p:spPr>
          <a:xfrm>
            <a:off x="6396967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6" name="직사각형 125"/>
          <p:cNvSpPr>
            <a:spLocks noChangeAspect="1"/>
          </p:cNvSpPr>
          <p:nvPr/>
        </p:nvSpPr>
        <p:spPr>
          <a:xfrm>
            <a:off x="7315196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7" name="TextBox 126"/>
          <p:cNvSpPr txBox="1"/>
          <p:nvPr/>
        </p:nvSpPr>
        <p:spPr>
          <a:xfrm>
            <a:off x="7260967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8" name="직사각형 127"/>
          <p:cNvSpPr>
            <a:spLocks noChangeAspect="1"/>
          </p:cNvSpPr>
          <p:nvPr/>
        </p:nvSpPr>
        <p:spPr>
          <a:xfrm>
            <a:off x="8179195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9" name="TextBox 128"/>
          <p:cNvSpPr txBox="1"/>
          <p:nvPr/>
        </p:nvSpPr>
        <p:spPr>
          <a:xfrm>
            <a:off x="8124966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0" name="직사각형 129"/>
          <p:cNvSpPr>
            <a:spLocks noChangeAspect="1"/>
          </p:cNvSpPr>
          <p:nvPr/>
        </p:nvSpPr>
        <p:spPr>
          <a:xfrm>
            <a:off x="9043195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1" name="TextBox 130"/>
          <p:cNvSpPr txBox="1"/>
          <p:nvPr/>
        </p:nvSpPr>
        <p:spPr>
          <a:xfrm>
            <a:off x="8988966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2" name="직사각형 131"/>
          <p:cNvSpPr>
            <a:spLocks noChangeAspect="1"/>
          </p:cNvSpPr>
          <p:nvPr/>
        </p:nvSpPr>
        <p:spPr>
          <a:xfrm>
            <a:off x="9907194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3" name="TextBox 132"/>
          <p:cNvSpPr txBox="1"/>
          <p:nvPr/>
        </p:nvSpPr>
        <p:spPr>
          <a:xfrm>
            <a:off x="9852965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4" name="직사각형 133"/>
          <p:cNvSpPr>
            <a:spLocks noChangeAspect="1"/>
          </p:cNvSpPr>
          <p:nvPr/>
        </p:nvSpPr>
        <p:spPr>
          <a:xfrm>
            <a:off x="6451196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5" name="TextBox 134"/>
          <p:cNvSpPr txBox="1"/>
          <p:nvPr/>
        </p:nvSpPr>
        <p:spPr>
          <a:xfrm>
            <a:off x="6396967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6" name="직사각형 135"/>
          <p:cNvSpPr>
            <a:spLocks noChangeAspect="1"/>
          </p:cNvSpPr>
          <p:nvPr/>
        </p:nvSpPr>
        <p:spPr>
          <a:xfrm>
            <a:off x="7315196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7" name="TextBox 136"/>
          <p:cNvSpPr txBox="1"/>
          <p:nvPr/>
        </p:nvSpPr>
        <p:spPr>
          <a:xfrm>
            <a:off x="7260967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8" name="직사각형 137"/>
          <p:cNvSpPr>
            <a:spLocks noChangeAspect="1"/>
          </p:cNvSpPr>
          <p:nvPr/>
        </p:nvSpPr>
        <p:spPr>
          <a:xfrm>
            <a:off x="8179195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9" name="TextBox 138"/>
          <p:cNvSpPr txBox="1"/>
          <p:nvPr/>
        </p:nvSpPr>
        <p:spPr>
          <a:xfrm>
            <a:off x="8124966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0" name="직사각형 139"/>
          <p:cNvSpPr>
            <a:spLocks noChangeAspect="1"/>
          </p:cNvSpPr>
          <p:nvPr/>
        </p:nvSpPr>
        <p:spPr>
          <a:xfrm>
            <a:off x="9043195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1" name="TextBox 140"/>
          <p:cNvSpPr txBox="1"/>
          <p:nvPr/>
        </p:nvSpPr>
        <p:spPr>
          <a:xfrm>
            <a:off x="8988966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2" name="직사각형 141"/>
          <p:cNvSpPr>
            <a:spLocks noChangeAspect="1"/>
          </p:cNvSpPr>
          <p:nvPr/>
        </p:nvSpPr>
        <p:spPr>
          <a:xfrm>
            <a:off x="9907194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3" name="TextBox 142"/>
          <p:cNvSpPr txBox="1"/>
          <p:nvPr/>
        </p:nvSpPr>
        <p:spPr>
          <a:xfrm>
            <a:off x="9852965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4" name="직사각형 143"/>
          <p:cNvSpPr>
            <a:spLocks noChangeAspect="1"/>
          </p:cNvSpPr>
          <p:nvPr/>
        </p:nvSpPr>
        <p:spPr>
          <a:xfrm>
            <a:off x="1198457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5" name="TextBox 144"/>
          <p:cNvSpPr txBox="1"/>
          <p:nvPr/>
        </p:nvSpPr>
        <p:spPr>
          <a:xfrm>
            <a:off x="1144228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6" name="직사각형 145"/>
          <p:cNvSpPr>
            <a:spLocks noChangeAspect="1"/>
          </p:cNvSpPr>
          <p:nvPr/>
        </p:nvSpPr>
        <p:spPr>
          <a:xfrm>
            <a:off x="2062457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7" name="TextBox 146"/>
          <p:cNvSpPr txBox="1"/>
          <p:nvPr/>
        </p:nvSpPr>
        <p:spPr>
          <a:xfrm>
            <a:off x="2008228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8" name="직사각형 147"/>
          <p:cNvSpPr>
            <a:spLocks noChangeAspect="1"/>
          </p:cNvSpPr>
          <p:nvPr/>
        </p:nvSpPr>
        <p:spPr>
          <a:xfrm>
            <a:off x="2926456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9" name="TextBox 148"/>
          <p:cNvSpPr txBox="1"/>
          <p:nvPr/>
        </p:nvSpPr>
        <p:spPr>
          <a:xfrm>
            <a:off x="2872227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0" name="직사각형 149"/>
          <p:cNvSpPr>
            <a:spLocks noChangeAspect="1"/>
          </p:cNvSpPr>
          <p:nvPr/>
        </p:nvSpPr>
        <p:spPr>
          <a:xfrm>
            <a:off x="3790456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1" name="TextBox 150"/>
          <p:cNvSpPr txBox="1"/>
          <p:nvPr/>
        </p:nvSpPr>
        <p:spPr>
          <a:xfrm>
            <a:off x="3736227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2" name="직사각형 151"/>
          <p:cNvSpPr>
            <a:spLocks noChangeAspect="1"/>
          </p:cNvSpPr>
          <p:nvPr/>
        </p:nvSpPr>
        <p:spPr>
          <a:xfrm>
            <a:off x="4654455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3" name="TextBox 152"/>
          <p:cNvSpPr txBox="1"/>
          <p:nvPr/>
        </p:nvSpPr>
        <p:spPr>
          <a:xfrm>
            <a:off x="4600226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4" name="직사각형 153"/>
          <p:cNvSpPr>
            <a:spLocks noChangeAspect="1"/>
          </p:cNvSpPr>
          <p:nvPr/>
        </p:nvSpPr>
        <p:spPr>
          <a:xfrm>
            <a:off x="1198457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5" name="TextBox 154"/>
          <p:cNvSpPr txBox="1"/>
          <p:nvPr/>
        </p:nvSpPr>
        <p:spPr>
          <a:xfrm>
            <a:off x="1144228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6" name="직사각형 155"/>
          <p:cNvSpPr>
            <a:spLocks noChangeAspect="1"/>
          </p:cNvSpPr>
          <p:nvPr/>
        </p:nvSpPr>
        <p:spPr>
          <a:xfrm>
            <a:off x="2062457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7" name="TextBox 156"/>
          <p:cNvSpPr txBox="1"/>
          <p:nvPr/>
        </p:nvSpPr>
        <p:spPr>
          <a:xfrm>
            <a:off x="2008228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8" name="직사각형 157"/>
          <p:cNvSpPr>
            <a:spLocks noChangeAspect="1"/>
          </p:cNvSpPr>
          <p:nvPr/>
        </p:nvSpPr>
        <p:spPr>
          <a:xfrm>
            <a:off x="2926456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9" name="TextBox 158"/>
          <p:cNvSpPr txBox="1"/>
          <p:nvPr/>
        </p:nvSpPr>
        <p:spPr>
          <a:xfrm>
            <a:off x="2872227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0" name="직사각형 159"/>
          <p:cNvSpPr>
            <a:spLocks noChangeAspect="1"/>
          </p:cNvSpPr>
          <p:nvPr/>
        </p:nvSpPr>
        <p:spPr>
          <a:xfrm>
            <a:off x="3790456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1" name="TextBox 160"/>
          <p:cNvSpPr txBox="1"/>
          <p:nvPr/>
        </p:nvSpPr>
        <p:spPr>
          <a:xfrm>
            <a:off x="3736227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2" name="직사각형 161"/>
          <p:cNvSpPr>
            <a:spLocks noChangeAspect="1"/>
          </p:cNvSpPr>
          <p:nvPr/>
        </p:nvSpPr>
        <p:spPr>
          <a:xfrm>
            <a:off x="4654455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3" name="TextBox 162"/>
          <p:cNvSpPr txBox="1"/>
          <p:nvPr/>
        </p:nvSpPr>
        <p:spPr>
          <a:xfrm>
            <a:off x="4600226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4" name="직사각형 163"/>
          <p:cNvSpPr>
            <a:spLocks noChangeAspect="1"/>
          </p:cNvSpPr>
          <p:nvPr/>
        </p:nvSpPr>
        <p:spPr>
          <a:xfrm>
            <a:off x="1198457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5" name="TextBox 164"/>
          <p:cNvSpPr txBox="1"/>
          <p:nvPr/>
        </p:nvSpPr>
        <p:spPr>
          <a:xfrm>
            <a:off x="1144228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6" name="직사각형 165"/>
          <p:cNvSpPr>
            <a:spLocks noChangeAspect="1"/>
          </p:cNvSpPr>
          <p:nvPr/>
        </p:nvSpPr>
        <p:spPr>
          <a:xfrm>
            <a:off x="2062457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7" name="TextBox 166"/>
          <p:cNvSpPr txBox="1"/>
          <p:nvPr/>
        </p:nvSpPr>
        <p:spPr>
          <a:xfrm>
            <a:off x="2008228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8" name="직사각형 167"/>
          <p:cNvSpPr>
            <a:spLocks noChangeAspect="1"/>
          </p:cNvSpPr>
          <p:nvPr/>
        </p:nvSpPr>
        <p:spPr>
          <a:xfrm>
            <a:off x="2926456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9" name="TextBox 168"/>
          <p:cNvSpPr txBox="1"/>
          <p:nvPr/>
        </p:nvSpPr>
        <p:spPr>
          <a:xfrm>
            <a:off x="2872227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0" name="직사각형 169"/>
          <p:cNvSpPr>
            <a:spLocks noChangeAspect="1"/>
          </p:cNvSpPr>
          <p:nvPr/>
        </p:nvSpPr>
        <p:spPr>
          <a:xfrm>
            <a:off x="3790456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1" name="TextBox 170"/>
          <p:cNvSpPr txBox="1"/>
          <p:nvPr/>
        </p:nvSpPr>
        <p:spPr>
          <a:xfrm>
            <a:off x="3736227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2" name="직사각형 171"/>
          <p:cNvSpPr>
            <a:spLocks noChangeAspect="1"/>
          </p:cNvSpPr>
          <p:nvPr/>
        </p:nvSpPr>
        <p:spPr>
          <a:xfrm>
            <a:off x="4654455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3" name="TextBox 172"/>
          <p:cNvSpPr txBox="1"/>
          <p:nvPr/>
        </p:nvSpPr>
        <p:spPr>
          <a:xfrm>
            <a:off x="4600226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4" name="직사각형 173"/>
          <p:cNvSpPr>
            <a:spLocks noChangeAspect="1"/>
          </p:cNvSpPr>
          <p:nvPr/>
        </p:nvSpPr>
        <p:spPr>
          <a:xfrm>
            <a:off x="6461881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5" name="TextBox 174"/>
          <p:cNvSpPr txBox="1"/>
          <p:nvPr/>
        </p:nvSpPr>
        <p:spPr>
          <a:xfrm>
            <a:off x="6407652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6" name="직사각형 175"/>
          <p:cNvSpPr>
            <a:spLocks noChangeAspect="1"/>
          </p:cNvSpPr>
          <p:nvPr/>
        </p:nvSpPr>
        <p:spPr>
          <a:xfrm>
            <a:off x="7325881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7" name="TextBox 176"/>
          <p:cNvSpPr txBox="1"/>
          <p:nvPr/>
        </p:nvSpPr>
        <p:spPr>
          <a:xfrm>
            <a:off x="7271652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8" name="직사각형 177"/>
          <p:cNvSpPr>
            <a:spLocks noChangeAspect="1"/>
          </p:cNvSpPr>
          <p:nvPr/>
        </p:nvSpPr>
        <p:spPr>
          <a:xfrm>
            <a:off x="8189880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9" name="TextBox 178"/>
          <p:cNvSpPr txBox="1"/>
          <p:nvPr/>
        </p:nvSpPr>
        <p:spPr>
          <a:xfrm>
            <a:off x="8135651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0" name="직사각형 179"/>
          <p:cNvSpPr>
            <a:spLocks noChangeAspect="1"/>
          </p:cNvSpPr>
          <p:nvPr/>
        </p:nvSpPr>
        <p:spPr>
          <a:xfrm>
            <a:off x="9053880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1" name="TextBox 180"/>
          <p:cNvSpPr txBox="1"/>
          <p:nvPr/>
        </p:nvSpPr>
        <p:spPr>
          <a:xfrm>
            <a:off x="8999651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2" name="직사각형 181"/>
          <p:cNvSpPr>
            <a:spLocks noChangeAspect="1"/>
          </p:cNvSpPr>
          <p:nvPr/>
        </p:nvSpPr>
        <p:spPr>
          <a:xfrm>
            <a:off x="9917879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3" name="TextBox 182"/>
          <p:cNvSpPr txBox="1"/>
          <p:nvPr/>
        </p:nvSpPr>
        <p:spPr>
          <a:xfrm>
            <a:off x="9863650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4" name="직사각형 183"/>
          <p:cNvSpPr>
            <a:spLocks noChangeAspect="1"/>
          </p:cNvSpPr>
          <p:nvPr/>
        </p:nvSpPr>
        <p:spPr>
          <a:xfrm>
            <a:off x="6461881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5" name="TextBox 184"/>
          <p:cNvSpPr txBox="1"/>
          <p:nvPr/>
        </p:nvSpPr>
        <p:spPr>
          <a:xfrm>
            <a:off x="6407652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6" name="직사각형 185"/>
          <p:cNvSpPr>
            <a:spLocks noChangeAspect="1"/>
          </p:cNvSpPr>
          <p:nvPr/>
        </p:nvSpPr>
        <p:spPr>
          <a:xfrm>
            <a:off x="7325881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7" name="TextBox 186"/>
          <p:cNvSpPr txBox="1"/>
          <p:nvPr/>
        </p:nvSpPr>
        <p:spPr>
          <a:xfrm>
            <a:off x="7271652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8" name="직사각형 187"/>
          <p:cNvSpPr>
            <a:spLocks noChangeAspect="1"/>
          </p:cNvSpPr>
          <p:nvPr/>
        </p:nvSpPr>
        <p:spPr>
          <a:xfrm>
            <a:off x="8189880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9" name="TextBox 188"/>
          <p:cNvSpPr txBox="1"/>
          <p:nvPr/>
        </p:nvSpPr>
        <p:spPr>
          <a:xfrm>
            <a:off x="8135651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0" name="직사각형 189"/>
          <p:cNvSpPr>
            <a:spLocks noChangeAspect="1"/>
          </p:cNvSpPr>
          <p:nvPr/>
        </p:nvSpPr>
        <p:spPr>
          <a:xfrm>
            <a:off x="9053880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1" name="TextBox 190"/>
          <p:cNvSpPr txBox="1"/>
          <p:nvPr/>
        </p:nvSpPr>
        <p:spPr>
          <a:xfrm>
            <a:off x="8999651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2" name="직사각형 191"/>
          <p:cNvSpPr>
            <a:spLocks noChangeAspect="1"/>
          </p:cNvSpPr>
          <p:nvPr/>
        </p:nvSpPr>
        <p:spPr>
          <a:xfrm>
            <a:off x="9917879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3" name="TextBox 192"/>
          <p:cNvSpPr txBox="1"/>
          <p:nvPr/>
        </p:nvSpPr>
        <p:spPr>
          <a:xfrm>
            <a:off x="9863650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4" name="직사각형 193"/>
          <p:cNvSpPr>
            <a:spLocks noChangeAspect="1"/>
          </p:cNvSpPr>
          <p:nvPr/>
        </p:nvSpPr>
        <p:spPr>
          <a:xfrm>
            <a:off x="6461881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5" name="TextBox 194"/>
          <p:cNvSpPr txBox="1"/>
          <p:nvPr/>
        </p:nvSpPr>
        <p:spPr>
          <a:xfrm>
            <a:off x="6407652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6" name="직사각형 195"/>
          <p:cNvSpPr>
            <a:spLocks noChangeAspect="1"/>
          </p:cNvSpPr>
          <p:nvPr/>
        </p:nvSpPr>
        <p:spPr>
          <a:xfrm>
            <a:off x="7325881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7" name="TextBox 196"/>
          <p:cNvSpPr txBox="1"/>
          <p:nvPr/>
        </p:nvSpPr>
        <p:spPr>
          <a:xfrm>
            <a:off x="7271652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8" name="직사각형 197"/>
          <p:cNvSpPr>
            <a:spLocks noChangeAspect="1"/>
          </p:cNvSpPr>
          <p:nvPr/>
        </p:nvSpPr>
        <p:spPr>
          <a:xfrm>
            <a:off x="8189880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9" name="TextBox 198"/>
          <p:cNvSpPr txBox="1"/>
          <p:nvPr/>
        </p:nvSpPr>
        <p:spPr>
          <a:xfrm>
            <a:off x="8135651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00" name="직사각형 199"/>
          <p:cNvSpPr>
            <a:spLocks noChangeAspect="1"/>
          </p:cNvSpPr>
          <p:nvPr/>
        </p:nvSpPr>
        <p:spPr>
          <a:xfrm>
            <a:off x="9053880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1" name="TextBox 200"/>
          <p:cNvSpPr txBox="1"/>
          <p:nvPr/>
        </p:nvSpPr>
        <p:spPr>
          <a:xfrm>
            <a:off x="8999651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02" name="직사각형 201"/>
          <p:cNvSpPr>
            <a:spLocks noChangeAspect="1"/>
          </p:cNvSpPr>
          <p:nvPr/>
        </p:nvSpPr>
        <p:spPr>
          <a:xfrm>
            <a:off x="9917879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3" name="TextBox 202"/>
          <p:cNvSpPr txBox="1"/>
          <p:nvPr/>
        </p:nvSpPr>
        <p:spPr>
          <a:xfrm>
            <a:off x="9863650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04" name="직사각형 203"/>
          <p:cNvSpPr/>
          <p:nvPr/>
        </p:nvSpPr>
        <p:spPr>
          <a:xfrm>
            <a:off x="3934455" y="1026918"/>
            <a:ext cx="576000" cy="432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>
                <a:solidFill>
                  <a:schemeClr val="tx1"/>
                </a:solidFill>
              </a:rPr>
              <a:t>10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318030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0" name="그룹 59"/>
          <p:cNvGrpSpPr/>
          <p:nvPr/>
        </p:nvGrpSpPr>
        <p:grpSpPr>
          <a:xfrm>
            <a:off x="-956311" y="-477208"/>
            <a:ext cx="16977739" cy="4430690"/>
            <a:chOff x="-956311" y="-477208"/>
            <a:chExt cx="16977739" cy="4430690"/>
          </a:xfrm>
        </p:grpSpPr>
        <p:sp>
          <p:nvSpPr>
            <p:cNvPr id="63" name="TextBox 62"/>
            <p:cNvSpPr txBox="1"/>
            <p:nvPr/>
          </p:nvSpPr>
          <p:spPr>
            <a:xfrm>
              <a:off x="253304" y="2047038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4.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데이터 할당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3" name="모서리가 둥근 직사각형 22"/>
            <p:cNvSpPr/>
            <p:nvPr/>
          </p:nvSpPr>
          <p:spPr>
            <a:xfrm>
              <a:off x="-956311" y="893482"/>
              <a:ext cx="5400000" cy="90000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0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d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ouble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result =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car.goForward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(30, 2);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69" name="모서리가 둥근 직사각형 68"/>
            <p:cNvSpPr/>
            <p:nvPr/>
          </p:nvSpPr>
          <p:spPr>
            <a:xfrm>
              <a:off x="7381428" y="893482"/>
              <a:ext cx="8640000" cy="306000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// 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전진 기능</a:t>
              </a:r>
              <a:endPara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public double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goForward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(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int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speed,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int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hour) {</a:t>
              </a: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   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System.out.println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(speed + “km/h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로 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” + hour + “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시간 동안 전진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”);</a:t>
              </a:r>
            </a:p>
            <a:p>
              <a:endPara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    double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distance = speed * hour;</a:t>
              </a:r>
            </a:p>
            <a:p>
              <a:endParaRPr lang="en-US" altLang="ko-KR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    return distance;</a:t>
              </a: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}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54" name="원호 53"/>
            <p:cNvSpPr/>
            <p:nvPr/>
          </p:nvSpPr>
          <p:spPr>
            <a:xfrm rot="8425555">
              <a:off x="714198" y="1077027"/>
              <a:ext cx="900000" cy="900000"/>
            </a:xfrm>
            <a:prstGeom prst="arc">
              <a:avLst>
                <a:gd name="adj1" fmla="val 13530061"/>
                <a:gd name="adj2" fmla="val 1870419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3" name="원호 102"/>
            <p:cNvSpPr/>
            <p:nvPr/>
          </p:nvSpPr>
          <p:spPr>
            <a:xfrm rot="5696533">
              <a:off x="3581734" y="-2596670"/>
              <a:ext cx="2741380" cy="6980304"/>
            </a:xfrm>
            <a:prstGeom prst="arc">
              <a:avLst>
                <a:gd name="adj1" fmla="val 17174190"/>
                <a:gd name="adj2" fmla="val 4159039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4" name="원호 103"/>
            <p:cNvSpPr/>
            <p:nvPr/>
          </p:nvSpPr>
          <p:spPr>
            <a:xfrm rot="6264436">
              <a:off x="3629377" y="-1735580"/>
              <a:ext cx="3054061" cy="6980304"/>
            </a:xfrm>
            <a:prstGeom prst="arc">
              <a:avLst>
                <a:gd name="adj1" fmla="val 17096554"/>
                <a:gd name="adj2" fmla="val 4395978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56" name="직선 화살표 연결선 55"/>
            <p:cNvCxnSpPr/>
            <p:nvPr/>
          </p:nvCxnSpPr>
          <p:spPr>
            <a:xfrm>
              <a:off x="7898860" y="1983757"/>
              <a:ext cx="0" cy="115200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이등변 삼각형 56"/>
            <p:cNvSpPr/>
            <p:nvPr/>
          </p:nvSpPr>
          <p:spPr>
            <a:xfrm>
              <a:off x="599319" y="1462286"/>
              <a:ext cx="311285" cy="28800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9" name="이등변 삼각형 108"/>
            <p:cNvSpPr/>
            <p:nvPr/>
          </p:nvSpPr>
          <p:spPr>
            <a:xfrm rot="18731416">
              <a:off x="1921304" y="1697677"/>
              <a:ext cx="335641" cy="23052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1" name="이등변 삼각형 110"/>
            <p:cNvSpPr/>
            <p:nvPr/>
          </p:nvSpPr>
          <p:spPr>
            <a:xfrm rot="2868584" flipH="1">
              <a:off x="7521197" y="1791712"/>
              <a:ext cx="335641" cy="23052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2" name="이등변 삼각형 111"/>
            <p:cNvSpPr/>
            <p:nvPr/>
          </p:nvSpPr>
          <p:spPr>
            <a:xfrm flipV="1">
              <a:off x="7743217" y="2922004"/>
              <a:ext cx="311285" cy="28800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3" name="TextBox 112"/>
            <p:cNvSpPr txBox="1"/>
            <p:nvPr/>
          </p:nvSpPr>
          <p:spPr>
            <a:xfrm>
              <a:off x="4509159" y="1846983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1.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메서드 호출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15" name="TextBox 114"/>
            <p:cNvSpPr txBox="1"/>
            <p:nvPr/>
          </p:nvSpPr>
          <p:spPr>
            <a:xfrm>
              <a:off x="6217404" y="2470969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2.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메서드 실행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16" name="TextBox 115"/>
            <p:cNvSpPr txBox="1"/>
            <p:nvPr/>
          </p:nvSpPr>
          <p:spPr>
            <a:xfrm>
              <a:off x="4298641" y="3460399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3.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데이터 반환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504159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그룹 50"/>
          <p:cNvGrpSpPr/>
          <p:nvPr/>
        </p:nvGrpSpPr>
        <p:grpSpPr>
          <a:xfrm>
            <a:off x="-1729200" y="4366350"/>
            <a:ext cx="10530300" cy="4731750"/>
            <a:chOff x="-1729200" y="4366350"/>
            <a:chExt cx="10530300" cy="4731750"/>
          </a:xfrm>
        </p:grpSpPr>
        <p:sp>
          <p:nvSpPr>
            <p:cNvPr id="23" name="모서리가 둥근 직사각형 22"/>
            <p:cNvSpPr/>
            <p:nvPr/>
          </p:nvSpPr>
          <p:spPr>
            <a:xfrm>
              <a:off x="2095950" y="7658100"/>
              <a:ext cx="2880000" cy="144000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8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Strategy </a:t>
              </a:r>
              <a:r>
                <a:rPr lang="en-US" altLang="ko-KR" sz="28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B</a:t>
              </a:r>
              <a:endParaRPr lang="en-US" altLang="ko-KR" sz="28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pPr algn="ctr"/>
              <a:r>
                <a:rPr lang="ko-KR" altLang="en-US" sz="28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전략 </a:t>
              </a:r>
              <a:r>
                <a:rPr lang="en-US" altLang="ko-KR" sz="28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B</a:t>
              </a:r>
              <a:endParaRPr lang="ko-KR" altLang="en-US" sz="28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4" name="모서리가 둥근 직사각형 23"/>
            <p:cNvSpPr/>
            <p:nvPr/>
          </p:nvSpPr>
          <p:spPr>
            <a:xfrm>
              <a:off x="5921100" y="7658100"/>
              <a:ext cx="2880000" cy="144000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8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Strategy </a:t>
              </a:r>
              <a:r>
                <a:rPr lang="en-US" altLang="ko-KR" sz="28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C</a:t>
              </a:r>
              <a:endParaRPr lang="en-US" altLang="ko-KR" sz="28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pPr algn="ctr"/>
              <a:r>
                <a:rPr lang="ko-KR" altLang="en-US" sz="28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전략 </a:t>
              </a:r>
              <a:r>
                <a:rPr lang="en-US" altLang="ko-KR" sz="28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C</a:t>
              </a:r>
              <a:endParaRPr lang="ko-KR" altLang="en-US" sz="28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5" name="모서리가 둥근 직사각형 24"/>
            <p:cNvSpPr/>
            <p:nvPr/>
          </p:nvSpPr>
          <p:spPr>
            <a:xfrm>
              <a:off x="1375950" y="4366350"/>
              <a:ext cx="4320000" cy="144000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8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Strategy</a:t>
              </a:r>
            </a:p>
            <a:p>
              <a:pPr algn="ctr"/>
              <a:r>
                <a:rPr lang="ko-KR" altLang="en-US" sz="28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인터페이스</a:t>
              </a:r>
              <a:endParaRPr lang="ko-KR" altLang="en-US" sz="28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7" name="모서리가 둥근 직사각형 26"/>
            <p:cNvSpPr/>
            <p:nvPr/>
          </p:nvSpPr>
          <p:spPr>
            <a:xfrm>
              <a:off x="-1729200" y="7658100"/>
              <a:ext cx="2880000" cy="144000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8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Strategy A</a:t>
              </a:r>
            </a:p>
            <a:p>
              <a:pPr algn="ctr"/>
              <a:r>
                <a:rPr lang="ko-KR" altLang="en-US" sz="28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전략 </a:t>
              </a:r>
              <a:r>
                <a:rPr lang="en-US" altLang="ko-KR" sz="28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A</a:t>
              </a:r>
              <a:endParaRPr lang="ko-KR" altLang="en-US" sz="28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cxnSp>
          <p:nvCxnSpPr>
            <p:cNvPr id="16" name="꺾인 연결선 15"/>
            <p:cNvCxnSpPr>
              <a:stCxn id="25" idx="2"/>
            </p:cNvCxnSpPr>
            <p:nvPr/>
          </p:nvCxnSpPr>
          <p:spPr>
            <a:xfrm rot="5400000">
              <a:off x="2610075" y="6732225"/>
              <a:ext cx="1851750" cy="12700"/>
            </a:xfrm>
            <a:prstGeom prst="bentConnector3">
              <a:avLst/>
            </a:prstGeom>
            <a:ln w="762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꺾인 연결선 29"/>
            <p:cNvCxnSpPr>
              <a:stCxn id="25" idx="2"/>
              <a:endCxn id="24" idx="0"/>
            </p:cNvCxnSpPr>
            <p:nvPr/>
          </p:nvCxnSpPr>
          <p:spPr>
            <a:xfrm rot="16200000" flipH="1">
              <a:off x="4522650" y="4819650"/>
              <a:ext cx="1851750" cy="3825150"/>
            </a:xfrm>
            <a:prstGeom prst="bentConnector3">
              <a:avLst/>
            </a:prstGeom>
            <a:ln w="762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꺾인 연결선 32"/>
            <p:cNvCxnSpPr>
              <a:stCxn id="25" idx="2"/>
              <a:endCxn id="27" idx="0"/>
            </p:cNvCxnSpPr>
            <p:nvPr/>
          </p:nvCxnSpPr>
          <p:spPr>
            <a:xfrm rot="5400000">
              <a:off x="697500" y="4819650"/>
              <a:ext cx="1851750" cy="3825150"/>
            </a:xfrm>
            <a:prstGeom prst="bentConnector3">
              <a:avLst/>
            </a:prstGeom>
            <a:ln w="762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4" name="그룹 33"/>
          <p:cNvGrpSpPr/>
          <p:nvPr/>
        </p:nvGrpSpPr>
        <p:grpSpPr>
          <a:xfrm>
            <a:off x="1150800" y="-1772200"/>
            <a:ext cx="10530300" cy="4731750"/>
            <a:chOff x="1150800" y="-1772200"/>
            <a:chExt cx="10530300" cy="4731750"/>
          </a:xfrm>
        </p:grpSpPr>
        <p:sp>
          <p:nvSpPr>
            <p:cNvPr id="36" name="모서리가 둥근 직사각형 35"/>
            <p:cNvSpPr/>
            <p:nvPr/>
          </p:nvSpPr>
          <p:spPr>
            <a:xfrm>
              <a:off x="4975950" y="1519550"/>
              <a:ext cx="2880000" cy="144000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8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현금</a:t>
              </a:r>
              <a:endParaRPr lang="ko-KR" altLang="en-US" sz="28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38" name="모서리가 둥근 직사각형 37"/>
            <p:cNvSpPr/>
            <p:nvPr/>
          </p:nvSpPr>
          <p:spPr>
            <a:xfrm>
              <a:off x="8801100" y="1519550"/>
              <a:ext cx="2880000" cy="144000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8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삼성페이</a:t>
              </a:r>
              <a:endParaRPr lang="ko-KR" altLang="en-US" sz="28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39" name="모서리가 둥근 직사각형 38"/>
            <p:cNvSpPr/>
            <p:nvPr/>
          </p:nvSpPr>
          <p:spPr>
            <a:xfrm>
              <a:off x="4255950" y="-1772200"/>
              <a:ext cx="4320000" cy="144000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8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Payment Strategy</a:t>
              </a:r>
            </a:p>
            <a:p>
              <a:pPr algn="ctr"/>
              <a:r>
                <a:rPr lang="ko-KR" altLang="en-US" sz="28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인터페이스 예시</a:t>
              </a:r>
              <a:endParaRPr lang="ko-KR" altLang="en-US" sz="28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40" name="모서리가 둥근 직사각형 39"/>
            <p:cNvSpPr/>
            <p:nvPr/>
          </p:nvSpPr>
          <p:spPr>
            <a:xfrm>
              <a:off x="1150800" y="1519550"/>
              <a:ext cx="2880000" cy="144000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8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카드</a:t>
              </a:r>
              <a:endParaRPr lang="ko-KR" altLang="en-US" sz="28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cxnSp>
          <p:nvCxnSpPr>
            <p:cNvPr id="41" name="꺾인 연결선 40"/>
            <p:cNvCxnSpPr>
              <a:stCxn id="39" idx="2"/>
            </p:cNvCxnSpPr>
            <p:nvPr/>
          </p:nvCxnSpPr>
          <p:spPr>
            <a:xfrm rot="5400000">
              <a:off x="5490075" y="593675"/>
              <a:ext cx="1851750" cy="12700"/>
            </a:xfrm>
            <a:prstGeom prst="bentConnector3">
              <a:avLst/>
            </a:prstGeom>
            <a:ln w="762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꺾인 연결선 41"/>
            <p:cNvCxnSpPr>
              <a:stCxn id="39" idx="2"/>
              <a:endCxn id="38" idx="0"/>
            </p:cNvCxnSpPr>
            <p:nvPr/>
          </p:nvCxnSpPr>
          <p:spPr>
            <a:xfrm rot="16200000" flipH="1">
              <a:off x="7402650" y="-1318900"/>
              <a:ext cx="1851750" cy="3825150"/>
            </a:xfrm>
            <a:prstGeom prst="bentConnector3">
              <a:avLst/>
            </a:prstGeom>
            <a:ln w="762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꺾인 연결선 42"/>
            <p:cNvCxnSpPr>
              <a:stCxn id="39" idx="2"/>
              <a:endCxn id="40" idx="0"/>
            </p:cNvCxnSpPr>
            <p:nvPr/>
          </p:nvCxnSpPr>
          <p:spPr>
            <a:xfrm rot="5400000">
              <a:off x="3577500" y="-1318900"/>
              <a:ext cx="1851750" cy="3825150"/>
            </a:xfrm>
            <a:prstGeom prst="bentConnector3">
              <a:avLst/>
            </a:prstGeom>
            <a:ln w="762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792118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975</TotalTime>
  <Words>222</Words>
  <Application>Microsoft Office PowerPoint</Application>
  <PresentationFormat>와이드스크린</PresentationFormat>
  <Paragraphs>109</Paragraphs>
  <Slides>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9" baseType="lpstr">
      <vt:lpstr>나눔스퀘어 Bold</vt:lpstr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DW</dc:creator>
  <cp:lastModifiedBy>DW</cp:lastModifiedBy>
  <cp:revision>87</cp:revision>
  <dcterms:created xsi:type="dcterms:W3CDTF">2026-08-04T06:26:42Z</dcterms:created>
  <dcterms:modified xsi:type="dcterms:W3CDTF">2026-08-13T08:27:16Z</dcterms:modified>
</cp:coreProperties>
</file>