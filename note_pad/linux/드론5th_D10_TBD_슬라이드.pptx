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**안녕하세요. 드디어 상품 기능을 시작하는 날입니다.**</a:t>
            </a:r>
          </a:p>
          <a:p/>
          <a:p>
            <a:r>
              <a:t>**오늘부터는 새로운 도메인, '상품(Product)'을 다룹니다.** 그런데 오늘은 지난 사흘(D7~D9)과 결이 좀 다릅니다. **회원 기능은 여러분이 한 줄씩 직접 작성하며 만들었지만, 상품 기능은 프로젝트를 처음 받으셨을 때부터 이미 완성된 채로 들어 있었습니다.**</a:t>
            </a:r>
          </a:p>
          <a:p/>
          <a:p>
            <a:r>
              <a:t>**왜 이렇게 다르게 진행하는지 솔직하게 말씀드릴게요.** 상품 CRUD(등록·조회·수정·삭제)는 **회원 기능과 코드 구조가 사실상 똑같습니다.** 똑같은 걸 처음부터 다시 작성하는 건 시간 낭비고, **오히려 '이미 완성된 코드를 빠르게 읽고 이해하는 능력'이 실무에서 훨씬 자주 쓰입니다.** 입사하시면 대부분의 시간을 남이 짠 코드를 읽는 데 쓰시게 될 거예요.</a:t>
            </a:r>
          </a:p>
          <a:p/>
          <a:p>
            <a:r>
              <a:t>**오늘 하루의 흐름입니다.** 오교시에는 상품 관련 파일들을 하나씩 열어서 구조를 확인합니다. 육교시에는 등록·조회를 직접 호출해봅니다. 칠교시에는 수정·삭제·검색을 확인합니다. 팔교시에는 오늘 본 원리를 정리하고 내일(Dockerfile)을 예고합니다.</a:t>
            </a:r>
          </a:p>
          <a:p/>
          <a:p>
            <a:r>
              <a:t>**D6(9/15, 프로젝트 골격)을 기억하시나요? 그날도 오늘처럼 '읽고 실행하는' 하루였죠.** 오늘은 그 패턴이 상품이라는 새 도메인으로 반복되는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**오늘 하루를 그림으로 보여드립니다.**</a:t>
            </a:r>
          </a:p>
          <a:p/>
          <a:p>
            <a:r>
              <a:t>**첫 칸, 코드 구조를 읽습니다.** `Product` 엔티티부터 컨트롤러까지, 파일 여섯 개를 순서대로 엽니다.</a:t>
            </a:r>
          </a:p>
          <a:p/>
          <a:p>
            <a:r>
              <a:t>**둘째 칸, 등록과 조회를 직접 호출합니다.** 코드를 눈으로만 보는 게 아니라, **실제로 Postman으로 요청을 보내서 동작을 확인**합니다.</a:t>
            </a:r>
          </a:p>
          <a:p/>
          <a:p>
            <a:r>
              <a:t>**셋째 칸, 수정·삭제·검색까지 마저 확인합니다.** 여기서 실제로 겪으실 함정(한글 검색어 인코딩)도 하나 있습니다.</a:t>
            </a:r>
          </a:p>
          <a:p/>
          <a:p>
            <a:r>
              <a:t>**넷째 칸, 오늘 확인한 것들을 원리로 정리합니다.** '왜 이렇게 짜여 있는가'를 설명할 수 있는 수준까지 끌어올리는 게 목표입니다.</a:t>
            </a:r>
          </a:p>
          <a:p/>
          <a:p>
            <a:r>
              <a:t>**어제까지와 다르게, 오늘은 여러분이 코드를 고치는 시간이 훨씬 적습니다.** 대신 **읽는 시간과 실행해서 확인하는 시간이 늘어납니다.** 실무에서 매일 하시게 될 바로 그 작업입니다.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오늘은 코드를 읽기 전에 **작업대부터 켭니다.** 어제 컴퓨터를 껐거나 우분투 창을 오래 닫아 두셨다면, 켜져 있어야 할 것들이 꺼져 있기 때문이에요.</a:t>
            </a:r>
          </a:p>
          <a:p/>
          <a:p>
            <a:r>
              <a:t>표를 보세요. **여섯 단계**입니다. 첫째 WSL, 둘째 도커, 셋째 데이터베이스 컨테이너, 넷째 인텔리제이, 다섯째 앱 실행, 여섯째 브라우저 확인.</a:t>
            </a:r>
          </a:p>
          <a:p/>
          <a:p>
            <a:r>
              <a:t>**순서에는 이유가 있습니다.** 도커는 우분투 안에서 돌기 때문에 WSL이 먼저이고, 앱은 데이터베이스가 있어야 뜨기 때문에 DB 컨테이너가 앱보다 먼저입니다. 인텔리제이는 우분투 안의 프로젝트를 여니까 WSL 다음이에요.</a:t>
            </a:r>
          </a:p>
          <a:p/>
          <a:p>
            <a:r>
              <a:t>**맨 오른쪽 칸이 중요합니다.** 각 단계가 끝났을 때 무엇이 보여야 하는지 적혀 있어요. 그게 보이면 다음으로 넘어가고, 안 보이면 거기서 멈추고 손을 들어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**첫 번째 단계입니다.** 시작 메뉴에서 파워셸을 열고 **`wsl`** 이라고만 치세요. 시작 메뉴에서 **Ubuntu** 를 눌러도 같은 결과입니다.</a:t>
            </a:r>
          </a:p>
          <a:p/>
          <a:p>
            <a:r>
              <a:t>화면 맨 윗줄이 `PS C:\&gt; wsl` 이고, 그 아래부터 **초록색 프롬프트**가 나옵니다. 세계가 윈도우에서 리눅스로 넘어온 겁니다.</a:t>
            </a:r>
          </a:p>
          <a:p/>
          <a:p>
            <a:r>
              <a:t>**성공 표시는 달러로 끝나는 초록색 프롬프트**입니다. 아래 세 줄은 확인용입니다. `whoami` 는 내 이름, `pwd` 는 지금 위치, `uname -r` 끝의 `WSL2` 는 더블유에스엘 이 버전으로 돌고 있다는 증거예요.</a:t>
            </a:r>
          </a:p>
          <a:p/>
          <a:p>
            <a:r>
              <a:t>⚠️ 여기서 `wsl` 이 인식되지 않거나 창이 바로 닫히면 더블유에스엘 문제입니다. 손을 들어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**두 번째 단계, 도커입니다.** 도커 엔진은 우분투 안에서 도는 프로그램이라, 우분투를 켜면 함께 켜지는 게 정상이에요. 그래서 **켜졌는지만 확인**합니다.</a:t>
            </a:r>
          </a:p>
          <a:p/>
          <a:p>
            <a:r>
              <a:t>세 줄을 순서대로 칩니다. **`docker --version`** 은 도구가 깔려 있는지, **`systemctl is-active docker`** 는 엔진이 지금 돌고 있는지, **`docker ps`** 는 떠 있는 컨테이너 목록입니다.</a:t>
            </a:r>
          </a:p>
          <a:p/>
          <a:p>
            <a:r>
              <a:t>화면을 보세요. 버전이 나왔고, 엔진 상태는 **`active`** 입니다. 그리고 `docker ps` 는 **머리글만 나오고 아래가 비어 있죠.** 지금 떠 있는 컨테이너가 없다는 뜻이고, 우분투를 방금 켰다면 정상입니다.</a:t>
            </a:r>
          </a:p>
          <a:p/>
          <a:p>
            <a:r>
              <a:t>**성공 표시는 세 줄 모두 오류 없이 나오는 것**입니다.</a:t>
            </a:r>
          </a:p>
          <a:p/>
          <a:p>
            <a:r>
              <a:t>⚠️ `active` 대신 `inactive` 가 나오면 엔진이 꺼진 겁니다. `sudo systemctl start docker` 로 켜세요. `permission denied` 가 나오면 권한 문제이니 손을 들어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**세 번째 단계, 데이터베이스입니다.** 그런데 우분투가 꺼졌다 켜지면 **컨테이너도 같이 멈춥니다.** 어제 창을 닫고 가셨다면 지금이 이 상태일 겁니다.</a:t>
            </a:r>
          </a:p>
          <a:p/>
          <a:p>
            <a:r>
              <a:t>화면을 읽어 보겠습니다. 첫 줄 `docker ps` 는 **텅 비어 있습니다.** "내 데이터베이스가 없어졌나?" 싶으실 수 있어요. 둘째 줄 `docker ps -a`, 에이는 all, **꺼진 것까지 전부** 보여 달라는 뜻인데, 여기에 `shop-mysql` 이 있고 STATUS 가 **`Exited`**, 종료됨입니다.</a:t>
            </a:r>
          </a:p>
          <a:p/>
          <a:p>
            <a:r>
              <a:t>**사라진 게 아니라 멈춘 것**이고, 안에 넣어 둔 데이터도 그대로 있습니다.</a:t>
            </a:r>
          </a:p>
          <a:p/>
          <a:p>
            <a:r>
              <a:t>⚠️ 만약 `docker ps -a` 에도 `shop-mysql` 이 **아예 없다면**, 컨테이너를 지운 겁니다. 그때는 손을 들어 주세요. 다시 만드는 명령은 D5에서 배운 `docker run`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켜는 명령은 한 줄입니다. **`docker start shop-mysql`.** 컨테이너 이름을 그대로 씁니다. 그리고 `docker ps` 로 확인하세요.</a:t>
            </a:r>
          </a:p>
          <a:p/>
          <a:p>
            <a:r>
              <a:t>화면의 `docker ps` 결과를 읽습니다. **NAMES** 가 `shop-mysql`, **IMAGE** 가 `mysql:8.0`, **STATUS** 가 **`Up 46 seconds`**. `Up` 이면 돌고 있는 겁니다. **PORTS** 의 `3306-&gt;3306` 은 내 컴퓨터 3306번으로 들어오면 컨테이너 3306번으로 보낸다는 표시예요.</a:t>
            </a:r>
          </a:p>
          <a:p/>
          <a:p>
            <a:r>
              <a:t>⚠️ `Up` 이 되어도 **데이터베이스 안쪽은 20~30초 더 준비**합니다. 바로 앱을 띄우면 연결이 안 될 수 있으니, 이 사이에 다음 단계인 인텔리제이를 여세요.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**처음 여는 분만** 따라 하는 일곱 장입니다. 이미 인텔리제이에 프로젝트가 열려 있다면 건너뛰세요.</a:t>
            </a:r>
          </a:p>
          <a:p/>
          <a:p>
            <a:r>
              <a:t>먼저 **프로젝트 주소**부터 알아냅니다. 우분투 터미널에서 프로젝트 폴더로 가서 **`explorer.exe .`** 를 치세요. 마침표까지입니다. 윈도우 탐색기가 열리는데, **위쪽 주소창**이 핵심이에요. `네트워크 › wsl.localhost › Ubuntu › home › joseph › shop-project-5th`. 이것이 **리눅스 안의 폴더를 윈도우가 부르는 이름**입니다.</a:t>
            </a:r>
          </a:p>
          <a:p/>
          <a:p>
            <a:r>
              <a:t>이 주소를 **복사**해 둡니다. 오타 걱정이 없어요. 윈도우 버전에 따라 `wsl.localhost` 대신 `wsl$` 로 보이기도 하는데 같은 곳입니다.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인텔리제이를 실행하면 이런 **시작 화면**이 나옵니다. 버튼이 세 개예요. New Project, **Open**, Clone Repository. 우리는 이미 프로젝트가 있으니 가운데 **Open** 을 누릅니다.</a:t>
            </a:r>
          </a:p>
          <a:p/>
          <a:p>
            <a:r>
              <a:t>⚠️ 이미 프로젝트를 열어 본 컴퓨터는 이 화면이 아니라 **마지막 프로젝트가 바로** 열립니다. 그때는 다음 장처럼 위쪽 메뉴의 `File, Open` 을 누르세요.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다른 프로젝트가 이미 열려 있다면 위쪽 메뉴의 **`File`** 을 누르고, 위에서 두 번째 **`Open...`** 을 누릅니다. 결과는 같은 폴더 선택 창이에요.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폴더 선택 창의 아래쪽 **`파일 이름(N):`** 칸에 방금 복사한 주소를 붙여 넣습니다.</a:t>
            </a:r>
          </a:p>
          <a:p/>
          <a:p>
            <a:r>
              <a:t>`\\wsl.localhost\Ubuntu\home\joseph\shop-project-5th`</a:t>
            </a:r>
          </a:p>
          <a:p/>
          <a:p>
            <a:r>
              <a:t>**역슬래시가 두 개**로 시작하고, `joseph` 자리는 **여러분 우분투 계정 이름**입니다. 앞의 두 개를 빼먹으면 "경로를 찾을 수 없다"는 오류가 나요. 넣었으면 엔터를 누르세요. (이 화면은 제 개인 폴더명이 보여서 위쪽을 회색으로 가렸습니다.)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엔터를 누르면 그 폴더 안으로 이동합니다. 주소창이 `Linux › Ubuntu › home › joseph › shop-project-5th` 이고, 목록에 `.git`, `build.gradle`, `src`, `README.md` 가 보이면 **우리 프로젝트가 맞습니다.** 오른쪽 아래 **Select Folder** 를 누르세요.</a:t>
            </a:r>
          </a:p>
          <a:p/>
          <a:p>
            <a:r>
              <a:t>⚠️ 목록이 비었거나 다른 파일이 보이면 다른 폴더입니다. 주소의 마지막이 `shop-project-5th` 인지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폴더를 열면 **"Trust and Open Project?"** 확인 창이 뜹니다. 낯선 프로젝트 안의 코드가 열자마자 실행되지 않게 인텔리제이가 한 번 묻는 것이에요. 우리 강의 저장소이니 **`Trust Project`** 를 누릅니다.</a:t>
            </a:r>
          </a:p>
          <a:p/>
          <a:p>
            <a:r>
              <a:t>`Preview in Safe Mode` 는 코드를 실행하지 않고 파일만 보는 방식이라 빌드와 실행이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프로젝트가 열리면 그래들이 필요한 라이브러리를 준비합니다. 아래 Build 창에 `Building...`, 오른쪽 아래에 진행 막대가 보이죠. **처음에는 몇 분** 걸립니다. 이 표시가 **사라지기 전에는 실행 버튼을 누르지 마세요.**</a:t>
            </a:r>
          </a:p>
          <a:p/>
          <a:p>
            <a:r>
              <a:t>⚠️ `Invalid Gradle JDK configuration found` 가 나오면 `File, Settings, Build Tools, Gradle` 에서 **Gradle JDK 를 17** 로 고르세요.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**네 번째 단계, 인텔리제이입니다.** 윈도우에서 인텔리제이를 실행하면 **마지막에 열었던 프로젝트**가 그대로 열립니다.</a:t>
            </a:r>
          </a:p>
          <a:p/>
          <a:p>
            <a:r>
              <a:t>화면에서 **확인할 곳이 두 군데**입니다. 첫째, **왼쪽 위 프로젝트 이름 옆의 회색 글자**. `\\wsl$\Ubuntu\home\joseph...` 로 시작하죠. 이 프로젝트가 **리눅스 안에 있다**는 증거입니다. 둘째, **아래쪽 터미널**의 초록색 프롬프트. `joseph@컴퓨터:~/shop-project-5th$` 는 **우분투**입니다. 윈도우의 `PS C:\&gt;` 가 아니에요.</a:t>
            </a:r>
          </a:p>
          <a:p/>
          <a:p>
            <a:r>
              <a:t>⚠️ 프로젝트가 열려 있지 않은 분은 바로 앞의 **'처음 여는 분' 일곱 장**을 따라 하고, 이 화면과 같아졌는지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**다섯 번째 단계, 앱 실행입니다.** 방법이 두 가지예요. 인텔리제이 오른쪽 위의 **초록 삼각형**을 누르거나, 아래 터미널에서 **`./gradlew bootRun`** 을 칩니다. **둘 중 하나만** 하세요. 둘 다 하면 8080번 포트가 겹칩니다.</a:t>
            </a:r>
          </a:p>
          <a:p/>
          <a:p>
            <a:r>
              <a:t>아래 Run 창에 로그가 흐릅니다. 다 읽을 필요는 없고, **마지막 두 줄**만 찾습니다. **`Tomcat started on port 8080`**, 그리고 **`Started ShopApplication in 4.148 seconds`**. 시간은 컴퓨터마다 다릅니다. 처음에는 10초 넘게 걸릴 수도 있어요.</a:t>
            </a:r>
          </a:p>
          <a:p/>
          <a:p>
            <a:r>
              <a:t>⚠️ 앱이 죽으면서 `Communications link failure` 가 보이면 **데이터베이스가 안 떠 있는 겁니다.** 앞의 세 번째 단계로 돌아가서 `docker ps` 에 `shop-mysql` 이 `Up` 인지 보세요.</a:t>
            </a:r>
          </a:p>
          <a:p/>
          <a:p>
            <a:r>
              <a:t>⚠️ `Port 8080 was already in use` 는 앱이 이미 하나 떠 있다는 뜻입니다. 빨간 네모로 끄고 다시 실행하세요.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**마지막 여섯 번째 단계, 브라우저입니다.** 크롬 주소창에 **`localhost:8080`** 을 치세요.</a:t>
            </a:r>
          </a:p>
          <a:p/>
          <a:p>
            <a:r>
              <a:t>**쇼핑몰 화면**이 나옵니다. 위쪽에는 로그인 칸이, 아래쪽에는 상품 목록과 검색 칸이 있어요. 이 화면이 뜬다는 것은 앱이 정상적으로 떠서 응답했다는 뜻입니다.</a:t>
            </a:r>
          </a:p>
          <a:p/>
          <a:p>
            <a:r>
              <a:t>🖊️ 이 화면은 `src/main/resources/static/index.html` **파일 한 장**입니다. 별도 도구나 설치 없이, 스프링 부트가 이 파일을 그대로 내보내요. 오늘은 상품 목록만 눈여겨보세요. **노트북 거치대의 재고 칸에 빨간 글씨로 `품절`** 이라고 보이죠. 오늘 배울 `soldOut` 이 바로 이것입니다.</a:t>
            </a:r>
          </a:p>
          <a:p/>
          <a:p>
            <a:r>
              <a:t>⚠️ 접속이 안 되면 앱 로그에 `Started ShopApplication` 이 있는지, 주소를 `localhost:8080` 으로 정확히 쳤는지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주소를 **`localhost:8080/api/products`** 로 바꿔 보세요. 대괄호와 중괄호로 된 글자가 나옵니다. **상품 목록을 제이슨이라는 형식으로 받은 것**입니다.</a:t>
            </a:r>
          </a:p>
          <a:p/>
          <a:p>
            <a:r>
              <a:t>**다섯 개의 상품**이 보이죠. 무선 마우스, 기계식 키보드, 27인치 모니터, 노트북 거치대, USB 허브. 이게 앱이 뜰 때 자동으로 넣어 주는 **씨앗 데이터**입니다.</a:t>
            </a:r>
          </a:p>
          <a:p/>
          <a:p>
            <a:r>
              <a:t>그중 **노트북 거치대**를 찾아 보세요. `"stock":0`, 재고가 0이고 `"soldOut":true`, 품절로 나옵니다. 오늘 배울 `soldOut` 을 확인하려고 일부러 재고를 0으로 넣어 둔 샘플이에요.</a:t>
            </a:r>
          </a:p>
          <a:p/>
          <a:p>
            <a:r>
              <a:t>⚠️ **다섯 개가 안 보이거나 오류 화면이라면** 앞 단계 중 어딘가가 안 된 겁니다. 오른쪽 칸의 성공 표시를 앞에서부터 다시 확인해 보세요. 어디까지 됐는지 알면 원인이 잡힙니다.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[준비]</a:t>
            </a:r>
          </a:p>
          <a:p/>
          <a:p>
            <a:r>
              <a:t>켜는 순서에서 막혔을 때 보는 표입니다. **왼쪽 첫 칸이 몇 번째 단계에서 막혔는지**예요. 막힌 곳을 찾는 게 먼저입니다.</a:t>
            </a:r>
          </a:p>
          <a:p/>
          <a:p>
            <a:r>
              <a:t>**첫째, WSL.** `wsl` 이 인식되지 않거나 우분투를 열자마자 창이 닫힌다면 더블유에스엘 설치나 가상화 문제입니다. 혼자 하지 마시고 손을 들어 주세요.</a:t>
            </a:r>
          </a:p>
          <a:p/>
          <a:p>
            <a:r>
              <a:t>**둘째, 도커.** 엔진이 꺼져 있으면 `sudo systemctl start docker` 로 켭니다. 비밀번호를 물으면 우분투 비밀번호입니다.</a:t>
            </a:r>
          </a:p>
          <a:p/>
          <a:p>
            <a:r>
              <a:t>**셋째, 데이터베이스가 가장 자주 막힙니다.** 우분투가 꺼졌다 켜지면 컨테이너가 멈춰 있으니 `docker start shop-mysql`. 그리고 `port is already allocated` 는 3306번을 다른 컨테이너가 쓰고 있는 겁니다.</a:t>
            </a:r>
          </a:p>
          <a:p/>
          <a:p>
            <a:r>
              <a:t>**다섯째, 앱.** `Communications link failure` 는 대부분 **데이터베이스가 안 떠 있거나 아직 준비 중**이라는 뜻이에요. `docker ps` 로 `Up` 을 확인하고 20~30초 뒤에 다시 실행하세요. `Port 8080 was already in use` 는 앱이 이미 떠 있는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**`Product.java`를 열어보세요. `entity` 패키지 안에 있습니다. 이름부터 어색하지 않으실 거예요 — `User.java`와 구조가 거의 똑같습니다.**</a:t>
            </a:r>
          </a:p>
          <a:p/>
          <a:p>
            <a:r>
              <a:t>**`@Entity`, `@Table(name = "products")` — 이 클래스가 `products` 테이블과 짝이라는 표시, 어제까지 계속 보셨던 패턴입니다.**</a:t>
            </a:r>
          </a:p>
          <a:p/>
          <a:p>
            <a:r>
              <a:t>**필드도 보세요. `id`, `name`, `price`, `stock`, `description`, `createdAt`.** 회원의 `loginId`, `name`, `email`처럼, **상품도 자기만의 정보 몇 개를 갖고 있을 뿐**입니다.</a:t>
            </a:r>
          </a:p>
          <a:p/>
          <a:p>
            <a:r>
              <a:t>**딱 하나 새로운 게 있다면, `price`와 `stock`이 `Integer`(숫자) 타입이라는 것 정도예요.** 회원 필드는 전부 문자열이었는데, 상품은 **가격·재고처럼 계산이 필요한 값이 있어서 숫자 타입을 씁니다.** 그 외에는 낯선 게 하나도 없으실 거예요.</a:t>
            </a:r>
          </a:p>
          <a:p/>
          <a:p>
            <a:r>
              <a:t>**`createdAt` 필드도 다시 보세요. `LocalDateTime.now()`로 기본값이 설정돼 있고, 회원 엔티티에서 본 것과 똑같은 자리, 똑같은 역할**입니다. **엔티티 안에 '언제 만들어졌는지'를 기록해두는 습관도, 회원이든 상품이든 실무에서 거의 항상 지켜지는 관례**입니다. 나중에 '최근 등록순 정렬' 같은 기능을 만들 때 이 필드가 바로 쓰입니다.</a:t>
            </a:r>
          </a:p>
          <a:p/>
          <a:p>
            <a:r>
              <a:t>**필드마다 붙은 `@Column`도 한 번씩 읽어 보세요.** `nullable = false`는 '비어 있으면 안 된다', `length = 100`은 '최대 100자까지'라는 DB 컬럼의 조건입니다. 그래서 `description`만 `nullable`이 없어서 비워 둘 수 있고, `createdAt`의 `updatable = false`는 한번 기록되면 바꿀 수 없다는 뜻이에요. 나머지 절반, 생성자와 `getter`는 다음 장에서 이어서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**파일의 나머지 절반입니다. 생성자와 `getter`예요.**</a:t>
            </a:r>
          </a:p>
          <a:p/>
          <a:p>
            <a:r>
              <a:t>**맨 위의 `protected Product() { }`는 비어 있는 생성자입니다.** 우리가 직접 부르려고 만든 게 아니라, **JPA가 DB에서 읽어 온 데이터로 객체를 만들 때 필요해서** 있는 것입니다. `protected`라서 다른 곳에서는 함부로 못 쓰게 막아 두었어요.</a:t>
            </a:r>
          </a:p>
          <a:p/>
          <a:p>
            <a:r>
              <a:t>**그 아래 `public Product(...)`가 우리가 새 상품을 만들 때 쓰는 생성자입니다.** 이름·가격·재고·설명, 네 가지 값을 받아서 필드에 넣습니다. `id`와 `createdAt`은 받지 않죠. `id`는 DB가 정해 주고, `createdAt`은 만들어지는 순간의 시각이 자동으로 들어가기 때문입니다.</a:t>
            </a:r>
          </a:p>
          <a:p/>
          <a:p>
            <a:r>
              <a:t>**아래 여섯 줄은 값을 꺼내는 `getter`입니다.** 그런데 하나 눈여겨보세요. **`setter`, 그러니까 값을 바꾸는 메서드가 하나도 없습니다.** 값을 아무 데서나 마음대로 바꾸지 못하게 막아 둔 설계예요. 값을 바꾸는 창구가 어떻게 만들어져 있는지는 다음 장에서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**엔티티의 마지막 부분, `update` 메서드입니다.** 위의 주석이 이유를 그대로 말해 줍니다. **"수정은 setter를 열지 않고 의미 있는 메서드로 받는다. 어디서 바뀌는지 추적된다."**</a:t>
            </a:r>
          </a:p>
          <a:p/>
          <a:p>
            <a:r>
              <a:t>`setName`, `setPrice`처럼 값마다 바꾸는 메서드를 열어 두면, 프로젝트 어느 구석에서든 값을 바꿀 수 있어서 **누가 언제 바꿨는지 찾기 번거롭습니다.** `update` 하나만 열어 두면, 상품이 바뀌는 곳은 이 메서드를 부르는 곳뿐입니다.</a:t>
            </a:r>
          </a:p>
          <a:p/>
          <a:p>
            <a:r>
              <a:t>메서드 안은 단순합니다. 받은 네 값을 그대로 덮어씁니다. 그런데 **이 메서드 안에 DB에 저장하는 코드는 없습니다.** 그저 필드를 바꿀 뿐이에요.</a:t>
            </a:r>
          </a:p>
          <a:p/>
          <a:p>
            <a:r>
              <a:t>**이 사실을 기억해 두세요.** 칠교시에 `update`가 DB까지 반영되는 이유를 풀 때, 이 메서드가 주인공이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**왜 두 도메인의 구조가 이렇게 판박이일까요? 우연이 아닙니다.**</a:t>
            </a:r>
          </a:p>
          <a:p/>
          <a:p>
            <a:r>
              <a:t>**스프링 MVC(우리가 쓰는 프레임워크)에서 '데이터를 다루는 기능'을 만들 때는 거의 항상 이 네 계층(컨트롤러·서비스·리포지토리·엔티티)을 씁니다.** 도메인이 회원이든 상품이든 주문이든, **이 뼈대 자체는 반복**됩니다.</a:t>
            </a:r>
          </a:p>
          <a:p/>
          <a:p>
            <a:r>
              <a:t>**그래서 여러분이 지난 며칠 회원 도메인에서 익힌 패턴은, 사실 '회원 전용 지식'이 아니라 '스프링으로 뭔가를 만들 때 공통으로 쓰는 지식'이었던 거예요.** 오늘 상품 코드를 보시면서 낯설지 않게 느껴지신다면, **그 지식이 이미 여러분 것이 됐다는 증거**입니다.</a:t>
            </a:r>
          </a:p>
          <a:p/>
          <a:p>
            <a:r>
              <a:t>**다음 주, 그다음 주 어떤 새 도메인을 만나시든 이 흐름은 계속 반복됩니다. 오늘이 그 반복을 처음으로 확인하는 날이에요.**</a:t>
            </a:r>
          </a:p>
          <a:p/>
          <a:p>
            <a:r>
              <a:t>**이 원리에도 이름이 있습니다. '관심사의 분리(Separation of Concerns)'**라고 부르는데, **각 계층(컨트롤러·서비스·리포지토리)이 딱 한 가지 역할만 맡도록 나누는 설계 원칙**입니다. 컨트롤러는 요청·응답만, 서비스는 로직만, 리포지토리는 DB 접근만 — **이렇게 역할을 딱 나눠두면, 도메인이 바뀌어도 같은 틀을 그대로 복사해서 쓸 수 있는 것**입니다.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**`model` 패키지의 `ProductRequest.java`입니다. 회원가입 때 봤던 `UserRequest.java`와 나란히 놓고 보시면 좋습니다.**</a:t>
            </a:r>
          </a:p>
          <a:p/>
          <a:p>
            <a:r>
              <a:t>**`@NotBlank`는 그때 그대로 씁니다 — 이름이 비어 있으면 안 된다는 뜻이죠.**</a:t>
            </a:r>
          </a:p>
          <a:p/>
          <a:p>
            <a:r>
              <a:t>**새로 보이는 게 `@Min(value = 0, ...)`입니다.** 숫자 필드(가격, 재고)에 붙는 검증이고, **'이 값은 최소 얼마 이상이어야 한다'**는 뜻입니다. 가격도 재고도 음수가 되면 말이 안 되니, **0 이상이라는 규칙을 걸어둔 것**이죠.</a:t>
            </a:r>
          </a:p>
          <a:p/>
          <a:p>
            <a:r>
              <a:t>**`description`(설명) 필드에는 어떤 검증도 안 붙어 있다는 것도 눈여겨보세요.** 상품 설명은 **없어도 되는 정보**라서, 굳이 `@NotBlank`를 붙이지 않았습니다. **모든 필드에 검증을 다 걸어야 하는 게 아니라, '이 값이 없으면 정말 문제가 되는가'를 기준으로 필요한 곳에만 검증을 건다는 것**도 오늘 코드에서 확인할 수 있는 설계 판단입니다.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**`ProductResponse.java`를 보시면, 어제까지 없던 새로운 게 하나 있습니다. `soldOut`이라는 필드예요.**</a:t>
            </a:r>
          </a:p>
          <a:p/>
          <a:p>
            <a:r>
              <a:t>**그런데 `Product.java`(엔티티)로 돌아가보면, 거기엔 `soldOut`이라는 필드가 없습니다.** DB 테이블에도 `sold_out` 컬럼은 없어요. **그런데 응답에는 어떻게 나오는 걸까요?**</a:t>
            </a:r>
          </a:p>
          <a:p/>
          <a:p>
            <a:r>
              <a:t>**답은 생성자 안에 있습니다. `this.soldOut = product.getStock() == 0;`** — **재고(`stock`)가 0이면 `true`, 아니면 `false`로, 응답을 만드는 바로 그 순간에 계산**해서 담습니다.</a:t>
            </a:r>
          </a:p>
          <a:p/>
          <a:p>
            <a:r>
              <a:t>**만약 `soldOut`을 DB 컬럼으로 따로 뒀다면 어떤 위험이 생겼을까요?** 누군가 재고를 0으로 바꾸는 코드를 짜면서, **`soldOut` 컬럼을 업데이트하는 걸 깜빡할 수 있습니다.** 그러면 재고는 0인데 `soldOut`은 `false`로 남는, **두 값이 서로 어긋나는 상황**이 생깁니다. 오늘 코드처럼 '항상 다시 계산'하는 방식은 이런 종류의 실수 자체를 원천적으로 막아줍니다.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**여기서 잠깐, 구조를 한 걸음 물러나 보겠습니다. `Product` 하나를 표현하는 데 클래스가 벌써 세 개(`Product`·`ProductRequest`·`ProductResponse`)입니다. 왜 굳이 이렇게 나눠뒀을까요? 하나로 합치면 안 되나요?**</a:t>
            </a:r>
          </a:p>
          <a:p/>
          <a:p>
            <a:r>
              <a:t>**합칠 수는 있습니다. 하지만 그러면 세 가지 문제가 한꺼번에 생깁니다.**</a:t>
            </a:r>
          </a:p>
          <a:p/>
          <a:p>
            <a:r>
              <a:t>**첫째, 등록할 때 `id`를 클라이언트가 마음대로 정할 수 있게 됩니다.** `Entity`를 그대로 요청 본문으로 받으면, 악의적이든 실수든 클라이언트가 `id: 1`을 보내서 **이미 있는 다른 상품을 덮어쓰려고 시도**할 수 있습니다. `ProductRequest`에는 애초에 `id` 필드가 없으니, 이 문제 자체가 생기지 않습니다.</a:t>
            </a:r>
          </a:p>
          <a:p/>
          <a:p>
            <a:r>
              <a:t>**둘째, 응답에 숨기고 싶은 정보가 새어 나갈 수 있습니다.** 오늘은 상품이라 큰 문제가 아니지만, **회원 응답에 비밀번호 필드가 그대로 실려 나간다면 심각한 보안 사고**가 됩니다. `UserResponse`에 비밀번호가 없는 것도 같은 이유입니다.</a:t>
            </a:r>
          </a:p>
          <a:p/>
          <a:p>
            <a:r>
              <a:t>**셋째, `soldOut`처럼 DB에는 없지만 응답에는 있어야 하는 파생 필드를 넣을 자리가 없어집니다.** `Entity`와 응답 모양이 항상 똑같아야 한다는 제약이 생기니까요.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**`ProductRepository.java`, 딱 한 줄만 우리가 직접 적혀 있습니다.**</a:t>
            </a:r>
          </a:p>
          <a:p/>
          <a:p>
            <a:r>
              <a:t>**`findByNameContaining(String keyword)`.** 어제 봤던 `existsByLoginId`와 똑같은 방식이에요 — **메서드 이름만 규칙대로 지으면, 스프링이 그 이름을 해석해서 SQL을 자동으로 만들어줍니다.**</a:t>
            </a:r>
          </a:p>
          <a:p/>
          <a:p>
            <a:r>
              <a:t>**이름을 뜯어보면 뜻이 그대로 드러납니다. `findBy`(찾는다) + `Name`(이름으로) + `Containing`(포함하는 것을).** 합치면 **'이름에 이 키워드가 포함된 상품들을 찾아라'**는 뜻이 됩니다. 실제로는 SQL의 `LIKE '%키워드%'` 조건으로 변환됩니다.</a:t>
            </a:r>
          </a:p>
          <a:p/>
          <a:p>
            <a:r>
              <a:t>**메서드 이름 규칙에는 이름이 있습니다. '쿼리 메서드(Query Method)'**라고 부릅니다. `findBy`·`existsBy`·`countBy`처럼 **정해진 접두어로 시작하고, 그 뒤에 필드 이름과 조건 키워드(`Containing`, `LessThan`, `Between` 등)를 붙이는 규칙**만 지키면, **SQL을 단 한 줄도 안 써도 원하는 조회가 만들어집니다.** 예를 들어 `findByPriceLessThan(Integer price)`라고 메서드 이름만 지으면, '가격이 이 값보다 작은 상품을 찾아라'는 쿼리가 자동으로 생깁니다. **오늘 본 `findByNameContaining` 하나로 이 규칙의 위력을 확인하신 거예요.**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**`ProductService.java`를 열어서, 다섯 개 메서드를 순서대로 짚어보겠습니다.**</a:t>
            </a:r>
          </a:p>
          <a:p/>
          <a:p>
            <a:r>
              <a:t>**`findAll`은 `keyword`가 있으면 검색, 없으면 전체 조회로 갈립니다.** 코드 안에서 `keyword == null || keyword.isBlank()`로 나눠서 처리하고 있어요.</a:t>
            </a:r>
          </a:p>
          <a:p/>
          <a:p>
            <a:r>
              <a:t>**`findById`, `create`, `update`, `delete`는 이름 그대로입니다.** 회원 서비스의 `findById`, `join`(create 역할)과 **하는 일의 패턴이 완전히 같습니다.**</a:t>
            </a:r>
          </a:p>
          <a:p/>
          <a:p>
            <a:r>
              <a:t>**한 가지만 특별히 볼게요. `update` 메서드 안에는 `productRepository.save(...)`를 부르는 코드가 없습니다.** 어라, 저장을 안 하는데 어떻게 DB에 반영될까요? **이건 칠교시에 직접 실험하면서 확인하겠습니다.** 오늘의 작은 미스터리로 남겨두고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**마지막으로 `ProductController.java`, 오늘 우리가 직접 두드릴 다섯 개의 문입니다.**</a:t>
            </a:r>
          </a:p>
          <a:p/>
          <a:p>
            <a:r>
              <a:t>**조회 둘(`GET`), 등록 하나(`POST`), 수정 하나(`PUT`), 삭제 하나(`DELETE`).** 회원 컨트롤러에서 본 조합 그대로예요.</a:t>
            </a:r>
          </a:p>
          <a:p/>
          <a:p>
            <a:r>
              <a:t>**`PUT`과 `DELETE`는 회원 도메인에서는 안 나왔던 메서드입니다.** 회원은 로그인·로그아웃 같은 특수한 동작이 많았지만, **상품은 전형적인 CRUD(생성·조회·수정·삭제)라서 HTTP 메서드 네 가지가 고르게 다 등장**합니다. 어떤 의미로는, **오늘이 REST API의 가장 교과서적인 형태를 보는 날**이기도 합니다.</a:t>
            </a:r>
          </a:p>
          <a:p/>
          <a:p>
            <a:r>
              <a:t>**다섯 개 API 전부, 육교시부터 직접 호출해보겠습니다.**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[5교시]</a:t>
            </a:r>
          </a:p>
          <a:p/>
          <a:p>
            <a:r>
              <a:t>**오교시를 정리하겠습니다.**</a:t>
            </a:r>
          </a:p>
          <a:p/>
          <a:p>
            <a:r>
              <a:t>**상품 도메인의 파일 여섯 개를 전부 열어보셨고, 회원 도메인과 구조가 왜 똑같은지도 확인하셨습니다.**</a:t>
            </a:r>
          </a:p>
          <a:p/>
          <a:p>
            <a:r>
              <a:t>**새로 본 것도 세 가지 짚었습니다. 숫자 검증(`@Min`), 계산해서 만드는 응답 필드(`soldOut`), 이름으로 만드는 검색 쿼리(`findByNameContaining`).**</a:t>
            </a:r>
          </a:p>
          <a:p/>
          <a:p>
            <a:r>
              <a:t>**남은 시간 동안 하실 일입니다.**</a:t>
            </a:r>
          </a:p>
          <a:p/>
          <a:p>
            <a:r>
              <a:t>**첫째, 오늘 연 여섯 개 파일을 다시 한번 순서대로(엔티티→요청→응답→리포지토리→서비스→컨트롤러) 훑어보세요.**</a:t>
            </a:r>
          </a:p>
          <a:p/>
          <a:p>
            <a:r>
              <a:t>**둘째, `ProductService.update()`에 왜 `save()` 호출이 없는지, 스스로 추측을 하나 세워두세요. 칠교시에 답을 확인합니다.**</a:t>
            </a:r>
          </a:p>
          <a:p/>
          <a:p>
            <a:r>
              <a:t>**육교시에 만납니다. 이제부터 직접 눌러보겠습니다.**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**육교시 시작합니다. 오교시에 읽은 코드를 실제로 돌려보겠습니다. 이번에는 D7에서 배운 Postman으로 누릅니다.**</a:t>
            </a:r>
          </a:p>
          <a:p/>
          <a:p>
            <a:r>
              <a:t>**D7에서 만든 Collection을 여세요. 그 안에 `상품 API` 폴더를 만들고 요청을 추가합니다.** (제 화면 위쪽의 `D10 상품 API (강의용)`은 수업용으로 만든 Collection 이름입니다.) 주소는 그때 배운 대로 `{{baseUrl}}` 변수를 씁니다. `baseUrl`이 `http://localhost:8080`으로 되어 있는지도 한 번 확인하세요.</a:t>
            </a:r>
          </a:p>
          <a:p/>
          <a:p>
            <a:r>
              <a:t>**첫 요청은 상품 등록입니다. 화면의 순서대로 가겠습니다.** Method는 **POST**, 주소 칸에는 **`{{baseUrl}}/api/products`**, 그리고 **Body 탭에서 `raw`를 고르고 오른쪽 끝의 형식을 `JSON`**으로 바꿉니다. 본문 칸에 화면의 JSON을 넣고 **Send**를 누르면 다음 장에서 볼 응답이 돌아옵니다.</a:t>
            </a:r>
          </a:p>
          <a:p/>
          <a:p>
            <a:r>
              <a:t>**여러분은 원하시는 상품으로 자유롭게 바꾸셔도 됩니다.** 이름, 가격, 재고, 설명 전부 자유입니다 — 회원가입 때처럼 정해진 값이 없어요.</a:t>
            </a:r>
          </a:p>
          <a:p/>
          <a:p>
            <a:r>
              <a:t>⚠️ **Body 형식이 `JSON`인지 꼭 확인하세요.** `Text`로 남아 있으면 서버가 본문을 JSON으로 읽지 못해서 이름·가격이 비어 있는 것처럼 받아들이고 검증에서 막힙니다. Postman은 `JSON`을 고르면 `Content-Type: application/json` 헤더를 알아서 붙여 주니까, 헤더를 따로 적을 필요는 없습니다.</a:t>
            </a:r>
          </a:p>
          <a:p/>
          <a:p>
            <a:r>
              <a:t>**오교시에 코드로만 봤던 `ProductController.create()`가, 이 Send 한 번으로 실제로 실행됩니다.** `@Valid`가 값을 검증하고, `ProductService.create()`가 새 `Product`를 만들고, `productRepository.save()`가 DB에 저장하고, `ProductResponse`로 감싸서 돌려주는 과정이 **한 번의 요청 안에서 순서대로 일어난 겁니다.**</a:t>
            </a:r>
          </a:p>
          <a:p/>
          <a:p>
            <a:r>
              <a:t>🖊️ 화면 아래쪽에 같은 요청을 `curl` 한 줄로 적어 두었습니다. 터미널에서도 똑같이 동작하고, 나중에 서버(GCP)에서 확인할 때는 화면이 없어서 이 방식을 씁니다. 오늘은 Postman으로 하시고 참고만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**위쪽이 Postman의 정상 등록 결과입니다. 응답 창 오른쪽 위에 초록색 `201 Created`가 보이죠. `id`가 새로 생겼고, `soldOut`이 `false`로 계산되어 나왔습니다.** 재고 20개가 있으니 당연히 품절이 아니죠. 응답에 담긴 필드 가운데 다섯 개(`id`·`name`·`price`·`stock`·`soldOut`)를 하나씩 눈으로 확인해보세요.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**아래쪽은 일부러 가격을 `-1000`(음수)으로 넣어본 결과입니다. 이번에는 `400 Bad Request`가 표시됩니다. `{"message":"가격은 0원 이상입니다"}`** — **`ProductRequest.java`의 `@Min(0)` 검증에 딱 걸린 겁니다.**</a:t>
            </a:r>
          </a:p>
          <a:p/>
          <a:p>
            <a:r>
              <a:t>**이 검증이 정확히 언제 일어나는지도 어제 배운 그대로입니다.** `@Valid`가 컨트롤러 진입 전에 먼저 걸러서, **`ProductService`의 `create` 메서드는 실행조차 안 됩니다.** 잘못된 요청이 서비스 계층, DB 근처에도 못 가고 가장 바깥에서 튕겨나가는 구조, 회원 도메인과 완전히 똑같습니다.</a:t>
            </a:r>
          </a:p>
          <a:p/>
          <a:p>
            <a:r>
              <a:t>**이번엔 이름을 빈 문자열로 보내는 것도 한번 시도해보세요.** `{"name":"","price":1000,"stock":5}`처럼요. **`@NotBlank(message = "상품 이름을 입력하세요")`가 그대로 걸려서 그 메시지가 돌아올 겁니다.** 검증 조건이 여러 개일 때, 어떤 조건에 걸리든 각자 정확한 메시지로 안내된다는 것도 함께 확인해보세요.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**방금 확인한 검증 실패, 잠깐 멈춰서 짚고 갈게요. 오늘 이 동작을 이해하기 위해 새로 배운 개념이 하나도 없었습니다.**</a:t>
            </a:r>
          </a:p>
          <a:p/>
          <a:p>
            <a:r>
              <a:t>**`@NotBlank`, `@Min`은 전부 어제 이미 쓰셨던 도구고, `@Valid`가 컨트롤러 진입 전에 먼저 걸러낸다는 구조도 그제(D8) 확인하신 그대로입니다.**</a:t>
            </a:r>
          </a:p>
          <a:p/>
          <a:p>
            <a:r>
              <a:t>**딱 하나 다른 게 있다면, 검증 대상이 문자열(아이디)이 아니라 숫자(가격)였다는 것뿐**입니다. **도메인이 바뀌어도, 검증이라는 개념 자체는 재사용**된다는 걸 오늘 다시 확인하신 거예요. 이런 식으로 지식이 쌓이면, 새 도메인을 만날 때마다 배울 게 점점 줄어듭니다.</a:t>
            </a:r>
          </a:p>
          <a:p/>
          <a:p>
            <a:r>
              <a:t>**표를 다시 훑어보시면서, 왼쪽(어제)과 오른쪽(오늘) 칸이 얼마나 닮아 있는지 직접 눈으로 확인해보세요.**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**아까 등록 응답을 다시 떠올려보세요. 상태 코드가 `200`이 아니라 `201`이었습니다. 왜 다를까요?**</a:t>
            </a:r>
          </a:p>
          <a:p/>
          <a:p>
            <a:r>
              <a:t>**`201 Created`는 '요청대로 새로운 무언가가 만들어졌다'는 뜻**입니다. 어제 회원가입도 `201`이었죠 — **등록(생성)이라는 동작에는 관례적으로 이 코드를 씁니다.**</a:t>
            </a:r>
          </a:p>
          <a:p/>
          <a:p>
            <a:r>
              <a:t>**코드에서 어디에 정해져 있는지도 볼게요.** `ProductController.create()`를 보시면 `ResponseEntity.status(HttpStatus.CREATED)`라고 **직접 지정**하고 있습니다. 반면 조회 메서드들은 상태 코드를 따로 안 정했는데, **아무것도 안 정하면 스프링이 기본값으로 `200`을 씁니다.**</a:t>
            </a:r>
          </a:p>
          <a:p/>
          <a:p>
            <a:r>
              <a:t>**이 작은 차이를 신경 써서 짜는 이유는, 상태 코드만 보고도 클라이언트(화면, 다른 서버)가 '무슨 일이 일어났는지' 바로 판단할 수 있게 하기 위해서**입니다.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**이번엔 전체 상품 목록을 조회해보겠습니다. `GET /api/products`, 파라미터도 없이 그냥 Send 합니다.** 새 요청에서 Method는 GET, 주소는 `{{baseUrl}}/api/products`, 본문은 필요 없습니다.</a:t>
            </a:r>
          </a:p>
          <a:p/>
          <a:p>
            <a:r>
              <a:t>**어제 `GET /api/users`로 회원 전체를 조회했던 것과 정확히 같은 패턴**입니다. D7에서 GET을 세 번 비교해 보셨죠. 이번엔 회원이 아니라 상품이 배열로 돌아올 거예요.</a:t>
            </a:r>
          </a:p>
          <a:p/>
          <a:p>
            <a:r>
              <a:t>**여러분이 방금 등록하신 상품도 이 목록에 같이 나오는지 확인해보세요. 다음 장에서 실제 결과를 보겠습니다.**</a:t>
            </a:r>
          </a:p>
          <a:p/>
          <a:p>
            <a:r>
              <a:t>**응답이 배열(`[...]`) 형태로 온다는 것도 다시 짚을게요.** 상품이 몇 개든, **`ProductService.findAll()`이 `List&lt;ProductResponse&gt;`를 돌려주기 때문에 항상 배열로 응답**됩니다. 상품이 하나뿐이어도, 백 개여도 형태는 똑같이 배열이에요 — 어제 회원 목록 조회 때와 동일한 약속입니다.</a:t>
            </a:r>
          </a:p>
          <a:p/>
          <a:p>
            <a:r>
              <a:t>🖊️ 응답이 한 줄로 길게 이어져 보이면, D7에서 본 **Pretty** 탭을 확인하세요. Postman이 들여쓰기와 줄바꿈을 알아서 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**등록 응답을 다시 보시면, 요청에는 없던 `id` 필드가 응답에는 있습니다. 여러분은 이 번호를 정한 적이 없는데, 어디서 나온 걸까요?**</a:t>
            </a:r>
          </a:p>
          <a:p/>
          <a:p>
            <a:r>
              <a:t>**`Product.java`(엔티티)로 돌아가보면 답이 있습니다. `id` 필드 위에 `@Id`와 `@GeneratedValue(strategy = GenerationType.IDENTITY)`가 붙어 있습니다.**</a:t>
            </a:r>
          </a:p>
          <a:p/>
          <a:p>
            <a:r>
              <a:t>**`@Id`는 '이 필드가 기본 키(primary key)'라는 뜻이고, `@GeneratedValue`는 '값을 자동으로 생성해라'는 뜻**입니다. `IDENTITY` 전략은 **MySQL의 `AUTO_INCREMENT` 기능을 그대로 활용해서, 새 행이 들어갈 때마다 1씩 증가하는 번호를 DB가 스스로 매기게** 합니다.</a:t>
            </a:r>
          </a:p>
          <a:p/>
          <a:p>
            <a:r>
              <a:t>**그래서 씨앗 데이터가 5개(`id` 1~5)였고, 여러분이 육교시 초반에 처음 등록한 상품이 `id: 6`으로 나왔던 것**입니다. **누가 몇 번째로 등록하든, 그 순서대로 6, 7, 8… 번호가 자동으로 이어집니다.** 회원 가입 때 봤던 `id` 생성 방식과도 완전히 동일한 원리입니다.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**여기서 잠깐, 등록 직후 상태를 하나 더 확인해보겠습니다. 이번엔 재고(`stock`)를 처음부터 `0`으로 넣고 등록해보세요.** 앞에서 만든 등록 요청을 **우클릭해서 Duplicate(복제)** 하면 본문만 바꾸면 되니 빠릅니다.</a:t>
            </a:r>
          </a:p>
          <a:p/>
          <a:p>
            <a:r>
              <a:t>**등록하시기 전에 먼저 예측해보세요. 방금 만든 이 상품, 응답의 `soldOut`은 `true`일까요 `false`일까요?**</a:t>
            </a:r>
          </a:p>
          <a:p/>
          <a:p>
            <a:r>
              <a:t>**오교시에 본 코드를 떠올려보시면 답이 나옵니다. `ProductResponse` 생성자는 `this.soldOut = product.getStock() == 0;`을 매번 새로 계산**합니다. **등록이 막 끝난 상품이든, 며칠 전에 등록된 상품이든 상관없이, 재고가 0이면 무조건 `soldOut: true`**입니다.</a:t>
            </a:r>
          </a:p>
          <a:p/>
          <a:p>
            <a:r>
              <a:t>**즉 '얼마나 오래됐는가', '누가 등록했는가'는 전혀 상관이 없고, 오직 지금 이 순간의 재고 값 하나로만 결정됩니다.** 이게 바로 오교시에 배운 '파생 필드'의 실제 동작입니다 — **저장된 값이 아니라, 조회하는 그 순간 다시 계산되는 값**이라는 걸 등록 직후 상황으로도 확인하신 거예요.</a:t>
            </a:r>
          </a:p>
          <a:p/>
          <a:p>
            <a:r>
              <a:t>**방금 등록하신 이 품절 상태 상품(저는 `한정판 키링`, `id: 7`)은 지우지 말고 남겨두세요.** 바로 다음 장의 목록 화면에도, 칠교시 끝의 DB 확인 화면에도 그대로 남아 있게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**Postman의 전체 목록 응답을 두 화면으로 나누어 보여드립니다. 왼쪽이 앞부분(`id: 1`~`4`), 오른쪽이 뒷부분(`id: 4`~`7`)이에요.** 씨앗 데이터 다섯 개에, 방금 등록한 상품 둘(`id: 6`, `id: 7`)을 더한 일곱 건입니다. 각 상품의 `soldOut` 값을 하나씩 확인해보세요.</a:t>
            </a:r>
          </a:p>
          <a:p/>
          <a:p>
            <a:r>
              <a:t>**노트북 거치대(`id: 4`)와 방금 재고 0으로 등록한 한정판 키링(`id: 7`), 이 둘만 `soldOut: true`이고, 나머지는 전부 `false`입니다.** DB의 `data.sql`에서 노트북 거치대만 재고를 0으로 심어뒀던 이유가 바로 이 화면을 보여드리기 위해서였어요.</a:t>
            </a:r>
          </a:p>
          <a:p/>
          <a:p>
            <a:r>
              <a:t>**오교시에 코드로 봤던 그 한 줄, `this.soldOut = product.getStock() == 0;`이 상품 하나하나마다 한 번씩 실행돼서 이 결과를 만들어낸 겁니다.** 코드 한 줄을 눈으로 읽는 것과, 실제로 서로 다른 결과가 나오는 걸 직접 보는 것 사이에는 차이가 있죠 — **오늘 그 차이를 계속 메워가는 중입니다.**</a:t>
            </a:r>
          </a:p>
          <a:p/>
          <a:p>
            <a:r>
              <a:t>**재고 값도 한번 확인해보세요.** 30, 12, 5, 0, 45, 20, 0 — **재고가 아무리 낮아도(5개) `soldOut`은 `false`이고, 정확히 0일 때만 `true`**입니다. `getStock() == 0`이라는 조건이 **딱 그 경계값 하나만 정확히 잡아낸다**는 것, 코드와 결과를 나란히 놓고 보시면 더 분명해지실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**전체 조회 결과가 몇 건이었는지 세어보셨나요? 씨앗 데이터 5개에, 여러분이 육교시 초반에 등록하신 개수를 더한 값과 정확히 같아야 정상입니다.**</a:t>
            </a:r>
          </a:p>
          <a:p/>
          <a:p>
            <a:r>
              <a:t>**만약 숫자가 안 맞는다면 두 가지를 의심해보세요.** 첫째, **등록 요청이 검증에 걸려서 실패했는데 눈치를 못 채신 경우**(응답 메시지를 다시 확인해보세요). 둘째, **재시작을 하신 뒤에 등록하신 경우**(그러면 씨앗 데이터부터 다시 시작합니다).</a:t>
            </a:r>
          </a:p>
          <a:p/>
          <a:p>
            <a:r>
              <a:t>**이렇게 '예상되는 숫자'를 미리 계산해두고 실제 결과와 맞춰보는 습관, 오늘처럼 목록을 다루는 API에서는 특히 유용합니다.** 눈으로 대충 훑어보는 것보다, **정확한 숫자로 맞는지 틀리는지 확인하는 게 훨씬 빠르게 문제를 찾아냅니다.**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**아까 등록하신 상품의 `id`를 기억하시나요? 그 번호로 단건 조회를 해보겠습니다. `GET /api/products/{id}`입니다.**</a:t>
            </a:r>
          </a:p>
          <a:p/>
          <a:p>
            <a:r>
              <a:t>**어제 `GET /api/users/{id}`로 회원 한 명을 조회했던 것과 똑같은 형태예요. URL 끝에 숫자만 바뀌었습니다.**</a:t>
            </a:r>
          </a:p>
          <a:p/>
          <a:p>
            <a:r>
              <a:t>**등록할 때 보셨던 정보(이름, 가격, 재고, 설명, `soldOut`)가 그대로 다시 돌아올 겁니다. 이번엔 일부러 없는 번호로도 시도해보겠습니다.**</a:t>
            </a:r>
          </a:p>
          <a:p/>
          <a:p>
            <a:r>
              <a:t>**단건 조회 응답이 배열이 아니라 객체(`{...}`) 형태라는 것도 비교해보세요.** 방금 전체 조회는 `[...]`(배열)였는데, **지금은 `{...}`(객체) 하나**입니다. `findById`가 `ProductResponse` 하나만 돌려주기 때문이에요. **여러 개를 돌려줄 때는 배열, 하나만 돌려줄 때는 객체** — 이 구분도 회원 도메인에서 이미 겪어보신 패턴입니다.</a:t>
            </a:r>
          </a:p>
          <a:p/>
          <a:p>
            <a:r>
              <a:t>**`ProductController`의 `findById` 메서드 시그니처를 다시 보시면, 리턴 타입이 `List&lt;ProductResponse&gt;`가 아니라 `ProductResponse` 하나**입니다. **자바 코드에서의 타입 선언이, 실제 JSON 응답의 형태(배열이냐 객체냐)로 그대로 이어진다는 것**도 오늘 눈여겨볼 만한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**일부러 존재하지 않을 것 같은 번호(`9999`)로 조회해보겠습니다.** 방금 만든 단건 조회 요청에서 주소 끝의 `6`을 `9999`로 바꿔 Send 하세요.</a:t>
            </a:r>
          </a:p>
          <a:p/>
          <a:p>
            <a:r>
              <a:t>**직접 눌러보시기 전에 잠깐 예측해보세요. 몇 번 상태 코드가 나올 것 같으신가요?** 힌트는 어제(D9)와 그제(D8)에 계속 보셨던 패턴 안에 있습니다.</a:t>
            </a:r>
          </a:p>
          <a:p/>
          <a:p>
            <a:r>
              <a:t>**`404`(주소 자체가 없음)가 아니라 `400`이 돌아옵니다.** `ProductService`의 `get(id)` 메서드 안에서, `findById`가 못 찾으면 `IllegalArgumentException`을 던지도록 짜여 있기 때문이에요.</a:t>
            </a:r>
          </a:p>
          <a:p/>
          <a:p>
            <a:r>
              <a:t>**`ApiExceptionHandler.java`가 이 예외를 잡아서 `400`으로 바꿔준다는 것도, 그제(D8)부터 계속 봐온 그 구조 그대로입니다.** '리소스가 없다'는 상황을 `404`로 표현하는 게 REST 관례에는 더 가깝지만, **이 프로젝트는 일관되게 `IllegalArgumentException` → `400`이라는 한 가지 패턴만 씁니다.** 하나의 규칙을 프로젝트 전체에서 일관되게 지키는 것도, 코드를 더 잘 읽히게 만드는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**지금까지는 응답 창의 `Body`만 보셨습니다. 이번에는 같은 응답의 `Headers` 탭을 열어 보겠습니다.** D7에서 요청 쪽 Headers를 보셨는데, 응답에도 헤더가 있습니다.</a:t>
            </a:r>
          </a:p>
          <a:p/>
          <a:p>
            <a:r>
              <a:t>**응답 창 오른쪽 위의 `200 OK`가 바로 여러분이 지금까지 계속 이야기했던 그 상태 코드**입니다. Postman이 늘 보여 주고 있었어요. **사실 모든 응답에는 항상 이 상태 코드가 붙어 있습니다.**</a:t>
            </a:r>
          </a:p>
          <a:p/>
          <a:p>
            <a:r>
              <a:t>**`Content-Type: application/json`도 눈여겨보세요.** 서버가 **'지금 보내는 이 본문은 JSON 형식입니다'라고 클라이언트에게 미리 알려주는 헤더**입니다. 우리가 요청을 보낼 때 `Content-Type: application/json`을 챙겼던 것처럼, **서버도 응답에 같은 정보를 담아서 돌려주는 것**이죠.</a:t>
            </a:r>
          </a:p>
          <a:p/>
          <a:p>
            <a:r>
              <a:t>**앞으로 응답이 예상과 다를 때는, 본문뿐 아니라 상태 코드와 Headers까지 같이 확인하는 습관을 들이시면 좋습니다.** 상태 코드가 200인지 400인지를 본문 메시지만 보고 짐작하는 대신, 오른쪽 위의 정확한 숫자로 바로 확인할 수 있어요.</a:t>
            </a:r>
          </a:p>
          <a:p/>
          <a:p>
            <a:r>
              <a:t>🖊️ 화면 없이 터미널에서 같은 것을 보려면 `curl -i` 를 씁니다. `-i` 는 응답 헤더까지 출력하라는 옵션입니다. 서버에서 확인할 때 다시 만나게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**여기서 잠깐 생각해볼 질문이 있습니다. 오늘 상품 조회 API에는 어제 배운 세션 확인이 전혀 없었죠. 이거 괜찮은 걸까요?**</a:t>
            </a:r>
          </a:p>
          <a:p/>
          <a:p>
            <a:r>
              <a:t>**쇼핑몰을 떠올려보세요. 로그인을 안 해도 상품 목록은 보이는 게 당연**합니다. 회원이 아니어도 둘러보다가 마음에 들면 그때 로그인하고 구매하는 흐름이죠. **그래서 상품 조회는 로그인 여부와 상관없이 열려 있는 게 맞습니다.**</a:t>
            </a:r>
          </a:p>
          <a:p/>
          <a:p>
            <a:r>
              <a:t>**그런데 등록·수정·삭제까지 지금처럼 아무나 할 수 있는 건 문제**입니다. 아무나 상품을 지울 수 있으면 안 되니까요. **요구사항정의서에도 이미 적혀 있는 미해결 항목**인데, 실제 서비스라면 '상품 등록·수정·삭제는 ADMIN만'이라는 제한이 필요합니다. **그 제한은 어제 배운 세션의 `role` 확인과 똑같은 방식으로 구현합니다** — 방법은 이미 배우셨으니, 시간이 되면 직접 적용해보셔도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[6교시]</a:t>
            </a:r>
          </a:p>
          <a:p/>
          <a:p>
            <a:r>
              <a:t>**육교시를 정리하겠습니다.**</a:t>
            </a:r>
          </a:p>
          <a:p/>
          <a:p>
            <a:r>
              <a:t>**상품을 등록하고, 목록과 단건으로 조회해봤습니다. 검증 실패, 존재하지 않는 id 조회까지 — 전부 어제 회원 도메인에서 이미 겪어본 패턴이었습니다.**</a:t>
            </a:r>
          </a:p>
          <a:p/>
          <a:p>
            <a:r>
              <a:t>**뒤 시간 동안 하실 일입니다.**</a:t>
            </a:r>
          </a:p>
          <a:p/>
          <a:p>
            <a:r>
              <a:t>**첫째, 본인만의 상품을 두세 개 더 등록해보세요. 이름과 설명은 자유롭게 정하셔도 됩니다.**</a:t>
            </a:r>
          </a:p>
          <a:p/>
          <a:p>
            <a:r>
              <a:t>**둘째, 방금 등록하신 상품들이 전체 목록 조회에 전부 나오는지 확인해보세요.**</a:t>
            </a:r>
          </a:p>
          <a:p/>
          <a:p>
            <a:r>
              <a:t>**칠교시에는 수정과 삭제, 그리고 검색까지 확인합니다. 곧 뵙겠습니다.**</a:t>
            </a:r>
          </a:p>
          <a:p/>
          <a:p>
            <a:r>
              <a:t>**셋째, 오늘 등록하신 상품 중 하나를 골라서, 이름만 바꾸고 나머지는 그대로 두는 수정을 미리 시도해보셔도 좋습니다.** 다만 `PUT`은 값을 전부 다시 보내야 한다는 것, 잊지 마세요 — **가격·재고·설명도 원래 값 그대로 함께 보내셔야 합니다.** 칠교시에 이 부분을 더 정확히 다시 짚어드리겠습니다.</a:t>
            </a:r>
          </a:p>
          <a:p/>
          <a:p>
            <a:r>
              <a:t>**오늘 표에 정리된 세 가지(등록·조회·없는 id 조회)를 다시 눈으로 훑어보세요.** 세 가지 전부 **'어제 회원 도메인에서 이미 겪어본 패턴이 상품 도메인에서도 똑같이 반복된다'**는 오늘 하루의 핵심 메시지를 담고 있습니다. 이 표를 기억해두시면, 칠교시에 새로 배울 변경 감지 원리도 훨씬 수월하게 따라오실 수 있을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**칠교시 시작합니다. 아까 등록하신 상품(id 6번, 또는 본인이 등록하신 번호)의 재고를 수정해보겠습니다.**</a:t>
            </a:r>
          </a:p>
          <a:p/>
          <a:p>
            <a:r>
              <a:t>**`PUT /api/products/{id}`에 새로운 이름·가격·재고·설명을 전부 다시 보냅니다.** 이번엔 재고를 일부러 `0`으로 바꿔보겠습니다 — **`soldOut`이 정말로 다시 계산되는지 확인하기 위해서예요.**</a:t>
            </a:r>
          </a:p>
          <a:p/>
          <a:p>
            <a:r>
              <a:t>**등록 요청을 복제(Duplicate)해서 Method만 PUT으로, 주소 끝에 `/6`을 붙이면 빠릅니다. 본인이 등록하신 상품 번호로 바꿔서 Send 하세요. 다음 장에서 결과를 보겠습니다.**</a:t>
            </a:r>
          </a:p>
          <a:p/>
          <a:p>
            <a:r>
              <a:t>**요청 본문을 자세히 보시면, 등록할 때와 똑같은 형태(이름·가격·재고·설명 전부)라는 걸 알 수 있습니다.** 일부만 바꾸고 싶어도, **`PUT`은 항상 전체 값을 다시 보내야 합니다.** 이름은 그대로 두고 가격만 바꾸고 싶어도, 이름 필드까지 다시 채워서 보내야 하는 거예요. 이게 왜 그런지는 이번 교시 뒤쪽에서 다시 짚어드리겠습니다.</a:t>
            </a:r>
          </a:p>
          <a:p/>
          <a:p>
            <a:r>
              <a:t>**URL 뒤에 붙는 `id`(여기선 `6`)도 다시 한번 확인해보세요.** '어떤 상품을 수정할지'는 이 `id`가 정하고, '어떻게 바꿀지'는 요청 본문이 정합니다. **경로와 본문, 이 둘의 역할이 명확히 나뉘어 있다는 것**도 오늘 칠교시에 새로 확인하시는 포인트입니다.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**응답을 보시면 `stock: 0`, 그리고 `soldOut: true`로 나옵니다.**</a:t>
            </a:r>
          </a:p>
          <a:p/>
          <a:p>
            <a:r>
              <a:t>**이게 왜 당연한 결과인지 다시 짚어볼게요. `ProductResponse`는 매번 새로 만들어지는 상자**입니다. `update` 메서드가 끝나고 `new ProductResponse(product)`를 호출하는 순간, **그 안에서 `product.getStock() == 0`을 다시 계산**합니다. DB에 `sold_out`이라는 컬럼이 없어도, **응답을 만드는 그 순간의 최신 재고 값으로 항상 새로 판단**하는 거예요.</a:t>
            </a:r>
          </a:p>
          <a:p/>
          <a:p>
            <a:r>
              <a:t>**만약 `soldOut`을 DB 컬럼으로 따로 저장해뒀다면 어땠을까요?** 재고를 수정할 때마다 **`soldOut` 컬럼도 같이 업데이트하는 코드를 깜빡하지 않고 챙겨야 했을 겁니다.** 오늘처럼 계산해서 만드는 방식이, 그런 실수의 여지를 아예 없애줍니다.</a:t>
            </a:r>
          </a:p>
          <a:p/>
          <a:p>
            <a:r>
              <a:t>**직접 재고를 1, 그다음 0, 그다음 다시 5로 바꿔가며 몇 번 더 수정해보세요.** `soldOut` 값이 **재고가 0일 때만 정확히 `true`로 바뀌는지 여러 번 확인**하시면, 이 필드가 매번 새로 계산된다는 확신이 더 단단해지실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**오교시에 남겨뒀던 질문, 이제 풀어보겠습니다. `update` 메서드 어디에도 `productRepository.save(...)`가 없는데, 방금 결과는 분명히 DB에 반영됐습니다.**</a:t>
            </a:r>
          </a:p>
          <a:p/>
          <a:p>
            <a:r>
              <a:t>**이 현상을 'JPA의 변경 감지(dirty checking)'라고 부릅니다.** `@Transactional`이 붙은 메서드 안에서, **DB에서 가져온 엔티티(`product`)의 값을 바꾸면, 메서드가 끝나는 순간 JPA가 '어, 이 객체가 바뀌었네' 하고 알아채서 자동으로 UPDATE 쿼리를 날려줍니다.**</a:t>
            </a:r>
          </a:p>
          <a:p/>
          <a:p>
            <a:r>
              <a:t>**핵심은 `@Transactional` 어노테이션입니다.** 이게 있어야 JPA가 '이 메서드 안에서 엔티티 변경을 지켜보겠다'는 모드로 들어갑니다. **`get(id)`로 가져온 `product`가 이미 JPA의 관리를 받는 상태(영속 상태)이기 때문에 가능한 일**이에요.</a:t>
            </a:r>
          </a:p>
          <a:p/>
          <a:p>
            <a:r>
              <a:t>**'영속 상태'라는 말이 낯설게 느껴지실 텐데, 간단히 말하면 'JPA가 지금 이 객체를 기억하고 지켜보고 있다'는 뜻**입니다. `productRepository.findById(...)`로 DB에서 막 꺼내온 객체는 이 상태가 됩니다. **반대로 우리가 `new Product(...)`로 직접 만든 객체는 아직 JPA가 모르는 상태**라서, `create`에서는 `save()`로 '이제부터 이 객체를 관리해줘'라고 명시적으로 알려줘야 했던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**그런데 회원가입(`join`)이나 상품 등록(`create`)에서는 분명히 `save(...)`를 직접 불렀었죠. 왜 등록할 때는 부르고, 수정할 때는 안 부를까요?**</a:t>
            </a:r>
          </a:p>
          <a:p/>
          <a:p>
            <a:r>
              <a:t>**등록(`create`)은 '아직 DB에 없는 새 데이터를 처음 넣는 것'**입니다. `save()`를 명시적으로 불러서 **'이 새 객체를 저장해라'고 스프링에게 직접 지시**해야 합니다.</a:t>
            </a:r>
          </a:p>
          <a:p/>
          <a:p>
            <a:r>
              <a:t>**수정(`update`)은 '이미 DB에 있고, JPA가 이미 알고 있는 데이터를 바꾸는 것'**입니다. **이미 관리받고 있는 객체이기 때문에, 값만 바꿔두면 트랜잭션이 끝날 때 JPA가 알아서 반영**해줍니다.</a:t>
            </a:r>
          </a:p>
          <a:p/>
          <a:p>
            <a:r>
              <a:t>**둘 다 결과적으로 DB에 반영되지만, 코드가 '무엇을 하려는지' 표현하는 방식이 다릅니다.** 새로 만드는 건 명시적으로, 이미 있는 걸 고치는 건 자연스럽게 — **이 구분이 실무 코드에서도 그대로 지켜지는 관례**입니다.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**아까 첫 장에서 잠깐 미뤄뒀던 질문, 여기서 풀고 갈게요. 왜 이름만 바꾸고 싶어도 가격·재고·설명까지 전부 다시 보내야 할까요?**</a:t>
            </a:r>
          </a:p>
          <a:p/>
          <a:p>
            <a:r>
              <a:t>**`Product.update()` 코드를 보시면 이유가 바로 보입니다.** 이 메서드는 **넘어온 값 네 개를 전부, 무조건 덮어씁니다.** 그러니 요청 본문에서 일부를 빼먹으면 두 가지 중 하나가 됩니다. **이름·가격·재고는 `ProductRequest`의 `@NotBlank`·`@NotNull` 검증에 걸려서 `400` 오류로 돌아옵니다.** 그런데 **설명(`description`)에는 검증이 없어서, 빼먹으면 `null`이 그대로 덮어써져 기존 설명이 사라집니다.**</a:t>
            </a:r>
          </a:p>
          <a:p/>
          <a:p>
            <a:r>
              <a:t>**이게 `PUT`이라는 메서드 자체의 약속입니다.** HTTP 표준에서 `PUT`은 **'이 리소스를 요청 본문의 내용으로 완전히 교체하라'**는 의미로 정의돼 있습니다. **일부만 바꾸고 싶을 때 쓰는 메서드는 따로 있는데, `PATCH`**라고 부릅니다. 오늘 우리 프로젝트는 단순하게 `PUT` 하나만 지원하기 때문에, **수정할 때는 안 바뀌는 필드까지도 기존 값 그대로 함께 보내야** 합니다.</a:t>
            </a:r>
          </a:p>
          <a:p/>
          <a:p>
            <a:r>
              <a:t>**실습하실 때 이 부분에서 자주 실수가 나옵니다.** 이름만 바꾸려다가 설명 필드를 깜빡하고 안 보내면, **설명이 조용히 `null`로 사라지는 결과**를 보게 되실 수 있어요. 가격이나 재고를 빼먹으면 검증 메시지가 바로 알려주니 오히려 다행입니다. 수정 요청을 보내기 전에는 **'네 필드 모두 채워졌는지'를 한 번 더 확인**하는 습관을 들이시면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**`DELETE /api/products/{id}`로 방금 수정한 상품을 삭제해보겠습니다. 새 요청에서 Method를 DELETE로 바꾸고 주소 끝에 상품 번호를 붙여 Send 하세요. 본문은 필요 없습니다.**</a:t>
            </a:r>
          </a:p>
          <a:p/>
          <a:p>
            <a:r>
              <a:t>**응답을 보시면 `204 No Content`가 돌아옵니다.** 몸통(body) 없이 **'성공했고, 딱히 돌려드릴 정보는 없습니다'**라는 뜻의 상태 코드예요. 어제 로그아웃 API가 `void`를 리턴하고 `200`이 나왔던 것과 비슷한데, **삭제 성공에는 관례적으로 `204`를 씁니다.**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**아래쪽, 삭제 직후 같은 `id`로 다시 조회한 결과입니다. `400`과 함께 '상품을 찾을 수 없습니다'가 돌아옵니다.** 조금 전까지 있던 상품이, **DB에서 진짜로 사라졌다는 걸 이 에러 메시지가 증명**해줍니다.</a:t>
            </a:r>
          </a:p>
          <a:p/>
          <a:p>
            <a:r>
              <a:t>**여러분도 직접 해보세요. 삭제 → 재조회, 이 순서를 본인 상품으로 실행하시고, 에러 메시지 안의 숫자(id)가 본인이 삭제한 번호와 정확히 일치하는지 확인해보세요.** 작은 확인이지만, **'서버가 정확히 내가 요청한 대상을 처리하고 있다'는 걸 매번 검증하는 습관**이 실무에서도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**방금 `delete`가 실제로 어떻게 지우는지 조금 더 짚어볼게요. `ProductRepository.delete(get(id))`는 DB 행 자체를 완전히 제거합니다.** 이걸 '물리 삭제'라고 부릅니다.</a:t>
            </a:r>
          </a:p>
          <a:p/>
          <a:p>
            <a:r>
              <a:t>**실무에서는 '논리 삭제'라는 방식도 자주 씁니다.** 행을 진짜로 지우지 않고, **`deleted`라는 컬럼을 두고 `true`로만 바꾼 뒤, 조회할 때 `deleted = false`인 것만 보여주는 방식**이에요. 실수로 삭제 버튼을 눌러도 데이터가 남아 있어서 복구할 수 있다는 장점이 있습니다.</a:t>
            </a:r>
          </a:p>
          <a:p/>
          <a:p>
            <a:r>
              <a:t>**오늘 우리 프로젝트는 단순함을 위해 물리 삭제를 씁니다.** 학습 단계에서는 **삭제 개념 자체를 이해하는 게 우선**이고, 논리 삭제 같은 복잡한 방식은 필요해지면 나중에 추가하면 됩니다. 지금 어떤 방식을 쓰고 있는지 정확히 아는 것만으로도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**성공을 뜻하는 `2XX` 계열 안에서도 몇 가지로 나뉜다는 걸 짚고 갈게요.**</a:t>
            </a:r>
          </a:p>
          <a:p/>
          <a:p>
            <a:r>
              <a:t>**`200 OK`는 가장 흔한 성공, 응답 본문이 있는 경우**입니다. 조회나 수정이 여기 해당합니다.</a:t>
            </a:r>
          </a:p>
          <a:p/>
          <a:p>
            <a:r>
              <a:t>**`201 Created`는 새로운 것이 만들어졌을 때** 씁니다. 어제 회원가입, 오늘 상품 등록이 성공하면 이 코드가 돌아옵니다.</a:t>
            </a:r>
          </a:p>
          <a:p/>
          <a:p>
            <a:r>
              <a:t>**`204 No Content`는 성공했지만 돌려줄 정보가 딱히 없을 때** 씁니다. 삭제는 '지워졌다'는 사실 자체가 결과라, **따로 돌려줄 데이터가 없어서 `204`를 씁니다.** 몸통이 비어 있다고 해서 실패한 게 아니라는 것, 오늘 확실히 기억해두시면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**`ProductController`를 다시 보시면, 검색 전용 API(`/api/products/search`처럼)가 따로 없습니다. `GET /api/products`, 조회 API 하나가 검색까지 같이 처리합니다.**</a:t>
            </a:r>
          </a:p>
          <a:p/>
          <a:p>
            <a:r>
              <a:t>**비결은 `@RequestParam(required = false)`입니다.** `required = false`는 **'이 파라미터는 있어도 되고 없어도 된다'**는 뜻이에요. `keyword`를 안 보내면 `null`이 되고, 보내면 그 값이 들어옵니다.</a:t>
            </a:r>
          </a:p>
          <a:p/>
          <a:p>
            <a:r>
              <a:t>**그다음은 `ProductService.findAll` 안에서 `keyword`가 있는지 없는지로 갈립니다.** 오교시에 표로 봤던 그 로직이 실제로 여기서 동작하는 거예요. **'조회'와 '검색'을 완전히 다른 기능으로 보지 않고, 조건이 있는 조회와 없는 조회로 하나의 API 안에 묶어낸 설계**, 오늘 코드에서 확인할 수 있는 실용적인 판단입니다.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**오교시에 코드로만 봤던 검색 기능, `keyword` 파라미터를 붙여서 실제로 호출해보겠습니다.**</a:t>
            </a:r>
          </a:p>
          <a:p/>
          <a:p>
            <a:r>
              <a:t>**Postman에서는 `Params` 탭에 `keyword`와 `키보드`를 넣으면 주소 끝에 `?keyword=키보드`가 자동으로 붙습니다. `GET /api/products?keyword=키보드`처럼, 물음표 뒤에 `keyword=검색어`를 붙입니다.** 이렇게 URL에 붙는 추가 정보를 '쿼리 파라미터'라고 부릅니다. 물음표 앞은 '어떤 자원을 볼지', 물음표 뒤는 '그 자원을 어떤 조건으로 걸러낼지'를 나타냅니다.</a:t>
            </a:r>
          </a:p>
          <a:p/>
          <a:p>
            <a:r>
              <a:t>**`ProductController`의 `findAll` 메서드가 `@RequestParam(required = false) String keyword`로 이 값을 받는다는 것, 오교시에 코드로 확인하셨죠. 이제 결과를 보겠습니다.**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**Params 탭에 `keyword`와 `키보드`를 넣고 Send를 누른 결과입니다.** 응답에 `기계식 키보드` 한 건만 돌아왔습니다. 이름에 `키보드`가 들어 있는 상품만 걸러진 것이에요.</a:t>
            </a:r>
          </a:p>
          <a:p/>
          <a:p>
            <a:r>
              <a:t>**주소 칸을 보세요.** Postman이 `?keyword=키보드`를 붙여 주었습니다. 한글을 직접 치셨는데도 오류가 나지 않았죠. **Postman이 한글을 URL에 넣기 좋은 형태로 알아서 바꿔서 보내기 때문**입니다. 이 바꾸는 방식의 이름은 다음 장에서 짚습니다.</a:t>
            </a:r>
          </a:p>
          <a:p/>
          <a:p>
            <a:r>
              <a:t>**여러분도 `모니터`, `USB` 등 다른 검색어로 바꿔가며 눌러보세요.** 검색어를 바꿔 Send 할 때마다 결과가 달라지는 것을 확인하시면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**앞에서 Postman은 한글이 그대로 됐죠. 그런데 터미널에서 `curl`로 직접 부르면 사정이 다릅니다. 위쪽처럼 한글 키워드를 그냥 따옴표 안에 넣어 호출하면, `400 Bad Request`가 돌아옵니다.**</a:t>
            </a:r>
          </a:p>
          <a:p/>
          <a:p>
            <a:r>
              <a:t>**이유는 URL이라는 형식 자체에 있습니다. URL은 원래 알파벳·숫자·일부 기호로만 이루어지도록 설계됐습니다.** 한글 같은 비영어권 문자를 넣으려면, **'퍼센트 인코딩'이라는 방식으로 바꿔서 보내야 합니다.** 브라우저 주소창에 한글을 치면 `%EA%B8%B0...`처럼 바뀌는 걸 보신 적 있으실 텐데, 바로 그겁니다.</a:t>
            </a:r>
          </a:p>
          <a:p/>
          <a:p>
            <a:r>
              <a:t>**아래쪽처럼 `curl -G ... --data-urlencode "keyword=키보드"`를 쓰면, `curl`이 알아서 한글을 퍼센트 인코딩으로 바꿔서 보내줍니다.** 그러면 정상적으로 검색 결과가 돌아옵니다.</a:t>
            </a:r>
          </a:p>
          <a:p/>
          <a:p>
            <a:r>
              <a:t>**이건 우리 코드의 버그가 아니라, URL이라는 규격 자체의 특성**입니다. 나중에 프런트엔드(화면)를 만들 때는, **브라우저와 프레임워크가 이 인코딩을 대부분 자동으로 처리해주기 때문에 직접 신경 쓸 일이 적습니다.** 오늘은 `curl`로 직접 URL을 다루다 보니 마주친 함정이에요.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**`findByNameContaining`의 `Containing`이라는 단어를 조금 더 풀어볼게요. '포함'이라는 뜻이라, 검색어가 상품 이름의 어디에 있든 찾아냅니다.**</a:t>
            </a:r>
          </a:p>
          <a:p/>
          <a:p>
            <a:r>
              <a:t>**'키보드'로 검색하면 '기계식 키보드'가 걸리는 건, 이름 뒤쪽에 '키보드'가 포함돼 있기 때문**입니다. **'27인치'로 검색해도 마찬가지로 '27인치 모니터'가 걸립니다.** 이름의 앞이든 뒤든 중간이든, 검색어가 어디에 포함돼 있으면 전부 찾아냅니다.</a:t>
            </a:r>
          </a:p>
          <a:p/>
          <a:p>
            <a:r>
              <a:t>**만약 '정확히 일치하는 것만' 찾고 싶었다면 `findByName`(Containing 없이)을 썼을 겁니다.** 이름 규칙 하나(`Containing` 유무)로 검색의 동작 방식 자체가 완전히 달라진다는 것도, 스프링 데이터 JPA의 이름 규칙이 얼마나 표현력이 좋은지 보여주는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**오늘 씨앗 데이터가 다섯 개뿐이라 검색 결과도 많아야 몇 건이었습니다. 그런데 만약 상품이 수만 개인 실제 쇼핑몰이었다면 어떻게 될까요?**</a:t>
            </a:r>
          </a:p>
          <a:p/>
          <a:p>
            <a:r>
              <a:t>**오늘 코드(`findByNameContaining`)는 조건에 맞는 걸 전부 한 번에 돌려줍니다.** 상품이 다섯 개면 다섯 개, 만 개면 **만 개를 전부 한 번의 응답에 담아 보내려고 시도**할 겁니다. 이러면 응답이 지나치게 커지고, 화면도 느려지고, 서버 메모리도 부담이 커집니다.</a:t>
            </a:r>
          </a:p>
          <a:p/>
          <a:p>
            <a:r>
              <a:t>**실무에서는 이 문제를 '페이징(paging)'으로 해결합니다.** **'20건씩 끊어서, 몇 번째 페이지를 주세요'**라고 요청하고, 서버는 딱 그만큼만 잘라서 돌려주는 방식이에요. 스프링 데이터 JPA에는 이걸 위한 `Pageable`이라는 도구도 이미 준비되어 있습니다.</a:t>
            </a:r>
          </a:p>
          <a:p/>
          <a:p>
            <a:r>
              <a:t>**오늘 코드에 페이징이 빠져 있는 건 실수가 아니라, 학습 단계에서 핵심(검색 자체가 동작하는 원리)에 먼저 집중하기 위한 의도적인 단순화**입니다. **데이터 양이 적을 때는 오늘 코드로도 충분히 잘 동작하지만, 서비스가 커지면 페이징을 반드시 추가해야 하는 대표적인 지점**이라는 것만 기억해두시면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**오늘의 mysql 직접 조회입니다. `products` 테이블에 씨앗 데이터 다섯 개와, 재고 0으로 등록해 둔 한정판 키링(`id: 7`)이 남아 있습니다.** 삭제한 스피커(`id: 6`)는 번호가 비어 있죠. 삭제한 번호는 다시 채워지지 않습니다.</a:t>
            </a:r>
          </a:p>
          <a:p/>
          <a:p>
            <a:r>
              <a:t>**삭제한 상품이 지금 이 목록에 없다면, 삭제까지 제대로 실습하신 겁니다.** 혹시 남아 있다면, **아직 삭제를 안 하셨거나, 재시작으로 초기화되기 전에 등록하셨던 것**일 수 있습니다.</a:t>
            </a:r>
          </a:p>
          <a:p/>
          <a:p>
            <a:r>
              <a:t>**어제도 강조드렸던 습관을 오늘도 반복합니다. API 응답만 보고 넘어가지 않고, 저장소를 직접 열어서 진짜 상태를 확인하는 것.** 오늘은 위험한 정보(비밀번호)를 다루는 게 아니라 위험 자체는 없지만, **'API 응답이 정상이어도 실제 DB 상태를 확인하는 습관'은 어떤 도메인을 다루든 유효**합니다.</a:t>
            </a:r>
          </a:p>
          <a:p/>
          <a:p>
            <a:r>
              <a:t>**`price`, `stock` 컬럼의 실제 값도 한번 확인해보세요.** JSON 응답에서 본 숫자와, **DB 테이블 안의 숫자가 한 자리도 다르지 않고 똑같다는 것**을 직접 눈으로 대조해보시면, '응답이 곧 DB의 현재 상태를 그대로 보여준다'는 확신이 훨씬 단단해지실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[7교시]</a:t>
            </a:r>
          </a:p>
          <a:p/>
          <a:p>
            <a:r>
              <a:t>**칠교시를 정리하겠습니다.**</a:t>
            </a:r>
          </a:p>
          <a:p/>
          <a:p>
            <a:r>
              <a:t>**수정에서는 `save()` 없이도 반영되는 변경 감지 원리를 확인했고, 삭제와 검색까지 오늘 CRUD 다섯 가지를 전부 직접 호출해보셨습니다.**</a:t>
            </a:r>
          </a:p>
          <a:p/>
          <a:p>
            <a:r>
              <a:t>**한글 URL 인코딩이라는, 오늘 처음 마주친 진짜 함정도 하나 겪으셨습니다.**</a:t>
            </a:r>
          </a:p>
          <a:p/>
          <a:p>
            <a:r>
              <a:t>**뒤 시간 동안 하실 일입니다.**</a:t>
            </a:r>
          </a:p>
          <a:p/>
          <a:p>
            <a:r>
              <a:t>**첫째, 본인이 등록한 상품으로 수정→삭제까지 처음부터 끝까지 다시 해보세요.**</a:t>
            </a:r>
          </a:p>
          <a:p/>
          <a:p>
            <a:r>
              <a:t>**둘째, 검색어를 바꿔가며(`마우스`, `모니터` 등) 몇 번 더 호출해보고, 결과가 몇 건씩 나오는지 확인해보세요.**</a:t>
            </a:r>
          </a:p>
          <a:p/>
          <a:p>
            <a:r>
              <a:t>**팔교시에는 오늘 확인한 원리들을 정리하고, 내일(Dockerfile)을 예고합니다. 곧 뵙겠습니다.**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**팔교시 시작합니다. 오늘 하루를 관통했던 어노테이션 하나를 다시 짚고 시작하겠습니다.**</a:t>
            </a:r>
          </a:p>
          <a:p/>
          <a:p>
            <a:r>
              <a:t>**`ProductService` 클래스 맨 위에 `@Transactional(readOnly = true)`가 붙어 있던 것, 기억하시나요?** 이건 **'이 클래스의 메서드들은 기본적으로 조회 전용'**이라는 뜻입니다. 조회만 할 때는 변경 감지를 지켜볼 필요가 없어서, **`readOnly = true`를 붙이면 JPA가 더 가볍게 동작**합니다.</a:t>
            </a:r>
          </a:p>
          <a:p/>
          <a:p>
            <a:r>
              <a:t>**그런데 `create`, `update`, `delete` 메서드에는 각각 `@Transactional`이 따로 붙어 있죠.** 이게 클래스 전체의 `readOnly = true`를 **그 메서드에서만 덮어써서, '이 메서드는 데이터를 바꾼다'고 다시 선언**하는 겁니다. 이 덮어쓰기가 없었다면, 아까 본 변경 감지도 동작하지 않았을 거예요.</a:t>
            </a:r>
          </a:p>
          <a:p/>
          <a:p>
            <a:r>
              <a:t>**이 패턴(클래스 전체는 조회 전용, 데이터를 바꾸는 메서드만 따로 표시)은 `UserService`에서도 똑같이 쓰였습니다.** 오늘 다시 발견하신 이 패턴, **회원 서비스를 만드셨을 때 이미 한 번 익히셨던 겁니다.** 다른 이름의 클래스인데 어노테이션 배치 방식까지 똑같다는 것, 오늘 코드를 꼼꼼히 읽으신 분이라면 이미 눈치채셨을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 다룬 상품 API 전체를 하나의 그림으로 이어보겠습니다.**</a:t>
            </a:r>
          </a:p>
          <a:p/>
          <a:p>
            <a:r>
              <a:t>**등록은 검증을 통과한 뒤 `save()`로 새로 저장하고, 조회는 전체·검색·단건 세 가지 방식으로 갈립니다.**</a:t>
            </a:r>
          </a:p>
          <a:p/>
          <a:p>
            <a:r>
              <a:t>**수정은 `save()` 없이 변경 감지로 반영되고, 삭제는 `204`를 돌려준 뒤 그 이후 조회에서 `400`으로 존재하지 않음을 알려줍니다.**</a:t>
            </a:r>
          </a:p>
          <a:p/>
          <a:p>
            <a:r>
              <a:t>**이 네 가지 동작이, 사실상 '데이터를 다루는 API'가 갖춰야 할 전부입니다.** 오늘 상품에서 확인한 이 그림은, **다음에 어떤 새로운 도메인(주문, 리뷰, 무엇이든)을 만나셔도 똑같이 그려질 그림**입니다.</a:t>
            </a:r>
          </a:p>
          <a:p/>
          <a:p>
            <a:r>
              <a:t>**이 그림을 회원 도메인 그림과 겹쳐서 떠올려보세요.** 등록(회원가입·상품등록), 조회(회원조회·상품조회), 존재하지 않을 때의 에러 처리까지 — **뼈대가 같다는 것을, 이번엔 그림 두 개를 나란히 놓고 확인하시는 거예요.** 세션·비밀번호처럼 회원만의 특수한 것을 걷어내면, 남는 건 오늘 이 네 칸과 똑같습니다.</a:t>
            </a:r>
          </a:p>
          <a:p/>
          <a:p>
            <a:r>
              <a:t>**이 그림 하나를 기준으로, 앞으로 만나실 어떤 도메인이든 '이 네 칸 중 어디에 해당하는가'로 먼저 분류**해보세요. 새 기능이 낯설게 느껴질 때, 이 네 칸에 하나씩 대입해보면 생각보다 빨리 익숙해지실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 실습이 제대로 됐는지 표로 점검하겠습니다. 순서대로 하나씩, 등록부터 삭제까지 차례로 꼼꼼히 짚어드릴게요.**</a:t>
            </a:r>
          </a:p>
          <a:p/>
          <a:p>
            <a:r>
              <a:t>**네 가지 전부 확인해보세요. 하나라도 예상과 다르게 동작한다면, 가장 먼저 확인할 곳은 `ProductController`와 `ProductService`입니다.**</a:t>
            </a:r>
          </a:p>
          <a:p/>
          <a:p>
            <a:r>
              <a:t>**특히 검증 메시지가 다르게 나온다면 `ProductRequest.java`의 `@Min`, `@NotBlank` 문구를 다시 확인해보시고, `soldOut`이 안 바뀐다면 재고 값을 정확히 `0`으로 보냈는지(문자열 `"0"`이 아니라 숫자 `0`) 확인해보세요.**</a:t>
            </a:r>
          </a:p>
          <a:p/>
          <a:p>
            <a:r>
              <a:t>**전부 정상이면, 오늘 목표는 다 이루신 겁니다. 수고 많으셨습니다. 이어서 오늘 하루를 숫자와 원리로 정리해보겠습니다.**</a:t>
            </a:r>
          </a:p>
          <a:p/>
          <a:p>
            <a:r>
              <a:t>**특히 Body가 `raw`의 `JSON`으로 되어 있는지, 본문 JSON의 따옴표와 중괄호 짝이 맞는지부터 확인해보세요.** 요청 본문이 복잡해질수록 따옴표 하나, 쉼표 하나를 자주 빠뜨리는데, **이런 사소한 오타가 검증 실패보다 훨씬 흔한 원인**입니다.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 실습하면서 자주 나온 질문 네 가지를 정리했습니다.**</a:t>
            </a:r>
          </a:p>
          <a:p/>
          <a:p>
            <a:r>
              <a:t>**'`PATCH`는 왜 안 쓰나요?'** `PATCH`는 **일부 필드만 부분적으로 수정할 때 쓰는 메서드**입니다. 우리 프로젝트는 단순하게, **수정할 때 항상 전체 값을 다시 보내는 `PUT` 방식 하나만 씁니다.** 두 가지를 다 지원하려면 코드가 더 복잡해지니, 오늘 범위에서는 하나로 통일했습니다.</a:t>
            </a:r>
          </a:p>
          <a:p/>
          <a:p>
            <a:r>
              <a:t>**'가격에 소수점은요?'** `Integer` 타입이라 정수(원 단위)만 가능합니다. **환율처럼 소수점이 필요한 값이라면 `Double`이나 `BigDecimal` 같은 타입을 썼겠지만, 원화 가격은 보통 정수로 충분**합니다.</a:t>
            </a:r>
          </a:p>
          <a:p/>
          <a:p>
            <a:r>
              <a:t>**'검색과 조회를 왜 같은 API로 처리하나요?'** `keyword`가 있으면 검색, 없으면 전체 조회로 **하나의 메서드 안에서 갈리게 짜면, API 경로를 따로 만들 필요 없이 훨씬 단순해집니다.** 오늘 코드에서 실제로 본 그 방식이에요.</a:t>
            </a:r>
          </a:p>
          <a:p/>
          <a:p>
            <a:r>
              <a:t>**'삭제된 상품 정보는 나중에 복구할 수 없나요?'** 오늘 코드는 물리 삭제라서 **DB 행 자체가 사라지기 때문에 복구가 불가능**합니다. 칠교시에 짚었던 **'논리 삭제' 방식을 대신 썼더라면, `deleted` 컬럼만 다시 `false`로 되돌려서 복구할 수 있었을 것**입니다. 오늘 겪으신 이 질문 자체가, 왜 실무에서 논리 삭제를 종종 선택하는지 보여주는 좋은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 상품 API 하나만으로, REST API가 지키는 기본 규칙 다섯 가지를 사실상 전부 확인했습니다. 표로 정리하겠습니다.**</a:t>
            </a:r>
          </a:p>
          <a:p/>
          <a:p>
            <a:r>
              <a:t>**경로는 명사(`products`)로 짓고, 동작은 HTTP 메서드로 구분합니다.** `/api/getProducts` 같은 이름을 안 쓰는 이유가 여기 있어요 — **경로에 동사를 넣지 않는 게 관례**입니다.</a:t>
            </a:r>
          </a:p>
          <a:p/>
          <a:p>
            <a:r>
              <a:t>**단건을 다룰 때는 `/{id}`를 붙이고, 상태 코드로 성공·실패와 그 종류를 구분합니다.**</a:t>
            </a:r>
          </a:p>
          <a:p/>
          <a:p>
            <a:r>
              <a:t>**마지막으로 여러 개를 돌려줄 때는 배열, 하나를 돌려줄 때는 객체로 형태를 구분합니다.**</a:t>
            </a:r>
          </a:p>
          <a:p/>
          <a:p>
            <a:r>
              <a:t>**이 다섯 가지는 사실 상품 API만의 규칙이 아니라, 잘 설계된 REST API라면 어디서든 따르는 공통 관례**입니다. 오늘 코드를 읽으며 자연스럽게 이 관례를 몸에 익히셨을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 배운 내용 중, 면접에서 특히 자주 나오는 질문 하나를 짚고 넘어갈게요. 'JPA에서 `save()`를 안 불러도 수정이 반영되는 이유가 뭔가요?'**</a:t>
            </a:r>
          </a:p>
          <a:p/>
          <a:p>
            <a:r>
              <a:t>**오늘 직접 실험까지 해보셨으니, 자신 있게 답하실 수 있을 거예요. '변경 감지(dirty checking)라는 JPA의 기능 때문입니다. `@Transactional` 안에서 영속 상태의 엔티티 값을 바꾸면, 트랜잭션이 끝날 때 JPA가 자동으로 UPDATE 쿼리를 실행합니다.'**</a:t>
            </a:r>
          </a:p>
          <a:p/>
          <a:p>
            <a:r>
              <a:t>**'CRUD가 뭔가요?'라는 기초 질문도 자주 나옵니다.** Create(생성)·Read(조회)·Update(수정)·Delete(삭제)의 앞 글자를 딴 말이고, **오늘 상품 API 다섯 개(등록·전체조회·단건조회·수정·삭제)가 정확히 이 네 가지 동작에 대응**됩니다. 오늘 하루가 사실 CRUD 교과서를 실습으로 풀어본 셈이었어요.</a:t>
            </a:r>
          </a:p>
          <a:p/>
          <a:p>
            <a:r>
              <a:t>**이 두 질문에 공통점이 있습니다. 둘 다 '개념을 아는가'가 아니라 '경험이 있는가'를 확인하는 질문**이라는 거예요. 오늘처럼 직접 코드를 읽고 `curl`로 눌러보신 경험이 있으면, **책으로만 외운 답과는 확실히 다른 무게로 답하실 수 있습니다.**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 만든 API 위에 이미 눈에 보이는 화면이 있습니다.** `src/main/resources/static/index.html` — **빌드 단계 없는 순수 HTML·자바스크립트 한 장**입니다. 스프링 부트가 이 폴더 안 파일을 그대로 내보내기 때문에, 파일 하나 두는 것만으로 `localhost:8080`에서 열립니다.</a:t>
            </a:r>
          </a:p>
          <a:p/>
          <a:p>
            <a:r>
              <a:t>**코드를 보시면, `fetch(url)`로 오늘 만든 그 API를 그대로 호출합니다.** 그리고 한글 검색어는 `encodeURIComponent`가 알아서 퍼센트 인코딩해 주기 때문에, 아까 `curl`에서 겪은 함정이 화면에서는 생기지 않습니다. 서버 쪽 코드(`ProductController`, `ProductService`)는 이 화면을 위해 단 한 줄도 안 고쳤습니다 — **오늘 만든 API가 그대로, 화면이라는 새 소비자를 하나 더 얻은 것**뿐입니다.</a:t>
            </a:r>
          </a:p>
          <a:p/>
          <a:p>
            <a:r>
              <a:t>**오늘 배운 `soldOut` 필드가 여기서 바로 쓰입니다.** `p.stock === 0`이면 '품절' 배지를 붙이는 코드 한 줄이 전부예요 — **서버에서 이미 계산해둔 덕분에, 화면 코드가 이렇게 단순해집니다.**</a:t>
            </a:r>
          </a:p>
          <a:p/>
          <a:p>
            <a:r>
              <a:t>**서버와 화면이 같은 주소를 쓰기 때문에 CORS 설정도 필요 없고, 어제 배운 로그인 쿠키도 자동으로 같이 실려 갑니다.** 이 페이지엔 어제 만든 로그인·`/me`·로그아웃도 같은 화면 위에 이미 붙어 있습니다 — 회원 도메인과 상품 도메인이 한 화면에서 만나는 지점이라고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오늘 마지막으로, **수업에서 한 번도 짚지 않았지만 꼭 알아야 하는 것**을 하나 다룹니다. `localhost` 입니다.</a:t>
            </a:r>
          </a:p>
          <a:p/>
          <a:p>
            <a:r>
              <a:t>지금까지 `localhost` 를 그냥 **"내 컴퓨터"** 라고 생각하고 쓰셨을 겁니다. 그런데 우리 환경은 **컴퓨터가 안에 또 있는 구조**예요. 윈도우가 있고, 그 안에 우분투가 있고, 우분투 안에 컨테이너가 있습니다. 그래서 `localhost` 는 **"지금 이 말을 하는 곳 자기 자신"** 이라는 뜻입니다.</a:t>
            </a:r>
          </a:p>
          <a:p/>
          <a:p>
            <a:r>
              <a:t>표를 읽어 보겠습니다. **첫 줄, 윈도우 프로그램**이 `localhost` 라고 하면 윈도우 자기 자신입니다. **둘째 줄, 우분투 안**에서, 예를 들어 인텔리제이가 실행한 스프링 앱이 `localhost:3306` 이라고 하면 우분투 자기 자신이고, 거기에는 도커가 열어 준 문이 있어서 `shop-mysql` 로 들어갑니다.</a:t>
            </a:r>
          </a:p>
          <a:p/>
          <a:p>
            <a:r>
              <a:t>**셋째 줄이 내일의 주인공입니다.** 컨테이너 안에서 `localhost` 라고 하면 그 컨테이너 자기 자신이에요. 앱 컨테이너 안에는 데이터베이스가 없으니 아무것도 안 나옵니다. 그래서 내일은 컨테이너 이름 `mysql` 로 부르게 됩니다.</a:t>
            </a:r>
          </a:p>
          <a:p/>
          <a:p>
            <a:r>
              <a:t>⚠️ 그리고 첫 줄에 함정이 있습니다. **윈도우에 마이에스큐엘이 따로 설치되어 있으면**, 윈도우의 `localhost:3306` 은 도커가 아니라 그 마이에스큐엘로 갑니다. 제 컴퓨터에서 실제로 겪은 일이에요. 데이터그립이 접속이 안 돼서 원인을 찾아보니 그랬습니다.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데이터그립이 도커 안의 데이터베이스까지 가는 길을 그림으로 그렸습니다. 네 칸이에요.</a:t>
            </a:r>
          </a:p>
          <a:p/>
          <a:p>
            <a:r>
              <a:t>**첫 칸, 데이터그립.** 윈도우 프로그램입니다. 여기서 출발해요.</a:t>
            </a:r>
          </a:p>
          <a:p/>
          <a:p>
            <a:r>
              <a:t>**둘째 칸, 우분투의 주소.** 우분투는 윈도우 안에 있는 별도의 작은 컴퓨터라서, **자기만의 주소**가 있습니다. `172.21` 로 시작하는 숫자 주소예요. 우분투에서 `hostname -I`, 파워셸에서는 `wsl hostname -I` 라고 치면 알려 줍니다.</a:t>
            </a:r>
          </a:p>
          <a:p/>
          <a:p>
            <a:r>
              <a:t>**셋째 칸, 우분투의 3306번 문.** 아침에 `docker run` 을 칠 때 붙였던 **`-p 3306:3306`** 기억하시죠. 앞의 숫자가 **우분투 쪽 문 번호**, 뒤의 숫자가 **컨테이너 안쪽 번호**입니다. 이게 문을 이어 주는 일을 해요.</a:t>
            </a:r>
          </a:p>
          <a:p/>
          <a:p>
            <a:r>
              <a:t>**넷째 칸이 목적지**, 컨테이너 안의 마이에스큐엘입니다.</a:t>
            </a:r>
          </a:p>
          <a:p/>
          <a:p>
            <a:r>
              <a:t>⚠️ 주소에 관해 하나만 기억하세요. **이 우분투 주소는 더블유에스엘을 껐다 켜면 바뀝니다.** 어제 되던 데이터그립이 오늘 갑자기 안 붙는 가장 흔한 이유예요. 그때는 주소를 다시 확인해서 Host 칸을 고치면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DataGrip 의 Host 칸에 넣을 **우분투 주소는 사람마다 다릅니다.** 옆 사람 화면과 숫자가 달라도 정상이에요. 각자의 컴퓨터가 각자의 우분투에게 **다른 번호를 나눠 주기 때문**입니다. 그래서 남의 주소를 베끼면 안 되고, **내 주소를 직접 확인**해야 합니다.</a:t>
            </a:r>
          </a:p>
          <a:p/>
          <a:p>
            <a:r>
              <a:t>방법은 **두 가지**이고 결과는 같습니다. **첫째, 윈도우 파워셸**에서 `wsl hostname -I` 를 칩니다. 화면 맨 윗줄이에요. **둘째, 이미 우분투 안에 있다면**, 우분투 터미널이나 인텔리제이의 아래 터미널에서 `hostname -I` 를 칩니다. 화면 아랫줄이에요. `wsl` 을 앞에 붙이는지가 다를 뿐입니다.</a:t>
            </a:r>
          </a:p>
          <a:p/>
          <a:p>
            <a:r>
              <a:t>결과를 읽는 법입니다. 숫자 주소가 **두 개** 나옵니다. **첫 번째**, 화면에서는 `172.21.112.234` 가 **내 우분투의 주소**입니다. 두 번째 `172.17.0.1` 은 도커가 내부에서 쓰는 주소라 쓰지 않습니다. **앞에서부터 세 번째 자리까지는 비슷해도, 마지막 숫자는 컴퓨터마다 달라요.**</a:t>
            </a:r>
          </a:p>
          <a:p/>
          <a:p>
            <a:r>
              <a:t>찾은 첫 번째 주소를 DataGrip 의 **Host 칸**에 그대로 넣으세요. 숫자 앞뒤에 공백이 끼지 않게 조심하시고, 넣은 뒤에는 **Test Connection** 으로 초록 체크를 확인합니다.</a:t>
            </a:r>
          </a:p>
          <a:p/>
          <a:p>
            <a:r>
              <a:t>⚠️ 이 주소는 **더블유에스엘을 껐다 켜면 바뀝니다.** 어제 되던 DataGrip 이 오늘 안 붙으면, 이 두 줄을 다시 쳐서 **새 주소로 Host 를 고치는 것**이 첫 번째 확인입니다. 그리고 `localhost` 로 붙어서 되는 학생은 이 과정이 필요 없습니다 — 윈도우에 마이에스큐엘이 따로 없다는 뜻이에요.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데이터그립의 접속 설정에서 **Host 칸에 무엇을 넣는지**입니다. 나머지는 항상 같아요. 포트 3306, 사용자 root, 비밀번호 shop1234, 데이터베이스 shop.</a:t>
            </a:r>
          </a:p>
          <a:p/>
          <a:p>
            <a:r>
              <a:t>**대부분은 `localhost` 로 됩니다.** 윈도우에 마이에스큐엘이 따로 없다면 윈도우의 `localhost:3306` 도 도커의 문으로 이어지기 때문이에요.</a:t>
            </a:r>
          </a:p>
          <a:p/>
          <a:p>
            <a:r>
              <a:t>**그런데 접속이 안 되거나 `Access denied` 가 나면**, 우분투의 주소를 직접 넣습니다. 파워셸에서 **`wsl hostname -I`** 를 치면 주소가 두 개 나옵니다. **첫 번째**, 화면의 `172.21.112.234` 를 Host 에 넣으세요. 두 번째 `172.17.0.1` 은 도커 내부용이라 쓰지 않습니다.</a:t>
            </a:r>
          </a:p>
          <a:p/>
          <a:p>
            <a:r>
              <a:t>⚠️ 이 숫자는 **제 컴퓨터의 값**입니다. 여러분은 다른 숫자가 나옵니다. 그게 정상이에요.</a:t>
            </a:r>
          </a:p>
          <a:p/>
          <a:p>
            <a:r>
              <a:t>⚠️ 붙여 넣을 때 **숫자 뒤에 공백이 끼는 실수**가 자주 납니다. `172.21.112.234 :3306` 처럼요. 공백 하나 때문에 연결이 안 됩니다. 제 데이터그립 설정에서도 그랬어요.</a:t>
            </a:r>
          </a:p>
          <a:p/>
          <a:p>
            <a:r>
              <a:t>🖊️ 접속이 되는지는 `Test Connection` 을 눌러서 봅니다. 초록색 체크가 나오면 성공입니다.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데이터그립이 안 붙을 때의 확인 순서입니다. **네 가지를 앞에서부터** 봅니다.</a:t>
            </a:r>
          </a:p>
          <a:p/>
          <a:p>
            <a:r>
              <a:t>**첫째, 데이터베이스가 떠 있는지.** 우분투에서 `docker ps` 를 쳐서 `shop-mysql` 이 `Up` 인지 봅니다. 아침 준비 단계에서 배운 그 확인입니다. 우분투가 꺼졌다 켜졌다면 여기서 걸려요.</a:t>
            </a:r>
          </a:p>
          <a:p/>
          <a:p>
            <a:r>
              <a:t>**둘째, Host 가 맞는지.** `wsl hostname -I` 의 첫 주소와 데이터그립의 Host 를 비교합니다. 더블유에스엘을 재시작했다면 주소가 바뀌었을 수 있어요.</a:t>
            </a:r>
          </a:p>
          <a:p/>
          <a:p>
            <a:r>
              <a:t>**셋째, 윈도우가 3306번을 잡고 있는지.** 파워셸에서 긴 명령을 치는데, 뜻은 단순합니다. "윈도우의 3306번 문을 누가 쓰고 있나?" 결과가 아무것도 안 나오면 아무도 안 쓰는 것이라 정상입니다. 뭔가 나오면 `localhost` 대신 우분투 주소를 쓰세요.</a:t>
            </a:r>
          </a:p>
          <a:p/>
          <a:p>
            <a:r>
              <a:t>**넷째, 계정과 비밀번호.** 여기까지 다 맞는데도 `Access denied` 가 나오면 비밀번호를 다시 확인합니다.</a:t>
            </a:r>
          </a:p>
          <a:p/>
          <a:p>
            <a:r>
              <a:t>⚠️ 어느 단계에서 막혔는지 알면 원인의 절반은 잡힌 겁니다. 그래도 안 되면 15분 원칙대로 스스로 정리한 뒤에 손을 들어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[8교시]</a:t>
            </a:r>
          </a:p>
          <a:p/>
          <a:p>
            <a:r>
              <a:t>**오늘을 정리하겠습니다.**</a:t>
            </a:r>
          </a:p>
          <a:p/>
          <a:p>
            <a:r>
              <a:t>**오교시, 상품 관련 파일 여섯 개를 전부 읽고 회원 도메인과 구조가 같다는 걸 확인했습니다.**</a:t>
            </a:r>
          </a:p>
          <a:p/>
          <a:p>
            <a:r>
              <a:t>**육교시, 등록과 조회를 직접 호출했고, 검증도 어제 배운 원리가 그대로 통한다는 걸 봤습니다.**</a:t>
            </a:r>
          </a:p>
          <a:p/>
          <a:p>
            <a:r>
              <a:t>**칠교시, 수정에서 변경 감지를, 삭제에서 상태 코드를, 검색에서 URL 인코딩 함정을 확인했습니다.**</a:t>
            </a:r>
          </a:p>
          <a:p/>
          <a:p>
            <a:r>
              <a:t>**팔교시, `@Transactional`의 두 가지 쓰임을 정리하고, 오늘 만든 API가 이미 `static/index.html` 화면에서 쓰이고 있다는 것도 확인했습니다.**</a:t>
            </a:r>
          </a:p>
          <a:p/>
          <a:p>
            <a:r>
              <a:t>**오늘 하루를 돌아보면, 코드를 새로 짠 줄은 거의 없었습니다.** 대신 **이미 있는 코드를 읽고, 실행하고, '왜 이렇게 동작하는가'를 확인하는 데 하루를 썼습니다.** 이것도 개발자의 일 중 아주 큰 비중을 차지하는 작업입니다.</a:t>
            </a:r>
          </a:p>
          <a:p/>
          <a:p>
            <a:r>
              <a:t>**내일 예고입니다.** 지금까지는 앱을 인텔리제이로 띄웠는데, 내일(D11)은 이 앱을 `Dockerfile` 로 상자에 담고, 앱과 데이터베이스 컨테이너 두 개를 **도커 컴포즈**로 한 번에 띄웁니다. 처음 보는 도구라서 **그림 슬라이드로 개념부터** 보고 시작합니다. 오늘 덤으로 배운 `localhost` 가 그때 가장 중요한 열쇠예요.</a:t>
            </a:r>
          </a:p>
          <a:p/>
          <a:p>
            <a:r>
              <a:t>⚠️ **오늘 배운 변경 감지, 앞으로 데이터를 수정하는 곳마다 계속 등장합니다. 오늘 이해가 흐릿하셨다면, `ProductService.update()` 메서드를 한 번 더 천천히 읽어보시는 걸 추천드립니다.**</a:t>
            </a:r>
          </a:p>
          <a:p/>
          <a:p>
            <a:r>
              <a:t>**오늘 하루도 고생 많으셨습니다. 내일 뵙겠습니다.**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D10 — 상품①: 이미 있는 CRUD를 읽습니다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🔔 5교시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2026-09-30 · 오후 4교시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48255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오늘은 만들지 않고, 먼저 읽고 실행합니다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하루 지도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읽는다 → 등록·조회한다 → 수정·삭제·검색한다 → 원리를 정리한다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코드 구조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읽기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등록·조회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직접 호출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수정·삭제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 확인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원리 정리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내일 예고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준비 — 작업대를 켜는 순서 (WSL → Docker → DB → IntelliJ → 앱)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🔔 준비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코드를 읽기 전에, 오늘 쓸 작업대를 순서대로 켭니다. 앞 단계가 되어야 다음 단계가 됩니다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194560"/>
            <a:ext cx="822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</a:p>
        </p:txBody>
      </p:sp>
      <p:sp>
        <p:nvSpPr>
          <p:cNvPr id="11" name="Cell"/>
          <p:cNvSpPr/>
          <p:nvPr/>
        </p:nvSpPr>
        <p:spPr>
          <a:xfrm>
            <a:off x="1417320" y="2194560"/>
            <a:ext cx="24688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할 일</a:t>
            </a:r>
          </a:p>
        </p:txBody>
      </p:sp>
      <p:sp>
        <p:nvSpPr>
          <p:cNvPr id="12" name="Cell"/>
          <p:cNvSpPr/>
          <p:nvPr/>
        </p:nvSpPr>
        <p:spPr>
          <a:xfrm>
            <a:off x="3886200" y="2194560"/>
            <a:ext cx="44805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어디서 · 무엇을</a:t>
            </a:r>
          </a:p>
        </p:txBody>
      </p:sp>
      <p:sp>
        <p:nvSpPr>
          <p:cNvPr id="13" name="Cell"/>
          <p:cNvSpPr/>
          <p:nvPr/>
        </p:nvSpPr>
        <p:spPr>
          <a:xfrm>
            <a:off x="8366760" y="2194560"/>
            <a:ext cx="3200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성공하면 보이는 것</a:t>
            </a:r>
          </a:p>
        </p:txBody>
      </p:sp>
      <p:sp>
        <p:nvSpPr>
          <p:cNvPr id="14" name="Cell"/>
          <p:cNvSpPr/>
          <p:nvPr/>
        </p:nvSpPr>
        <p:spPr>
          <a:xfrm>
            <a:off x="594360" y="2670048"/>
            <a:ext cx="822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15" name="Cell"/>
          <p:cNvSpPr/>
          <p:nvPr/>
        </p:nvSpPr>
        <p:spPr>
          <a:xfrm>
            <a:off x="1417320" y="2670048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WSL 켜기</a:t>
            </a:r>
          </a:p>
        </p:txBody>
      </p:sp>
      <p:sp>
        <p:nvSpPr>
          <p:cNvPr id="16" name="Cell"/>
          <p:cNvSpPr/>
          <p:nvPr/>
        </p:nvSpPr>
        <p:spPr>
          <a:xfrm>
            <a:off x="3886200" y="2670048"/>
            <a:ext cx="44805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PowerShell 에서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wsl</a:t>
            </a:r>
          </a:p>
        </p:txBody>
      </p:sp>
      <p:sp>
        <p:nvSpPr>
          <p:cNvPr id="17" name="Cell"/>
          <p:cNvSpPr/>
          <p:nvPr/>
        </p:nvSpPr>
        <p:spPr>
          <a:xfrm>
            <a:off x="8366760" y="267004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이름@컴퓨터:~$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프롬프트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145536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9" name="Cell"/>
          <p:cNvSpPr/>
          <p:nvPr/>
        </p:nvSpPr>
        <p:spPr>
          <a:xfrm>
            <a:off x="1417320" y="3145536"/>
            <a:ext cx="2468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확인</a:t>
            </a:r>
          </a:p>
        </p:txBody>
      </p:sp>
      <p:sp>
        <p:nvSpPr>
          <p:cNvPr id="20" name="Cell"/>
          <p:cNvSpPr/>
          <p:nvPr/>
        </p:nvSpPr>
        <p:spPr>
          <a:xfrm>
            <a:off x="3886200" y="3145536"/>
            <a:ext cx="44805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Ubuntu 에서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</a:p>
        </p:txBody>
      </p:sp>
      <p:sp>
        <p:nvSpPr>
          <p:cNvPr id="21" name="Cell"/>
          <p:cNvSpPr/>
          <p:nvPr/>
        </p:nvSpPr>
        <p:spPr>
          <a:xfrm>
            <a:off x="8366760" y="3145536"/>
            <a:ext cx="3200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머리글 한 줄 (오류 없음)</a:t>
            </a:r>
          </a:p>
        </p:txBody>
      </p:sp>
      <p:sp>
        <p:nvSpPr>
          <p:cNvPr id="22" name="Cell"/>
          <p:cNvSpPr/>
          <p:nvPr/>
        </p:nvSpPr>
        <p:spPr>
          <a:xfrm>
            <a:off x="594360" y="3621024"/>
            <a:ext cx="822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23" name="Cell"/>
          <p:cNvSpPr/>
          <p:nvPr/>
        </p:nvSpPr>
        <p:spPr>
          <a:xfrm>
            <a:off x="1417320" y="3621024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 켜기</a:t>
            </a:r>
          </a:p>
        </p:txBody>
      </p:sp>
      <p:sp>
        <p:nvSpPr>
          <p:cNvPr id="24" name="Cell"/>
          <p:cNvSpPr/>
          <p:nvPr/>
        </p:nvSpPr>
        <p:spPr>
          <a:xfrm>
            <a:off x="3886200" y="3621024"/>
            <a:ext cx="44805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Ubuntu 에서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start shop-mysql</a:t>
            </a:r>
          </a:p>
        </p:txBody>
      </p:sp>
      <p:sp>
        <p:nvSpPr>
          <p:cNvPr id="25" name="Cell"/>
          <p:cNvSpPr/>
          <p:nvPr/>
        </p:nvSpPr>
        <p:spPr>
          <a:xfrm>
            <a:off x="8366760" y="3621024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에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Up</a:t>
            </a:r>
          </a:p>
        </p:txBody>
      </p:sp>
      <p:sp>
        <p:nvSpPr>
          <p:cNvPr id="26" name="Cell"/>
          <p:cNvSpPr/>
          <p:nvPr/>
        </p:nvSpPr>
        <p:spPr>
          <a:xfrm>
            <a:off x="594360" y="4096512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</a:p>
        </p:txBody>
      </p:sp>
      <p:sp>
        <p:nvSpPr>
          <p:cNvPr id="27" name="Cell"/>
          <p:cNvSpPr/>
          <p:nvPr/>
        </p:nvSpPr>
        <p:spPr>
          <a:xfrm>
            <a:off x="1417320" y="4096512"/>
            <a:ext cx="2468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IntelliJ 열기</a:t>
            </a:r>
          </a:p>
        </p:txBody>
      </p:sp>
      <p:sp>
        <p:nvSpPr>
          <p:cNvPr id="28" name="Cell"/>
          <p:cNvSpPr/>
          <p:nvPr/>
        </p:nvSpPr>
        <p:spPr>
          <a:xfrm>
            <a:off x="3886200" y="4096512"/>
            <a:ext cx="44805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프로젝트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shop-project-5th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(WSL 경로)</a:t>
            </a:r>
          </a:p>
        </p:txBody>
      </p:sp>
      <p:sp>
        <p:nvSpPr>
          <p:cNvPr id="29" name="Cell"/>
          <p:cNvSpPr/>
          <p:nvPr/>
        </p:nvSpPr>
        <p:spPr>
          <a:xfrm>
            <a:off x="8366760" y="4096512"/>
            <a:ext cx="3200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아래 터미널이 Ubuntu</a:t>
            </a:r>
          </a:p>
        </p:txBody>
      </p:sp>
      <p:sp>
        <p:nvSpPr>
          <p:cNvPr id="30" name="Cell"/>
          <p:cNvSpPr/>
          <p:nvPr/>
        </p:nvSpPr>
        <p:spPr>
          <a:xfrm>
            <a:off x="594360" y="4572000"/>
            <a:ext cx="822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⑤</a:t>
            </a:r>
          </a:p>
        </p:txBody>
      </p:sp>
      <p:sp>
        <p:nvSpPr>
          <p:cNvPr id="31" name="Cell"/>
          <p:cNvSpPr/>
          <p:nvPr/>
        </p:nvSpPr>
        <p:spPr>
          <a:xfrm>
            <a:off x="1417320" y="4572000"/>
            <a:ext cx="24688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 실행</a:t>
            </a:r>
          </a:p>
        </p:txBody>
      </p:sp>
      <p:sp>
        <p:nvSpPr>
          <p:cNvPr id="32" name="Cell"/>
          <p:cNvSpPr/>
          <p:nvPr/>
        </p:nvSpPr>
        <p:spPr>
          <a:xfrm>
            <a:off x="3886200" y="4572000"/>
            <a:ext cx="44805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▶ (ShopApplication) 또는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./gradlew bootRun</a:t>
            </a:r>
          </a:p>
        </p:txBody>
      </p:sp>
      <p:sp>
        <p:nvSpPr>
          <p:cNvPr id="33" name="Cell"/>
          <p:cNvSpPr/>
          <p:nvPr/>
        </p:nvSpPr>
        <p:spPr>
          <a:xfrm>
            <a:off x="8366760" y="4572000"/>
            <a:ext cx="32004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Started ShopApplication</a:t>
            </a:r>
          </a:p>
        </p:txBody>
      </p:sp>
      <p:sp>
        <p:nvSpPr>
          <p:cNvPr id="34" name="Cell"/>
          <p:cNvSpPr/>
          <p:nvPr/>
        </p:nvSpPr>
        <p:spPr>
          <a:xfrm>
            <a:off x="594360" y="5213096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⑥</a:t>
            </a:r>
          </a:p>
        </p:txBody>
      </p:sp>
      <p:sp>
        <p:nvSpPr>
          <p:cNvPr id="35" name="Cell"/>
          <p:cNvSpPr/>
          <p:nvPr/>
        </p:nvSpPr>
        <p:spPr>
          <a:xfrm>
            <a:off x="1417320" y="5213096"/>
            <a:ext cx="2468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브라우저 확인</a:t>
            </a:r>
          </a:p>
        </p:txBody>
      </p:sp>
      <p:sp>
        <p:nvSpPr>
          <p:cNvPr id="36" name="Cell"/>
          <p:cNvSpPr/>
          <p:nvPr/>
        </p:nvSpPr>
        <p:spPr>
          <a:xfrm>
            <a:off x="3886200" y="5213096"/>
            <a:ext cx="44805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localhost:8080/api/products</a:t>
            </a:r>
          </a:p>
        </p:txBody>
      </p:sp>
      <p:sp>
        <p:nvSpPr>
          <p:cNvPr id="37" name="Cell"/>
          <p:cNvSpPr/>
          <p:nvPr/>
        </p:nvSpPr>
        <p:spPr>
          <a:xfrm>
            <a:off x="8366760" y="5213096"/>
            <a:ext cx="3200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목록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WSL 켜기 — PowerShell 에서 wsl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윈도우 PowerShell 에 wsl 을 치면 프롬프트가 우분투로 바뀝니다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시작 → Windows PowerShell → wsl   (또는 시작 → Ubuntu)</a:t>
            </a:r>
          </a:p>
        </p:txBody>
      </p:sp>
      <p:pic>
        <p:nvPicPr>
          <p:cNvPr id="10" name="Picture 9" descr="a2_ubuntu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660904"/>
            <a:ext cx="11247120" cy="3213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Docker 확인 — 엔진이 떠 있는지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우분투에서 세 줄을 칩니다. 오류 없이 화면과 모양이 같으면 성공입니다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docker --version  /  systemctl is-active docker  /  docker ps</a:t>
            </a:r>
          </a:p>
        </p:txBody>
      </p:sp>
      <p:pic>
        <p:nvPicPr>
          <p:cNvPr id="10" name="Picture 9" descr="b1_docker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660904"/>
            <a:ext cx="11247120" cy="24498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DB 켜기 (1) — 꺼져 있을 때는 이렇게 보입니다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ps 가 비어 있고, docker ps -a 에는 Exited 로 남아 있습니다. 사라진 게 아니라 멈춘 것입니다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docker ps  /  docker ps -a --filter name=shop-mysql</a:t>
            </a:r>
          </a:p>
        </p:txBody>
      </p:sp>
      <p:pic>
        <p:nvPicPr>
          <p:cNvPr id="10" name="Picture 9" descr="b6_after_re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880360"/>
            <a:ext cx="11247120" cy="1717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DB 켜기 (2) — docker start shop-mysql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멈춘 컨테이너는 새로 만들지 않고 start 로 다시 켭니다. STATUS 가 Up 이면 성공입니다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docker start shop-mysql → docker ps</a:t>
            </a:r>
          </a:p>
        </p:txBody>
      </p:sp>
      <p:pic>
        <p:nvPicPr>
          <p:cNvPr id="10" name="Picture 9" descr="b4_mysql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660904"/>
            <a:ext cx="11247120" cy="118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(1) — 탐색기로 프로젝트 주소 복사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 프로젝트가 열려 있는 분은 건너뛰고 바로 '열린 모습' 확인으로 갑니다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cd ~/shop-project-5th → explorer.exe .</a:t>
            </a:r>
          </a:p>
        </p:txBody>
      </p:sp>
      <p:pic>
        <p:nvPicPr>
          <p:cNvPr id="10" name="Picture 9" descr="c1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463" y="2660904"/>
            <a:ext cx="5642769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(2) — 시작 화면에서 Open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처음 실행하면 이 화면입니다. 가운데 Open 을 누릅니다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IntelliJ 실행 → Welcome 화면 → Open</a:t>
            </a:r>
          </a:p>
        </p:txBody>
      </p:sp>
      <p:pic>
        <p:nvPicPr>
          <p:cNvPr id="10" name="Picture 9" descr="f6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94" y="2660904"/>
            <a:ext cx="6290706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(3) — 이미 열려 있으면 File → Open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다른 프로젝트가 열려 있을 때는 위쪽 메뉴에서 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IntelliJ → File → Open...</a:t>
            </a:r>
          </a:p>
        </p:txBody>
      </p:sp>
      <p:pic>
        <p:nvPicPr>
          <p:cNvPr id="10" name="Picture 9" descr="c4_file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144" y="2660904"/>
            <a:ext cx="4107406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(4) — 파일 이름 칸에 주소 붙여넣기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Windows 기본 폴더 선택 창입니다. 아래 '파일 이름' 칸에 복사한 주소를 넣고 엔터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Open File or Project → 파일 이름(N): 칸</a:t>
            </a:r>
          </a:p>
        </p:txBody>
      </p:sp>
      <p:pic>
        <p:nvPicPr>
          <p:cNvPr id="10" name="Picture 9" descr="f1_open_dialog_ty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660904"/>
            <a:ext cx="8229600" cy="1316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(5) — 그 폴더 안으로 들어가면 Select Folder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프로젝트 파일 목록(.git, src, build.gradle …)이 보이면 제대로 찾아온 것입니다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주소 입력 → Enter → Select Folder</a:t>
            </a:r>
          </a:p>
        </p:txBody>
      </p:sp>
      <p:pic>
        <p:nvPicPr>
          <p:cNvPr id="10" name="Picture 9" descr="f2_open_dialog_navig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49" y="2660904"/>
            <a:ext cx="6298795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(6) — Trust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우리 저장소이니 Trust Project 를 누릅니다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Select Folder → Trust and Open Project? → Trust Project</a:t>
            </a:r>
          </a:p>
        </p:txBody>
      </p:sp>
      <p:pic>
        <p:nvPicPr>
          <p:cNvPr id="10" name="Picture 9" descr="f3_trust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660904"/>
            <a:ext cx="7315200" cy="2094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처음 여는 분 (7) — Gradle 이 끝날 때까지 기다립니다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아래 Build 창과 오른쪽 아래 진행 막대가 사라지면 준비가 끝난 것입니다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프로젝트가 열린 직후 → 아래 Build 탭 (Sync)</a:t>
            </a:r>
          </a:p>
        </p:txBody>
      </p:sp>
      <p:pic>
        <p:nvPicPr>
          <p:cNvPr id="10" name="Picture 9" descr="f4_gradle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2660904"/>
            <a:ext cx="7772400" cy="2965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 IntelliJ 열기 — 열린 모습을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왼쪽 경로가 wsl 로 시작하고, 아래 터미널 프롬프트가 우분투이면 성공입니다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IntelliJ 실행 → 마지막 프로젝트 shop-project-5th 가 열림</a:t>
            </a:r>
          </a:p>
        </p:txBody>
      </p:sp>
      <p:pic>
        <p:nvPicPr>
          <p:cNvPr id="10" name="Picture 9" descr="c2_idea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660904"/>
            <a:ext cx="11247120" cy="22198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⑤ 앱 실행 — 초록 삼각형(▶) 또는 ./gradlew bootRun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Run 창 마지막에 Started ShopApplication 이 보이면 앱이 떴습니다. 둘 중 하나만 실행합니다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ShopApplication 옆 초록 삼각형(▶) → 아래 Run 창   (터미널이면 ./gradlew bootRun)</a:t>
            </a:r>
          </a:p>
        </p:txBody>
      </p:sp>
      <p:pic>
        <p:nvPicPr>
          <p:cNvPr id="10" name="Picture 9" descr="f5_run_sta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660904"/>
            <a:ext cx="8229600" cy="9034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⑥ 브라우저로 확인 (1) — localhost:8080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윈도우 크롬에서 리눅스 안의 앱에 접속됩니다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크롬 → 주소창에 localhost:8080</a:t>
            </a:r>
          </a:p>
        </p:txBody>
      </p:sp>
      <p:pic>
        <p:nvPicPr>
          <p:cNvPr id="10" name="Picture 9" descr="d3_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205" y="2660904"/>
            <a:ext cx="4833284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⑥ 브라우저로 확인 (2) — /api/products 가 오늘의 출발점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하루 종일 다룰 상품 API 입니다. 씨앗 데이터 다섯 개가 보이면 준비가 끝났습니다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크롬 → localhost:8080/api/products</a:t>
            </a:r>
          </a:p>
        </p:txBody>
      </p:sp>
      <p:pic>
        <p:nvPicPr>
          <p:cNvPr id="10" name="Picture 9" descr="d4_browser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660904"/>
            <a:ext cx="10058400" cy="14023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⚠️ 안 될 때 — 켜는 순서 즉답표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7490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준비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막힌 단계를 찾으면 절반은 해결입니다. 앞에서부터 성공 표시를 확인합니다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16459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막힌 곳</a:t>
            </a:r>
          </a:p>
        </p:txBody>
      </p:sp>
      <p:sp>
        <p:nvSpPr>
          <p:cNvPr id="10" name="Cell"/>
          <p:cNvSpPr/>
          <p:nvPr/>
        </p:nvSpPr>
        <p:spPr>
          <a:xfrm>
            <a:off x="2240280" y="2093976"/>
            <a:ext cx="32918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1" name="Cell"/>
          <p:cNvSpPr/>
          <p:nvPr/>
        </p:nvSpPr>
        <p:spPr>
          <a:xfrm>
            <a:off x="5532120" y="2093976"/>
            <a:ext cx="24688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원인</a:t>
            </a:r>
          </a:p>
        </p:txBody>
      </p:sp>
      <p:sp>
        <p:nvSpPr>
          <p:cNvPr id="12" name="Cell"/>
          <p:cNvSpPr/>
          <p:nvPr/>
        </p:nvSpPr>
        <p:spPr>
          <a:xfrm>
            <a:off x="8001000" y="2093976"/>
            <a:ext cx="35661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해결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2569464"/>
            <a:ext cx="164592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WSL</a:t>
            </a:r>
          </a:p>
        </p:txBody>
      </p:sp>
      <p:sp>
        <p:nvSpPr>
          <p:cNvPr id="14" name="Cell"/>
          <p:cNvSpPr/>
          <p:nvPr/>
        </p:nvSpPr>
        <p:spPr>
          <a:xfrm>
            <a:off x="2240280" y="2569464"/>
            <a:ext cx="329184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wsl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이 인식되지 않는다 / 창이 바로 닫힌다</a:t>
            </a:r>
          </a:p>
        </p:txBody>
      </p:sp>
      <p:sp>
        <p:nvSpPr>
          <p:cNvPr id="15" name="Cell"/>
          <p:cNvSpPr/>
          <p:nvPr/>
        </p:nvSpPr>
        <p:spPr>
          <a:xfrm>
            <a:off x="5532120" y="2569464"/>
            <a:ext cx="246888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WSL 미설치·가상화 꺼짐</a:t>
            </a:r>
          </a:p>
        </p:txBody>
      </p:sp>
      <p:sp>
        <p:nvSpPr>
          <p:cNvPr id="16" name="Cell"/>
          <p:cNvSpPr/>
          <p:nvPr/>
        </p:nvSpPr>
        <p:spPr>
          <a:xfrm>
            <a:off x="8001000" y="2569464"/>
            <a:ext cx="356616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손 들기 (환경 재현 자료 5교시)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176524"/>
            <a:ext cx="164592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Docker</a:t>
            </a:r>
          </a:p>
        </p:txBody>
      </p:sp>
      <p:sp>
        <p:nvSpPr>
          <p:cNvPr id="18" name="Cell"/>
          <p:cNvSpPr/>
          <p:nvPr/>
        </p:nvSpPr>
        <p:spPr>
          <a:xfrm>
            <a:off x="2240280" y="3176524"/>
            <a:ext cx="329184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inactive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Cannot connect to the Docker daemon</a:t>
            </a:r>
          </a:p>
        </p:txBody>
      </p:sp>
      <p:sp>
        <p:nvSpPr>
          <p:cNvPr id="19" name="Cell"/>
          <p:cNvSpPr/>
          <p:nvPr/>
        </p:nvSpPr>
        <p:spPr>
          <a:xfrm>
            <a:off x="5532120" y="3176524"/>
            <a:ext cx="246888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엔진이 꺼져 있다</a:t>
            </a:r>
          </a:p>
        </p:txBody>
      </p:sp>
      <p:sp>
        <p:nvSpPr>
          <p:cNvPr id="20" name="Cell"/>
          <p:cNvSpPr/>
          <p:nvPr/>
        </p:nvSpPr>
        <p:spPr>
          <a:xfrm>
            <a:off x="8001000" y="3176524"/>
            <a:ext cx="356616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sudo systemctl start docker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378358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DB</a:t>
            </a:r>
          </a:p>
        </p:txBody>
      </p:sp>
      <p:sp>
        <p:nvSpPr>
          <p:cNvPr id="22" name="Cell"/>
          <p:cNvSpPr/>
          <p:nvPr/>
        </p:nvSpPr>
        <p:spPr>
          <a:xfrm>
            <a:off x="2240280" y="3783584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가 비어 있다</a:t>
            </a:r>
          </a:p>
        </p:txBody>
      </p:sp>
      <p:sp>
        <p:nvSpPr>
          <p:cNvPr id="23" name="Cell"/>
          <p:cNvSpPr/>
          <p:nvPr/>
        </p:nvSpPr>
        <p:spPr>
          <a:xfrm>
            <a:off x="5532120" y="3783584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우분투가 꺼져서 멈췄다</a:t>
            </a:r>
          </a:p>
        </p:txBody>
      </p:sp>
      <p:sp>
        <p:nvSpPr>
          <p:cNvPr id="24" name="Cell"/>
          <p:cNvSpPr/>
          <p:nvPr/>
        </p:nvSpPr>
        <p:spPr>
          <a:xfrm>
            <a:off x="8001000" y="3783584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start shop-mysql</a:t>
            </a:r>
          </a:p>
        </p:txBody>
      </p:sp>
      <p:sp>
        <p:nvSpPr>
          <p:cNvPr id="25" name="Cell"/>
          <p:cNvSpPr/>
          <p:nvPr/>
        </p:nvSpPr>
        <p:spPr>
          <a:xfrm>
            <a:off x="594360" y="4259072"/>
            <a:ext cx="16459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DB</a:t>
            </a:r>
          </a:p>
        </p:txBody>
      </p:sp>
      <p:sp>
        <p:nvSpPr>
          <p:cNvPr id="26" name="Cell"/>
          <p:cNvSpPr/>
          <p:nvPr/>
        </p:nvSpPr>
        <p:spPr>
          <a:xfrm>
            <a:off x="2240280" y="4259072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port is already allocated</a:t>
            </a:r>
          </a:p>
        </p:txBody>
      </p:sp>
      <p:sp>
        <p:nvSpPr>
          <p:cNvPr id="27" name="Cell"/>
          <p:cNvSpPr/>
          <p:nvPr/>
        </p:nvSpPr>
        <p:spPr>
          <a:xfrm>
            <a:off x="5532120" y="4259072"/>
            <a:ext cx="2468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3306 을 다른 것이 쓴다</a:t>
            </a:r>
          </a:p>
        </p:txBody>
      </p:sp>
      <p:sp>
        <p:nvSpPr>
          <p:cNvPr id="28" name="Cell"/>
          <p:cNvSpPr/>
          <p:nvPr/>
        </p:nvSpPr>
        <p:spPr>
          <a:xfrm>
            <a:off x="8001000" y="4259072"/>
            <a:ext cx="35661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로 확인 후 그것을 stop</a:t>
            </a:r>
          </a:p>
        </p:txBody>
      </p:sp>
      <p:sp>
        <p:nvSpPr>
          <p:cNvPr id="29" name="Cell"/>
          <p:cNvSpPr/>
          <p:nvPr/>
        </p:nvSpPr>
        <p:spPr>
          <a:xfrm>
            <a:off x="594360" y="4734559"/>
            <a:ext cx="164592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⑤ 앱</a:t>
            </a:r>
          </a:p>
        </p:txBody>
      </p:sp>
      <p:sp>
        <p:nvSpPr>
          <p:cNvPr id="30" name="Cell"/>
          <p:cNvSpPr/>
          <p:nvPr/>
        </p:nvSpPr>
        <p:spPr>
          <a:xfrm>
            <a:off x="2240280" y="4734559"/>
            <a:ext cx="329184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Communications link failure</a:t>
            </a:r>
          </a:p>
        </p:txBody>
      </p:sp>
      <p:sp>
        <p:nvSpPr>
          <p:cNvPr id="31" name="Cell"/>
          <p:cNvSpPr/>
          <p:nvPr/>
        </p:nvSpPr>
        <p:spPr>
          <a:xfrm>
            <a:off x="5532120" y="4734559"/>
            <a:ext cx="246888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 가 안 떠 있다 / 아직 준비 중</a:t>
            </a:r>
          </a:p>
        </p:txBody>
      </p:sp>
      <p:sp>
        <p:nvSpPr>
          <p:cNvPr id="32" name="Cell"/>
          <p:cNvSpPr/>
          <p:nvPr/>
        </p:nvSpPr>
        <p:spPr>
          <a:xfrm>
            <a:off x="8001000" y="4734559"/>
            <a:ext cx="356616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 </a:t>
            </a:r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Up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확인, 20~30초 뒤 다시</a:t>
            </a:r>
          </a:p>
        </p:txBody>
      </p:sp>
      <p:sp>
        <p:nvSpPr>
          <p:cNvPr id="33" name="Cell"/>
          <p:cNvSpPr/>
          <p:nvPr/>
        </p:nvSpPr>
        <p:spPr>
          <a:xfrm>
            <a:off x="594360" y="5341619"/>
            <a:ext cx="16459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⑤ 앱</a:t>
            </a:r>
          </a:p>
        </p:txBody>
      </p:sp>
      <p:sp>
        <p:nvSpPr>
          <p:cNvPr id="34" name="Cell"/>
          <p:cNvSpPr/>
          <p:nvPr/>
        </p:nvSpPr>
        <p:spPr>
          <a:xfrm>
            <a:off x="2240280" y="5341619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Port 8080 was already in use</a:t>
            </a:r>
          </a:p>
        </p:txBody>
      </p:sp>
      <p:sp>
        <p:nvSpPr>
          <p:cNvPr id="35" name="Cell"/>
          <p:cNvSpPr/>
          <p:nvPr/>
        </p:nvSpPr>
        <p:spPr>
          <a:xfrm>
            <a:off x="5532120" y="5341619"/>
            <a:ext cx="2468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앱이 이미 떠 있다</a:t>
            </a:r>
          </a:p>
        </p:txBody>
      </p:sp>
      <p:sp>
        <p:nvSpPr>
          <p:cNvPr id="36" name="Cell"/>
          <p:cNvSpPr/>
          <p:nvPr/>
        </p:nvSpPr>
        <p:spPr>
          <a:xfrm>
            <a:off x="8001000" y="5341619"/>
            <a:ext cx="35661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빨간 네모로 끄고 다시 실행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Product.java ① — 엔티티의 필드와 컬럼 조건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User.java와 나란히 놓고 비교하면서 보시면 더 빠르게 이해됩니다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src/main/java/com/dwacademy/shop/entity/Product.java (7~28행)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337921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@Entity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@Table(name = "products")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class Product {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@Id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@GeneratedValue(strategy = GenerationType.IDENTITY)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private Long id;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@Column(nullable = false, length = 100)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private String name;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@Column(nullable = false)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private Integer price;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@Column(nullable = false)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private Integer stock;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@Column(length = 500)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private String description;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@Column(nullable = false, updatable = false)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private LocalDateTime createdAt = LocalDateTime.now();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Product.java ② — 생성자와 getter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값을 꺼내는 창구(getter)만 열려 있고, 값을 마음대로 바꾸는 창구(setter)는 없습니다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src/main/java/com/dwacademy/shop/entity/Product.java (30~45행)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337921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protected Product() {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Product(String name, Integer price, Integer stock, String description) {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this.name = name;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this.price = price;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this.stock = stock;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this.description = description;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Long getId() { return id;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String getName() { return name;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Integer getPrice() { return price;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Integer getStock() { return stock;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String getDescription() { return description; }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LocalDateTime getCreatedAt() { return createdAt;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Product.java ③ — 값을 바꾸는 문은 update() 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setter 대신, 의미가 있는 이름의 메서드 하나로만 수정합니다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src/main/java/com/dwacademy/shop/entity/Product.java (47~54행)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2900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/** 수정은 setter 를 열지 않고 의미 있는 메서드로 받는다 — 어디서 바뀌는지 추적된다. */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void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update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(String name, Integer price, Integer stock, String description)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this.name = name;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this.price = price;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this.stock = stock;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this.description = description;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회원과 상품, 구조가 왜 똑같을까요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도메인이 달라도, 스프링 MVC의 기본 뼈대는 반복됩니다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회원(User)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28016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Controller → Service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→ Repository → Entity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join·login·me·logout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상품(Product)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28016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Controller → Service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→ Repository → Entity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create·findAll·findById·update·delete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ProductRequest.java — 검증도 익숙한 방식입니다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@NotBlank·@Min, 회원 때 쓰던 그 어노테이션 그대로입니다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src/main/java/com/dwacademy/shop/model/ProductRequest.java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76656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@NotBlank(message = "상품 이름을 입력하세요")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private String name;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@NotNull(message = "가격을 입력하세요")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@Min(value = 0, message = "가격은 0원 이상입니다")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private Integer price;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@NotNull(message = "재고를 입력하세요")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@Min(value = 0, message = "재고는 0개 이상입니다")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private Integer stock;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ProductResponse.java — soldOut이라는 새 필드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엔티티에는 없는데, 응답 상자에는 있는 필드입니다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src/main/java/com/dwacademy/shop/model/ProductResponse.java (13행, 16~24행)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2900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private final boolean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soldOut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;   // 화면에서 쓰기 좋게 여기서 계산해 준다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ProductResponse(Product product)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this.stock = product.getStock();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this.description = product.getDescription();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this.soldOut =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product.getStock() == 0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this.createdAt = product.getCreatedAt();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클래스가 세 개(Entity·Request·Response)나 필요할까요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 하나를 표현하는 클래스가 벌써 세 개입니다 — 합쳐도 되지 않을까요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클래스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누가 보는가</a:t>
            </a:r>
          </a:p>
        </p:txBody>
      </p:sp>
      <p:sp>
        <p:nvSpPr>
          <p:cNvPr id="11" name="Cell"/>
          <p:cNvSpPr/>
          <p:nvPr/>
        </p:nvSpPr>
        <p:spPr>
          <a:xfrm>
            <a:off x="6446520" y="2093976"/>
            <a:ext cx="38404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왜 따로인가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27432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Product(Entity)</a:t>
            </a:r>
          </a:p>
        </p:txBody>
      </p:sp>
      <p:sp>
        <p:nvSpPr>
          <p:cNvPr id="13" name="Cell"/>
          <p:cNvSpPr/>
          <p:nvPr/>
        </p:nvSpPr>
        <p:spPr>
          <a:xfrm>
            <a:off x="3337560" y="2569464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DB·서버 내부만</a:t>
            </a:r>
          </a:p>
        </p:txBody>
      </p:sp>
      <p:sp>
        <p:nvSpPr>
          <p:cNvPr id="14" name="Cell"/>
          <p:cNvSpPr/>
          <p:nvPr/>
        </p:nvSpPr>
        <p:spPr>
          <a:xfrm>
            <a:off x="6446520" y="2569464"/>
            <a:ext cx="38404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테이블 그대로 — id 자동 생성 필드 포함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210560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ProductRequest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210560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클라이언트 → 서버</a:t>
            </a:r>
          </a:p>
        </p:txBody>
      </p:sp>
      <p:sp>
        <p:nvSpPr>
          <p:cNvPr id="17" name="Cell"/>
          <p:cNvSpPr/>
          <p:nvPr/>
        </p:nvSpPr>
        <p:spPr>
          <a:xfrm>
            <a:off x="6446520" y="3210560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등록할 때 필요한 값만, id 없음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686047"/>
            <a:ext cx="27432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ProductResponse</a:t>
            </a:r>
          </a:p>
        </p:txBody>
      </p:sp>
      <p:sp>
        <p:nvSpPr>
          <p:cNvPr id="19" name="Cell"/>
          <p:cNvSpPr/>
          <p:nvPr/>
        </p:nvSpPr>
        <p:spPr>
          <a:xfrm>
            <a:off x="3337560" y="3686047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 → 클라이언트</a:t>
            </a:r>
          </a:p>
        </p:txBody>
      </p:sp>
      <p:sp>
        <p:nvSpPr>
          <p:cNvPr id="20" name="Cell"/>
          <p:cNvSpPr/>
          <p:nvPr/>
        </p:nvSpPr>
        <p:spPr>
          <a:xfrm>
            <a:off x="6446520" y="3686047"/>
            <a:ext cx="38404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보여줄 값만, soldOut 같은 파생 필드 추가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ProductRepository.java — 이름으로 SQL을 만듭니다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existsByLoginId와 완전히 같은 마법입니다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src/main/java/com/dwacademy/shop/repository/ProductRepository.java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109880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interface ProductRepository extends JpaRepository&lt;Product, Long&gt;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List&lt;Product&gt;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findByNameContaining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(String keyword);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ProductService.java — 다섯 가지 일을 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 서비스와 메서드 이름까지 거의 겹칩니다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src/main/java/com/dwacademy/shop/service/ProductService.java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459736"/>
            <a:ext cx="29260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메서드</a:t>
            </a:r>
          </a:p>
        </p:txBody>
      </p:sp>
      <p:sp>
        <p:nvSpPr>
          <p:cNvPr id="11" name="Cell"/>
          <p:cNvSpPr/>
          <p:nvPr/>
        </p:nvSpPr>
        <p:spPr>
          <a:xfrm>
            <a:off x="3520440" y="2459736"/>
            <a:ext cx="67665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하는 일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935224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findAll(keyword)</a:t>
            </a:r>
          </a:p>
        </p:txBody>
      </p:sp>
      <p:sp>
        <p:nvSpPr>
          <p:cNvPr id="13" name="Cell"/>
          <p:cNvSpPr/>
          <p:nvPr/>
        </p:nvSpPr>
        <p:spPr>
          <a:xfrm>
            <a:off x="3520440" y="2935224"/>
            <a:ext cx="67665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전체 조회, keyword 있으면 검색</a:t>
            </a:r>
          </a:p>
        </p:txBody>
      </p:sp>
      <p:sp>
        <p:nvSpPr>
          <p:cNvPr id="14" name="Cell"/>
          <p:cNvSpPr/>
          <p:nvPr/>
        </p:nvSpPr>
        <p:spPr>
          <a:xfrm>
            <a:off x="594360" y="3410712"/>
            <a:ext cx="29260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findById(id)</a:t>
            </a:r>
          </a:p>
        </p:txBody>
      </p:sp>
      <p:sp>
        <p:nvSpPr>
          <p:cNvPr id="15" name="Cell"/>
          <p:cNvSpPr/>
          <p:nvPr/>
        </p:nvSpPr>
        <p:spPr>
          <a:xfrm>
            <a:off x="3520440" y="3410712"/>
            <a:ext cx="67665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하나 조회</a:t>
            </a:r>
          </a:p>
        </p:txBody>
      </p:sp>
      <p:sp>
        <p:nvSpPr>
          <p:cNvPr id="16" name="Cell"/>
          <p:cNvSpPr/>
          <p:nvPr/>
        </p:nvSpPr>
        <p:spPr>
          <a:xfrm>
            <a:off x="594360" y="3886200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create(request)</a:t>
            </a:r>
          </a:p>
        </p:txBody>
      </p:sp>
      <p:sp>
        <p:nvSpPr>
          <p:cNvPr id="17" name="Cell"/>
          <p:cNvSpPr/>
          <p:nvPr/>
        </p:nvSpPr>
        <p:spPr>
          <a:xfrm>
            <a:off x="3520440" y="3886200"/>
            <a:ext cx="67665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새 상품 등록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4361688"/>
            <a:ext cx="29260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update(id, request)</a:t>
            </a:r>
          </a:p>
        </p:txBody>
      </p:sp>
      <p:sp>
        <p:nvSpPr>
          <p:cNvPr id="19" name="Cell"/>
          <p:cNvSpPr/>
          <p:nvPr/>
        </p:nvSpPr>
        <p:spPr>
          <a:xfrm>
            <a:off x="3520440" y="4361688"/>
            <a:ext cx="67665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정보 수정</a:t>
            </a:r>
          </a:p>
        </p:txBody>
      </p:sp>
      <p:sp>
        <p:nvSpPr>
          <p:cNvPr id="20" name="Cell"/>
          <p:cNvSpPr/>
          <p:nvPr/>
        </p:nvSpPr>
        <p:spPr>
          <a:xfrm>
            <a:off x="594360" y="4837175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delete(id)</a:t>
            </a:r>
          </a:p>
        </p:txBody>
      </p:sp>
      <p:sp>
        <p:nvSpPr>
          <p:cNvPr id="21" name="Cell"/>
          <p:cNvSpPr/>
          <p:nvPr/>
        </p:nvSpPr>
        <p:spPr>
          <a:xfrm>
            <a:off x="3520440" y="4837175"/>
            <a:ext cx="67665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삭제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ProductController.java — 다섯 개의 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 컨트롤러와 나란히 놓고 비교해도 좋습니다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src/main/java/com/dwacademy/shop/controller/ProductController.java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45973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11" name="Cell"/>
          <p:cNvSpPr/>
          <p:nvPr/>
        </p:nvSpPr>
        <p:spPr>
          <a:xfrm>
            <a:off x="4800600" y="2459736"/>
            <a:ext cx="5486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메서드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93522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/api/products</a:t>
            </a:r>
          </a:p>
        </p:txBody>
      </p:sp>
      <p:sp>
        <p:nvSpPr>
          <p:cNvPr id="13" name="Cell"/>
          <p:cNvSpPr/>
          <p:nvPr/>
        </p:nvSpPr>
        <p:spPr>
          <a:xfrm>
            <a:off x="4800600" y="2935224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findAll(keyword) 호출</a:t>
            </a:r>
          </a:p>
        </p:txBody>
      </p:sp>
      <p:sp>
        <p:nvSpPr>
          <p:cNvPr id="14" name="Cell"/>
          <p:cNvSpPr/>
          <p:nvPr/>
        </p:nvSpPr>
        <p:spPr>
          <a:xfrm>
            <a:off x="594360" y="3410712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/api/products/{id}</a:t>
            </a:r>
          </a:p>
        </p:txBody>
      </p:sp>
      <p:sp>
        <p:nvSpPr>
          <p:cNvPr id="15" name="Cell"/>
          <p:cNvSpPr/>
          <p:nvPr/>
        </p:nvSpPr>
        <p:spPr>
          <a:xfrm>
            <a:off x="4800600" y="3410712"/>
            <a:ext cx="5486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findById(id) 호출</a:t>
            </a:r>
          </a:p>
        </p:txBody>
      </p:sp>
      <p:sp>
        <p:nvSpPr>
          <p:cNvPr id="16" name="Cell"/>
          <p:cNvSpPr/>
          <p:nvPr/>
        </p:nvSpPr>
        <p:spPr>
          <a:xfrm>
            <a:off x="594360" y="3886200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POST /api/products</a:t>
            </a:r>
          </a:p>
        </p:txBody>
      </p:sp>
      <p:sp>
        <p:nvSpPr>
          <p:cNvPr id="17" name="Cell"/>
          <p:cNvSpPr/>
          <p:nvPr/>
        </p:nvSpPr>
        <p:spPr>
          <a:xfrm>
            <a:off x="4800600" y="388620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create(request) 호출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4361688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PUT /api/products/{id}</a:t>
            </a:r>
          </a:p>
        </p:txBody>
      </p:sp>
      <p:sp>
        <p:nvSpPr>
          <p:cNvPr id="19" name="Cell"/>
          <p:cNvSpPr/>
          <p:nvPr/>
        </p:nvSpPr>
        <p:spPr>
          <a:xfrm>
            <a:off x="4800600" y="4361688"/>
            <a:ext cx="5486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update(id, request) 호출</a:t>
            </a:r>
          </a:p>
        </p:txBody>
      </p:sp>
      <p:sp>
        <p:nvSpPr>
          <p:cNvPr id="20" name="Cell"/>
          <p:cNvSpPr/>
          <p:nvPr/>
        </p:nvSpPr>
        <p:spPr>
          <a:xfrm>
            <a:off x="594360" y="4837175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DELETE /api/products/{id}</a:t>
            </a:r>
          </a:p>
        </p:txBody>
      </p:sp>
      <p:sp>
        <p:nvSpPr>
          <p:cNvPr id="21" name="Cell"/>
          <p:cNvSpPr/>
          <p:nvPr/>
        </p:nvSpPr>
        <p:spPr>
          <a:xfrm>
            <a:off x="4800600" y="4837175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delete(id) 호출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코드는 다 읽으셨습니다 — 육교시부터 직접 눌러봅니다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파일 여섯 개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Entity·Request·Response·Repository·Service·Controller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회원과의 공통점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컨트롤러→서비스→리포지토리→엔티티, 뼈대가 동일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새로 본 것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@Min 검증, soldOut 파생 필드, findByNameContaining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6교시 — Postman 으로 등록하고 조회해봅니다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🔔 6교시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D7 에서 배운 Postman 으로, 코드로 봤던 다섯 개 API 중 두 개를 먼저 눌러봅니다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Collection → 상품 API 폴더 → Add request</a:t>
            </a:r>
          </a:p>
        </p:txBody>
      </p:sp>
      <p:sp>
        <p:nvSpPr>
          <p:cNvPr id="11" name="CodeBox"/>
          <p:cNvSpPr/>
          <p:nvPr/>
        </p:nvSpPr>
        <p:spPr>
          <a:xfrm>
            <a:off x="594360" y="2670048"/>
            <a:ext cx="10972800" cy="252831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Postman — 상품 등록 요청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Method : POST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URL    : 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{{baseUrl}}/api/products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Body   : 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raw → JSON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{"name":"블루투스 스피커","price":45000,"stock":20,"description":"휴대용, 방수."}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요청을 curl 한 줄로 (참고)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-X POST http://localhost:8080/api/products -H "Content-Type: application/json" -d '{"name":"블루투스 스피커","price":45000,"stock":20,"description":"휴대용, 방수."}'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Postman 등록 성공 (201 Created)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응답 오른쪽 위의 초록색 201 Created 와 새로 생긴 id 를 확인하세요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POST → Send → 응답 창</a:t>
            </a:r>
          </a:p>
        </p:txBody>
      </p:sp>
      <p:pic>
        <p:nvPicPr>
          <p:cNvPr id="10" name="Picture 9" descr="pm_01_post_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24" y="2660904"/>
            <a:ext cx="7236246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가격을 음수로 넣으면 400 으로 막힙니다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어제 배운 그 검증 방식 그대로입니다. 오른쪽 위의 400 Bad Request 를 보세요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Body 의 price 를 -1000 으로 → Send</a:t>
            </a:r>
          </a:p>
        </p:txBody>
      </p:sp>
      <p:pic>
        <p:nvPicPr>
          <p:cNvPr id="10" name="Picture 9" descr="pm_02_post_in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552" y="2660904"/>
            <a:ext cx="8502589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어제 배운 검증이 오늘도 그대로 통합니다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새 도메인이라고 검증 원리까지 새로 배울 필요는 없습니다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어제(회원)</a:t>
            </a:r>
          </a:p>
        </p:txBody>
      </p:sp>
      <p:sp>
        <p:nvSpPr>
          <p:cNvPr id="10" name="Cell"/>
          <p:cNvSpPr/>
          <p:nvPr/>
        </p:nvSpPr>
        <p:spPr>
          <a:xfrm>
            <a:off x="4617720" y="2093976"/>
            <a:ext cx="56692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오늘(상품)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@NotBlank(아이디)</a:t>
            </a:r>
          </a:p>
        </p:txBody>
      </p:sp>
      <p:sp>
        <p:nvSpPr>
          <p:cNvPr id="12" name="Cell"/>
          <p:cNvSpPr/>
          <p:nvPr/>
        </p:nvSpPr>
        <p:spPr>
          <a:xfrm>
            <a:off x="4617720" y="256946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@NotBlank(상품 이름)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40233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@Size(길이 제한)</a:t>
            </a:r>
          </a:p>
        </p:txBody>
      </p:sp>
      <p:sp>
        <p:nvSpPr>
          <p:cNvPr id="14" name="Cell"/>
          <p:cNvSpPr/>
          <p:nvPr/>
        </p:nvSpPr>
        <p:spPr>
          <a:xfrm>
            <a:off x="4617720" y="3044952"/>
            <a:ext cx="5669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@Min(숫자 하한)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@Valid → 컨트롤러 진입 전 검증</a:t>
            </a:r>
          </a:p>
        </p:txBody>
      </p:sp>
      <p:sp>
        <p:nvSpPr>
          <p:cNvPr id="16" name="Cell"/>
          <p:cNvSpPr/>
          <p:nvPr/>
        </p:nvSpPr>
        <p:spPr>
          <a:xfrm>
            <a:off x="4617720" y="3520440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@Valid → 컨트롤러 진입 전 검증(동일)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 성공은 201, 조회 성공은 200입니다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둘 다 성공이지만, 상태 코드로 '무엇이 성공했는지'를 구분합니다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성공 시 상태 코드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등록(POST) — 상품/회원가입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201 Created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조회(GET)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200 OK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ProductController 코드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ResponseEntity.status(HttpStatus.CREATED)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실습② Postman 으로 전체 상품을 조회합니다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 목록 조회와 똑같은 패턴입니다. 요청을 하나 더 만듭니다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Collection → 상품 API 폴더 → Add request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569464"/>
            <a:ext cx="10972800" cy="205181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Postman — 상품 전체 조회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Method : GET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URL    : 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{{baseUrl}}/api/products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Body   : 없음 (조회는 본문이 필요 없다)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요청을 curl 한 줄로 (참고)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-s http://localhost:8080/api/products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방금 만든 상품의 id는 누가 정했을까요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여러분이 정한 적 없는 번호가 응답에 붙어서 돌아왔습니다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09880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@Id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@GeneratedValue(strategy =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GenerationType.IDENTITY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private Long id;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재고를 0으로 등록하면 처음부터 soldOut일까요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 요청을 복제해서 본문만 바꿔 보내고, 응답의 soldOut 을 확인합니다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등록 요청 우클릭 → Duplicate → Body 수정 → Send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569464"/>
            <a:ext cx="10972800" cy="22900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Postman — 앞의 등록 요청을 복제하고 본문만 바꾼다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Method : POST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URL    : {{baseUrl}}/api/products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{"name":"한정판 키링","price":9900,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"stock":0</a:t>
            </a: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,"description":"품절 확인용"}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요청을 curl 한 줄로 (참고)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-X POST http://localhost:8080/api/products -H "Content-Type: application/json" -d '{"name":"한정판 키링","price":9900,"stock":0,"description":"품절 확인용"}'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목록에서 soldOut을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재고 0인 상품만 정확히 soldOut: true로 표시됩니다</a:t>
            </a:r>
          </a:p>
        </p:txBody>
      </p:sp>
      <p:pic>
        <p:nvPicPr>
          <p:cNvPr id="9" name="Picture 8" descr="pm_c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185416"/>
            <a:ext cx="11247120" cy="20169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목록이 몇 건 나오면 정상일까요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씨앗 데이터 5개 + 여러분이 등록한 개수, 직접 세어보세요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개수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씨앗 데이터(data.sql)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5개(무선 마우스 등)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여러분이 등록한 개수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직접 세어보기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전체 조회 결과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 + 등록한 개수와 정확히 같아야 정상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실습③ Postman 으로 상품 하나만 조회합니다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방금 등록하신 상품의 id 로 단건 조회해보세요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Collection → 상품 API 폴더 → Add request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569464"/>
            <a:ext cx="10972800" cy="1813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Postman — 상품 단건 조회 (주소 끝에 id)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Method : GET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URL    : {{baseUrl}}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/api/products/6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요청을 curl 한 줄로 (참고)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-s http://localhost:8080/api/products/6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없는 상품을 조회하면 어떻게 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404가 아니라 400이 돌아옵니다 — 응답 창 오른쪽 위의 상태 코드를 보세요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GET {{baseUrl}}/api/products/9999 → Send</a:t>
            </a:r>
          </a:p>
        </p:txBody>
      </p:sp>
      <p:pic>
        <p:nvPicPr>
          <p:cNvPr id="10" name="Picture 9" descr="pm_07_get_notf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27" y="2660904"/>
            <a:ext cx="10193840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응답 Headers 탭 — 상태 코드와 Content-Type 은 어디에 있나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본문만 보던 응답에도, 위쪽 상태 코드와 Headers 탭이 함께 있었습니다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응답 창 → Headers 탭</a:t>
            </a:r>
          </a:p>
        </p:txBody>
      </p:sp>
      <p:pic>
        <p:nvPicPr>
          <p:cNvPr id="10" name="Picture 9" descr="pm_06_h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564" y="2660904"/>
            <a:ext cx="6266565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 상품 목록, 누구나 볼 수 있어야 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 조회와 다르게, 오늘은 로그인 없이도 전부 열려 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10" name="Cell"/>
          <p:cNvSpPr/>
          <p:nvPr/>
        </p:nvSpPr>
        <p:spPr>
          <a:xfrm>
            <a:off x="4617720" y="2093976"/>
            <a:ext cx="56692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 필요 여부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/api/products(상품 조회)</a:t>
            </a:r>
          </a:p>
        </p:txBody>
      </p:sp>
      <p:sp>
        <p:nvSpPr>
          <p:cNvPr id="12" name="Cell"/>
          <p:cNvSpPr/>
          <p:nvPr/>
        </p:nvSpPr>
        <p:spPr>
          <a:xfrm>
            <a:off x="4617720" y="256946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필요 없음 — 누구나 볼 수 있어야 정상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40233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/api/users/me(내 정보 확인)</a:t>
            </a:r>
          </a:p>
        </p:txBody>
      </p:sp>
      <p:sp>
        <p:nvSpPr>
          <p:cNvPr id="14" name="Cell"/>
          <p:cNvSpPr/>
          <p:nvPr/>
        </p:nvSpPr>
        <p:spPr>
          <a:xfrm>
            <a:off x="4617720" y="3044952"/>
            <a:ext cx="5669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필요함 — 어제 세션으로 막아둠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상품 등록·수정·삭제</a:t>
            </a:r>
          </a:p>
        </p:txBody>
      </p:sp>
      <p:sp>
        <p:nvSpPr>
          <p:cNvPr id="16" name="Cell"/>
          <p:cNvSpPr/>
          <p:nvPr/>
        </p:nvSpPr>
        <p:spPr>
          <a:xfrm>
            <a:off x="4617720" y="3520440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지금은 열려 있음(실무라면 ADMIN만 허용)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등록과 조회, 어제 배운 패턴이 상품에서도 그대로 통했습니다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등록(POST)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검증 실패 시 @Valid가 먼저 막는다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조회(GET)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목록·단건 모두 회원과 같은 패턴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없는 id 조회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404가 아니라 400 — 프로젝트 전체의 일관된 규칙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 — Postman 으로 수정·삭제·검색을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🔔 7교시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오교시의 작은 미스터리(save() 없는 update)를 오늘 풉니다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등록 요청 Duplicate → Method 를 PUT 으로 → 주소 끝에 /6</a:t>
            </a:r>
          </a:p>
        </p:txBody>
      </p:sp>
      <p:sp>
        <p:nvSpPr>
          <p:cNvPr id="11" name="CodeBox"/>
          <p:cNvSpPr/>
          <p:nvPr/>
        </p:nvSpPr>
        <p:spPr>
          <a:xfrm>
            <a:off x="594360" y="2670048"/>
            <a:ext cx="10972800" cy="252831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Postman — 상품 수정 (재고를 0으로)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Method : 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PUT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URL    : {{baseUrl}}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/api/products/6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Body   : raw → JSON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{"name":"블루투스 스피커","price":45000,"stock":0,"description":"휴대용, 방수."}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요청을 curl 한 줄로 (참고)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-X PUT http://localhost:8080/api/products/6 -H "Content-Type: application/json" -d '{"name":"블루투스 스피커","price":45000,"stock":0,"description":"휴대용, 방수."}'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수정하면 soldOut도 다시 계산됩니다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재고를 0으로 바꾸자, soldOut이 자동으로 true가 됐습니다</a:t>
            </a:r>
          </a:p>
        </p:txBody>
      </p:sp>
      <p:pic>
        <p:nvPicPr>
          <p:cNvPr id="9" name="Picture 8" descr="pm_08_put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849" y="2185416"/>
            <a:ext cx="8269996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그런데, save()를 안 불렀는데 왜 DB에 반영됐을까요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ProductService.update()를 다시 열어서 확인해봅니다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22900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@Transactional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ProductResponse update(Long id, ProductRequest request)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Product product = get(id);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product.update(request.getName(), request.getPrice(),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           request.getStock(), request.getDescription());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// productRepository.save(product) 호출이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없다!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return new ProductResponse(product);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변경 감지 vs 명시적 save() — 무엇이 다를까요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결과는 같지만, 코드가 말하는 의도가 다릅니다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명시적 save() (join, create)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28016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새 엔티티를 처음 저장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'이걸 새로 만들어 넣어라'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감지 (update)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28016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 있는 엔티티를 수정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'이미 있는 걸 이렇게 바꿔라'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PUT은 왜 항상 값을 전부 다시 보내야 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일부만 보내면 검증에 막히거나, 검증 없는 값은 null로 덮어써집니다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813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void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update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(String name, Integer price, Integer stock, String description)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this.name = name;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this.price = price;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this.stock = stock;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this.description = description;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실습⑤ Postman 으로 상품을 삭제합니다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삭제 성공은 204 No Content — 응답 본문이 비어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DELETE → {{baseUrl}}/api/products/6 → Send</a:t>
            </a:r>
          </a:p>
        </p:txBody>
      </p:sp>
      <p:pic>
        <p:nvPicPr>
          <p:cNvPr id="10" name="Picture 9" descr="pm_10_de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660904"/>
            <a:ext cx="10058400" cy="266672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삭제한 상품을 다시 조회하면 어떻게 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같은 id 로 다시 조회하면 400 이 돌아옵니다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GET → {{baseUrl}}/api/products/6 → Send</a:t>
            </a:r>
          </a:p>
        </p:txBody>
      </p:sp>
      <p:pic>
        <p:nvPicPr>
          <p:cNvPr id="10" name="Picture 9" descr="pm_11_get_after_de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660904"/>
            <a:ext cx="10058400" cy="328419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 프로젝트는 DB에서 진짜로 지웁니다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'물리 삭제'와 '논리 삭제', 두 가지 방식 중 오늘 코드는 전자입니다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물리 삭제(오늘 코드)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28016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 행을 완전히 제거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단순하고 구조가 직관적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논리 삭제(참고)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28016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deleted 컬럼만 true로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실수로 지워도 복구 가능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204는 어떤 상태 코드인가요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2XX(성공) 중에서도, 돌려줄 내용이 없다는 뜻입니다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377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 코드</a:t>
            </a:r>
          </a:p>
        </p:txBody>
      </p:sp>
      <p:sp>
        <p:nvSpPr>
          <p:cNvPr id="10" name="Cell"/>
          <p:cNvSpPr/>
          <p:nvPr/>
        </p:nvSpPr>
        <p:spPr>
          <a:xfrm>
            <a:off x="2971800" y="2093976"/>
            <a:ext cx="64008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의미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200 OK</a:t>
            </a:r>
          </a:p>
        </p:txBody>
      </p:sp>
      <p:sp>
        <p:nvSpPr>
          <p:cNvPr id="12" name="Cell"/>
          <p:cNvSpPr/>
          <p:nvPr/>
        </p:nvSpPr>
        <p:spPr>
          <a:xfrm>
            <a:off x="2971800" y="2569464"/>
            <a:ext cx="6400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성공 + 돌려줄 내용 있음(본문 있음)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377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201 Created</a:t>
            </a:r>
          </a:p>
        </p:txBody>
      </p:sp>
      <p:sp>
        <p:nvSpPr>
          <p:cNvPr id="14" name="Cell"/>
          <p:cNvSpPr/>
          <p:nvPr/>
        </p:nvSpPr>
        <p:spPr>
          <a:xfrm>
            <a:off x="2971800" y="3044952"/>
            <a:ext cx="64008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성공 + 새로 만들어짐(등록 응답)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204 No Content</a:t>
            </a:r>
          </a:p>
        </p:txBody>
      </p:sp>
      <p:sp>
        <p:nvSpPr>
          <p:cNvPr id="16" name="Cell"/>
          <p:cNvSpPr/>
          <p:nvPr/>
        </p:nvSpPr>
        <p:spPr>
          <a:xfrm>
            <a:off x="2971800" y="3520440"/>
            <a:ext cx="6400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성공 + 돌려줄 내용 없음(삭제 응답)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검색은 왜 findAll 메서드 안에 들어 있을까요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ProductController에 findByKeyword 같은 별도 메서드가 없습니다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33705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@GetMapping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List&lt;ProductResponse&gt; findAll(@RequestParam(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required = false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) String keyword)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return productService.findAll(keyword);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실습⑥ Postman 으로 이름 검색을 해봅니다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오교시에 본 findByNameContaining을 이제 실제로 호출합니다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GET → Params 탭 → Key: keyword / Value: 키보드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569464"/>
            <a:ext cx="10972800" cy="205181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Postman — 이름으로 검색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Method : GET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URL    : {{baseUrl}}/api/products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Params : 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keyword = 키보드</a:t>
            </a: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     (주소 끝에 ?keyword=키보드 가 자동으로 붙는다)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요청을 curl 한 줄로 (참고 — 한글은 --data-urlencode 가 필요하다)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-G http://localhost:8080/api/products --data-urlencode "keyword=키보드"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Postman 에서는 한글 검색이 그대로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Params 탭에 넣으면 주소 만들기와 한글 인코딩은 Postman 이 알아서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Postman → Params 탭 → Send</a:t>
            </a:r>
          </a:p>
        </p:txBody>
      </p:sp>
      <p:pic>
        <p:nvPicPr>
          <p:cNvPr id="10" name="Picture 9" descr="pm_09_get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749" y="2660904"/>
            <a:ext cx="7408197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함정 — curl 로 직접 부를 때는 한글을 인코딩해야 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Postman 은 알아서 하지만, 터미널 curl 은 --data-urlencode 가 필요합니다</a:t>
            </a:r>
          </a:p>
        </p:txBody>
      </p:sp>
      <p:pic>
        <p:nvPicPr>
          <p:cNvPr id="9" name="Picture 8" descr="keyword_search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185416"/>
            <a:ext cx="11247120" cy="292062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LIKE 검색은 앞뒤 어디에 있어도 찾습니다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Containing은 '포함'이라는 뜻 — 키보드 앞뒤에 다른 글자가 있어도 찾아냅니다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검색어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찾아내는 상품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키보드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'기계식 키보드' — 뒤쪽에 일치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27인치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'27인치 모니터' — 앞쪽에 일치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USB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'USB 허브' — 앞쪽에 일치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검색 결과가 수백 건이라면, 오늘 코드는 어떻게 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코드는 findAll 그대로라 전부 한 번에 돌려줍니다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1945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Cell"/>
          <p:cNvSpPr/>
          <p:nvPr/>
        </p:nvSpPr>
        <p:spPr>
          <a:xfrm>
            <a:off x="2788920" y="2093976"/>
            <a:ext cx="33832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코드</a:t>
            </a:r>
          </a:p>
        </p:txBody>
      </p:sp>
      <p:sp>
        <p:nvSpPr>
          <p:cNvPr id="11" name="Cell"/>
          <p:cNvSpPr/>
          <p:nvPr/>
        </p:nvSpPr>
        <p:spPr>
          <a:xfrm>
            <a:off x="6172200" y="2093976"/>
            <a:ext cx="35661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실무 규모 서비스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검색 결과 개수</a:t>
            </a:r>
          </a:p>
        </p:txBody>
      </p:sp>
      <p:sp>
        <p:nvSpPr>
          <p:cNvPr id="13" name="Cell"/>
          <p:cNvSpPr/>
          <p:nvPr/>
        </p:nvSpPr>
        <p:spPr>
          <a:xfrm>
            <a:off x="2788920" y="2569464"/>
            <a:ext cx="3383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제한 없음 — 전부 반환</a:t>
            </a:r>
          </a:p>
        </p:txBody>
      </p:sp>
      <p:sp>
        <p:nvSpPr>
          <p:cNvPr id="14" name="Cell"/>
          <p:cNvSpPr/>
          <p:nvPr/>
        </p:nvSpPr>
        <p:spPr>
          <a:xfrm>
            <a:off x="6172200" y="2569464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페이지 단위로 나눠서 반환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044952"/>
            <a:ext cx="21945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16" name="Cell"/>
          <p:cNvSpPr/>
          <p:nvPr/>
        </p:nvSpPr>
        <p:spPr>
          <a:xfrm>
            <a:off x="2788920" y="3044952"/>
            <a:ext cx="3383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5건이든 5,000건이든 한 번에</a:t>
            </a:r>
          </a:p>
        </p:txBody>
      </p:sp>
      <p:sp>
        <p:nvSpPr>
          <p:cNvPr id="17" name="Cell"/>
          <p:cNvSpPr/>
          <p:nvPr/>
        </p:nvSpPr>
        <p:spPr>
          <a:xfrm>
            <a:off x="6172200" y="3044952"/>
            <a:ext cx="35661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예: 20건씩 '페이징(paging)'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DB에서 직접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등록·수정·삭제한 결과가 전부 이 테이블 하나에 남습니다</a:t>
            </a:r>
          </a:p>
        </p:txBody>
      </p:sp>
      <p:pic>
        <p:nvPicPr>
          <p:cNvPr id="9" name="Picture 8" descr="products_table_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185416"/>
            <a:ext cx="11247120" cy="376415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CRUD 다섯 개를 전부 직접 호출해보셨습니다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변경 감지(dirty checking)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@Transactional 안에서 값만 바꾸면 자동 UPDATE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삭제(DELETE)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204 No Content, 이후 조회하면 400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검색(keyword)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한글은 URL 인코딩이 필요하다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8교시 — 오늘 확인한 원리를 정리합니다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🔔 8교시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@Transactional 하나가 오늘 하루의 숨은 주인공이었습니다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194560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어노테이션</a:t>
            </a:r>
          </a:p>
        </p:txBody>
      </p:sp>
      <p:sp>
        <p:nvSpPr>
          <p:cNvPr id="11" name="Cell"/>
          <p:cNvSpPr/>
          <p:nvPr/>
        </p:nvSpPr>
        <p:spPr>
          <a:xfrm>
            <a:off x="3703320" y="2194560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한 역할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670048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@Transactional (기본)</a:t>
            </a:r>
          </a:p>
        </p:txBody>
      </p:sp>
      <p:sp>
        <p:nvSpPr>
          <p:cNvPr id="13" name="Cell"/>
          <p:cNvSpPr/>
          <p:nvPr/>
        </p:nvSpPr>
        <p:spPr>
          <a:xfrm>
            <a:off x="3703320" y="2670048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update에서 변경 감지가 동작하게 함</a:t>
            </a:r>
          </a:p>
        </p:txBody>
      </p:sp>
      <p:sp>
        <p:nvSpPr>
          <p:cNvPr id="14" name="Cell"/>
          <p:cNvSpPr/>
          <p:nvPr/>
        </p:nvSpPr>
        <p:spPr>
          <a:xfrm>
            <a:off x="594360" y="3145536"/>
            <a:ext cx="31089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@Transactional(readOnly = true)</a:t>
            </a:r>
          </a:p>
        </p:txBody>
      </p:sp>
      <p:sp>
        <p:nvSpPr>
          <p:cNvPr id="15" name="Cell"/>
          <p:cNvSpPr/>
          <p:nvPr/>
        </p:nvSpPr>
        <p:spPr>
          <a:xfrm>
            <a:off x="3703320" y="3145536"/>
            <a:ext cx="658368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클래스 전체 기본값 — 조회 전용, 더 가볍다</a:t>
            </a:r>
          </a:p>
        </p:txBody>
      </p:sp>
      <p:sp>
        <p:nvSpPr>
          <p:cNvPr id="16" name="Cell"/>
          <p:cNvSpPr/>
          <p:nvPr/>
        </p:nvSpPr>
        <p:spPr>
          <a:xfrm>
            <a:off x="594360" y="3786632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@Valid</a:t>
            </a:r>
          </a:p>
        </p:txBody>
      </p:sp>
      <p:sp>
        <p:nvSpPr>
          <p:cNvPr id="17" name="Cell"/>
          <p:cNvSpPr/>
          <p:nvPr/>
        </p:nvSpPr>
        <p:spPr>
          <a:xfrm>
            <a:off x="3703320" y="3786632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요청 값을 컨트롤러 진입 전에 검증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API 지도 — CRUD 다섯 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 도메인과 나란히 놓고 봐도 전혀 낯설지 않습니다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등록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@Valid 검증 → save()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전체/검색/단건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수정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PUT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감지로 반영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삭제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DELETE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204 → 이후 조회 400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체크리스트 — 오늘 실습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다섯 가지를 스스로 점검해보세요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항목</a:t>
            </a:r>
          </a:p>
        </p:txBody>
      </p:sp>
      <p:sp>
        <p:nvSpPr>
          <p:cNvPr id="10" name="Cell"/>
          <p:cNvSpPr/>
          <p:nvPr/>
        </p:nvSpPr>
        <p:spPr>
          <a:xfrm>
            <a:off x="4617720" y="2093976"/>
            <a:ext cx="56692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정상이면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등록 + 검증 실패</a:t>
            </a:r>
          </a:p>
        </p:txBody>
      </p:sp>
      <p:sp>
        <p:nvSpPr>
          <p:cNvPr id="12" name="Cell"/>
          <p:cNvSpPr/>
          <p:nvPr/>
        </p:nvSpPr>
        <p:spPr>
          <a:xfrm>
            <a:off x="4617720" y="256946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정상 등록은 201류 응답, 음수 가격은 400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40233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전체 조회</a:t>
            </a:r>
          </a:p>
        </p:txBody>
      </p:sp>
      <p:sp>
        <p:nvSpPr>
          <p:cNvPr id="14" name="Cell"/>
          <p:cNvSpPr/>
          <p:nvPr/>
        </p:nvSpPr>
        <p:spPr>
          <a:xfrm>
            <a:off x="4617720" y="3044952"/>
            <a:ext cx="5669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등록한 상품이 목록에 포함된다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수정 후 soldOut</a:t>
            </a:r>
          </a:p>
        </p:txBody>
      </p:sp>
      <p:sp>
        <p:nvSpPr>
          <p:cNvPr id="16" name="Cell"/>
          <p:cNvSpPr/>
          <p:nvPr/>
        </p:nvSpPr>
        <p:spPr>
          <a:xfrm>
            <a:off x="4617720" y="3520440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재고 0으로 바꾸면 soldOut이 true로 바뀐다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40233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삭제 후 재조회</a:t>
            </a:r>
          </a:p>
        </p:txBody>
      </p:sp>
      <p:sp>
        <p:nvSpPr>
          <p:cNvPr id="18" name="Cell"/>
          <p:cNvSpPr/>
          <p:nvPr/>
        </p:nvSpPr>
        <p:spPr>
          <a:xfrm>
            <a:off x="4617720" y="3995928"/>
            <a:ext cx="5669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400 + '상품을 찾을 수 없습니다'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자주 나오는 질문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실습하면서 자주 나왔던 궁금증을 모았습니다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8404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10" name="Cell"/>
          <p:cNvSpPr/>
          <p:nvPr/>
        </p:nvSpPr>
        <p:spPr>
          <a:xfrm>
            <a:off x="4434840" y="2093976"/>
            <a:ext cx="58521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답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PATCH는 왜 안 쓰나요?</a:t>
            </a:r>
          </a:p>
        </p:txBody>
      </p:sp>
      <p:sp>
        <p:nvSpPr>
          <p:cNvPr id="12" name="Cell"/>
          <p:cNvSpPr/>
          <p:nvPr/>
        </p:nvSpPr>
        <p:spPr>
          <a:xfrm>
            <a:off x="4434840" y="2569464"/>
            <a:ext cx="58521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 프로젝트는 항상 전체 값을 덮어쓰는 PUT만 사용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가격에 소수점은요?</a:t>
            </a:r>
          </a:p>
        </p:txBody>
      </p:sp>
      <p:sp>
        <p:nvSpPr>
          <p:cNvPr id="14" name="Cell"/>
          <p:cNvSpPr/>
          <p:nvPr/>
        </p:nvSpPr>
        <p:spPr>
          <a:xfrm>
            <a:off x="4434840" y="3044952"/>
            <a:ext cx="58521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Integer라 원 단위만 — 소수점 필요하면 타입을 바꿔야 함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8404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검색과 조회를 왜 같은 API로 처리하나요?</a:t>
            </a:r>
          </a:p>
        </p:txBody>
      </p:sp>
      <p:sp>
        <p:nvSpPr>
          <p:cNvPr id="16" name="Cell"/>
          <p:cNvSpPr/>
          <p:nvPr/>
        </p:nvSpPr>
        <p:spPr>
          <a:xfrm>
            <a:off x="4434840" y="3520440"/>
            <a:ext cx="58521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keyword 유무로 갈리게 짜면 API가 하나로 단순해짐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4161536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삭제된 상품 정보는 복구할 수 없나요?</a:t>
            </a:r>
          </a:p>
        </p:txBody>
      </p:sp>
      <p:sp>
        <p:nvSpPr>
          <p:cNvPr id="18" name="Cell"/>
          <p:cNvSpPr/>
          <p:nvPr/>
        </p:nvSpPr>
        <p:spPr>
          <a:xfrm>
            <a:off x="4434840" y="4161536"/>
            <a:ext cx="58521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물리 삭제라 불가능 — 논리 삭제였다면 가능했음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확인한 REST 규칙 다섯 가지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API 하나로, REST API의 기본 문법을 전부 확인했습니다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규칙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확인한 예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명사로 경로를 짓는다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/api/products (동사 아님)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동작은 HTTP 메서드로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GET·POST·PUT·DELETE로 구분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단건은 /{id}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/api/products/6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성공은 2XX, 실패는 4XX</a:t>
            </a:r>
          </a:p>
        </p:txBody>
      </p:sp>
      <p:sp>
        <p:nvSpPr>
          <p:cNvPr id="18" name="Cell"/>
          <p:cNvSpPr/>
          <p:nvPr/>
        </p:nvSpPr>
        <p:spPr>
          <a:xfrm>
            <a:off x="3703320" y="3995928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201·200·204 그리고 400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4471416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컬렉션은 배열, 단건은 객체</a:t>
            </a:r>
          </a:p>
        </p:txBody>
      </p:sp>
      <p:sp>
        <p:nvSpPr>
          <p:cNvPr id="20" name="Cell"/>
          <p:cNvSpPr/>
          <p:nvPr/>
        </p:nvSpPr>
        <p:spPr>
          <a:xfrm>
            <a:off x="3703320" y="4471416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[...] 대 {...}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면접 예상 질문 — 오늘 배운 것과 이어집니다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'변경 감지'는 신입 면접에서 실제로 자주 나오는 주제입니다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10" name="Cell"/>
          <p:cNvSpPr/>
          <p:nvPr/>
        </p:nvSpPr>
        <p:spPr>
          <a:xfrm>
            <a:off x="4617720" y="2093976"/>
            <a:ext cx="56692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배운 답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0233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JPA에서 save() 없이도 수정이 반영되는 이유는?</a:t>
            </a:r>
          </a:p>
        </p:txBody>
      </p:sp>
      <p:sp>
        <p:nvSpPr>
          <p:cNvPr id="12" name="Cell"/>
          <p:cNvSpPr/>
          <p:nvPr/>
        </p:nvSpPr>
        <p:spPr>
          <a:xfrm>
            <a:off x="4617720" y="2569464"/>
            <a:ext cx="56692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변경 감지(dirty checking) — @Transactional 안에서 엔티티 값 변경 시 자동 반영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210560"/>
            <a:ext cx="40233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CRUD가 무엇의 줄임말인가요?</a:t>
            </a:r>
          </a:p>
        </p:txBody>
      </p:sp>
      <p:sp>
        <p:nvSpPr>
          <p:cNvPr id="14" name="Cell"/>
          <p:cNvSpPr/>
          <p:nvPr/>
        </p:nvSpPr>
        <p:spPr>
          <a:xfrm>
            <a:off x="4617720" y="3210560"/>
            <a:ext cx="5669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Create·Read·Update·Delete — 오늘 만든 API 네 종류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실제로는 이미 화면도 있습니다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화면은 정적 페이지 한 장 — static/index.html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src/main/resources/static/index.html (106~112행, 표 그리는 줄)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05181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const keyword = $('keyword').value.trim();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const url = keyword ? `/api/products?keyword=${encodeURIComponent(keyword)}`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            : '/api/products';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const res = await fetch(url);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const list = await res.json();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// 표를 그리는 줄 중에서 재고 칸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&lt;td class="num"&gt;${p.stock === 0 ? '&lt;span class="soldout"&gt;품절&lt;/span&gt;' : p.stock}&lt;/td&gt;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덤 — localhost 는 '지금 내가 있는 곳'입니다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같은 localhost:3306 이어도, 어디서 부르느냐에 따라 전혀 다른 곳으로 갑니다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8404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누가 부르나</a:t>
            </a:r>
          </a:p>
        </p:txBody>
      </p:sp>
      <p:sp>
        <p:nvSpPr>
          <p:cNvPr id="10" name="Cell"/>
          <p:cNvSpPr/>
          <p:nvPr/>
        </p:nvSpPr>
        <p:spPr>
          <a:xfrm>
            <a:off x="443484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localhost 가 가리키는 곳</a:t>
            </a:r>
          </a:p>
        </p:txBody>
      </p:sp>
      <p:sp>
        <p:nvSpPr>
          <p:cNvPr id="11" name="Cell"/>
          <p:cNvSpPr/>
          <p:nvPr/>
        </p:nvSpPr>
        <p:spPr>
          <a:xfrm>
            <a:off x="754380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3306 번 문 뒤에 있는 것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38404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Windows 프로그램 (DataGrip · 크롬 · Postman)</a:t>
            </a:r>
          </a:p>
        </p:txBody>
      </p:sp>
      <p:sp>
        <p:nvSpPr>
          <p:cNvPr id="13" name="Cell"/>
          <p:cNvSpPr/>
          <p:nvPr/>
        </p:nvSpPr>
        <p:spPr>
          <a:xfrm>
            <a:off x="4434840" y="2569464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Windows 자기 자신</a:t>
            </a:r>
          </a:p>
        </p:txBody>
      </p:sp>
      <p:sp>
        <p:nvSpPr>
          <p:cNvPr id="14" name="Cell"/>
          <p:cNvSpPr/>
          <p:nvPr/>
        </p:nvSpPr>
        <p:spPr>
          <a:xfrm>
            <a:off x="7543800" y="2569464"/>
            <a:ext cx="40233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Windows 에 MySQL 이 깔려 있으면 그것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210560"/>
            <a:ext cx="384048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우분투 안 (터미널 · 인텔리제이가 실행한 앱)</a:t>
            </a:r>
          </a:p>
        </p:txBody>
      </p:sp>
      <p:sp>
        <p:nvSpPr>
          <p:cNvPr id="16" name="Cell"/>
          <p:cNvSpPr/>
          <p:nvPr/>
        </p:nvSpPr>
        <p:spPr>
          <a:xfrm>
            <a:off x="4434840" y="3210560"/>
            <a:ext cx="31089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우분투 자기 자신</a:t>
            </a:r>
          </a:p>
        </p:txBody>
      </p:sp>
      <p:sp>
        <p:nvSpPr>
          <p:cNvPr id="17" name="Cell"/>
          <p:cNvSpPr/>
          <p:nvPr/>
        </p:nvSpPr>
        <p:spPr>
          <a:xfrm>
            <a:off x="7543800" y="3210560"/>
            <a:ext cx="40233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도커가 열어 준 문 →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shop-mysql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851656"/>
            <a:ext cx="38404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안 (내일 만들 앱 컨테이너)</a:t>
            </a:r>
          </a:p>
        </p:txBody>
      </p:sp>
      <p:sp>
        <p:nvSpPr>
          <p:cNvPr id="19" name="Cell"/>
          <p:cNvSpPr/>
          <p:nvPr/>
        </p:nvSpPr>
        <p:spPr>
          <a:xfrm>
            <a:off x="4434840" y="3851656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 컨테이너 자기 자신</a:t>
            </a:r>
          </a:p>
        </p:txBody>
      </p:sp>
      <p:sp>
        <p:nvSpPr>
          <p:cNvPr id="20" name="Cell"/>
          <p:cNvSpPr/>
          <p:nvPr/>
        </p:nvSpPr>
        <p:spPr>
          <a:xfrm>
            <a:off x="7543800" y="3851656"/>
            <a:ext cx="40233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아무것도 없다 → 내일은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mysql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이름으로 부른다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 연결 -p 가 하는 일 — 문을 이어 줍니다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컨테이너는 닫혀 있어서, -p 로 열어 준 문으로만 들어갈 수 있습니다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DataGrip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윈도우 프로그램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여기서 출발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우분투의 주소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D2Coding"/>
                <a:ea typeface="D2Coding"/>
                <a:cs typeface="D2Coding"/>
              </a:rPr>
              <a:t>wsl hostname -I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예: 172.21.x.x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우분투의 3306 문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run 의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D2Coding"/>
                <a:ea typeface="D2Coding"/>
                <a:cs typeface="D2Coding"/>
              </a:rPr>
              <a:t>-p 3306:3306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shop-mysql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컨테이너 안 MySQL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3306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우분투 주소 찾는 법 — 사람마다 숫자가 다릅니다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옆 사람 화면과 숫자가 달라도 정상입니다. 내 PC 의 우분투가 받은 주소를 직접 확인합니다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PowerShell 에서 wsl hostname -I   (또는 Ubuntu · IntelliJ 터미널에서 hostname -I)</a:t>
            </a:r>
          </a:p>
        </p:txBody>
      </p:sp>
      <p:pic>
        <p:nvPicPr>
          <p:cNvPr id="10" name="Picture 9" descr="ip_wsl_host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2660904"/>
            <a:ext cx="9144000" cy="188031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DataGrip 접속 값 — Host 칸에 무엇을 넣나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만 상황에 따라 달라지고, 나머지 값은 항상 같습니다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DataGrip → Data Source Properties → General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569464"/>
            <a:ext cx="10972800" cy="324307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37160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윈도우에 MySQL 이 따로 없다면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Host: localhost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localhost 가 다른 곳으로 간다면, 우분투의 주소를 알아낸다 (PowerShell)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wsl hostname -I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172.21.112.234 172.17.0.1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첫 번째 주소를 Host 에 넣는다 (앞뒤에 공백이 끼지 않게)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Host: </a:t>
            </a:r>
            <a:r>
              <a:rPr sz="1400" b="0" i="0">
                <a:solidFill>
                  <a:srgbClr val="334155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172.21.112.234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나머지는 항상 같다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Port: 3306   User: root   Password: shop1234   Database: shop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DataGrip 이 안 붙을 때 — 확인 순서 네 가지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앞에서부터 하나씩 확인합니다. 대부분 첫 두 개에서 원인이 나옵니다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822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</a:p>
        </p:txBody>
      </p:sp>
      <p:sp>
        <p:nvSpPr>
          <p:cNvPr id="10" name="Cell"/>
          <p:cNvSpPr/>
          <p:nvPr/>
        </p:nvSpPr>
        <p:spPr>
          <a:xfrm>
            <a:off x="141732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확인할 것</a:t>
            </a:r>
          </a:p>
        </p:txBody>
      </p:sp>
      <p:sp>
        <p:nvSpPr>
          <p:cNvPr id="11" name="Cell"/>
          <p:cNvSpPr/>
          <p:nvPr/>
        </p:nvSpPr>
        <p:spPr>
          <a:xfrm>
            <a:off x="4160520" y="209397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어디서 · 무엇을</a:t>
            </a:r>
          </a:p>
        </p:txBody>
      </p:sp>
      <p:sp>
        <p:nvSpPr>
          <p:cNvPr id="12" name="Cell"/>
          <p:cNvSpPr/>
          <p:nvPr/>
        </p:nvSpPr>
        <p:spPr>
          <a:xfrm>
            <a:off x="8366759" y="2093976"/>
            <a:ext cx="3200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이렇게 나오면 정상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2569464"/>
            <a:ext cx="822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14" name="Cell"/>
          <p:cNvSpPr/>
          <p:nvPr/>
        </p:nvSpPr>
        <p:spPr>
          <a:xfrm>
            <a:off x="14173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 가 떠 있나</a:t>
            </a:r>
          </a:p>
        </p:txBody>
      </p:sp>
      <p:sp>
        <p:nvSpPr>
          <p:cNvPr id="15" name="Cell"/>
          <p:cNvSpPr/>
          <p:nvPr/>
        </p:nvSpPr>
        <p:spPr>
          <a:xfrm>
            <a:off x="4160520" y="256946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우분투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</a:p>
        </p:txBody>
      </p:sp>
      <p:sp>
        <p:nvSpPr>
          <p:cNvPr id="16" name="Cell"/>
          <p:cNvSpPr/>
          <p:nvPr/>
        </p:nvSpPr>
        <p:spPr>
          <a:xfrm>
            <a:off x="8366759" y="2569464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shop-mysql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이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Up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044952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8" name="Cell"/>
          <p:cNvSpPr/>
          <p:nvPr/>
        </p:nvSpPr>
        <p:spPr>
          <a:xfrm>
            <a:off x="141732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가 맞나</a:t>
            </a:r>
          </a:p>
        </p:txBody>
      </p:sp>
      <p:sp>
        <p:nvSpPr>
          <p:cNvPr id="19" name="Cell"/>
          <p:cNvSpPr/>
          <p:nvPr/>
        </p:nvSpPr>
        <p:spPr>
          <a:xfrm>
            <a:off x="4160520" y="3044952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PowerShell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wsl hostname -I</a:t>
            </a:r>
          </a:p>
        </p:txBody>
      </p:sp>
      <p:sp>
        <p:nvSpPr>
          <p:cNvPr id="20" name="Cell"/>
          <p:cNvSpPr/>
          <p:nvPr/>
        </p:nvSpPr>
        <p:spPr>
          <a:xfrm>
            <a:off x="8366759" y="3044952"/>
            <a:ext cx="3200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첫 주소가 Host 와 같다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3520440"/>
            <a:ext cx="822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22" name="Cell"/>
          <p:cNvSpPr/>
          <p:nvPr/>
        </p:nvSpPr>
        <p:spPr>
          <a:xfrm>
            <a:off x="1417320" y="3520440"/>
            <a:ext cx="27432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윈도우가 3306 을 잡고 있나</a:t>
            </a:r>
          </a:p>
        </p:txBody>
      </p:sp>
      <p:sp>
        <p:nvSpPr>
          <p:cNvPr id="23" name="Cell"/>
          <p:cNvSpPr/>
          <p:nvPr/>
        </p:nvSpPr>
        <p:spPr>
          <a:xfrm>
            <a:off x="4160520" y="3520440"/>
            <a:ext cx="42062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PowerShell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Get-NetTCPConnection -LocalPort 3306 -State Listen</a:t>
            </a:r>
          </a:p>
        </p:txBody>
      </p:sp>
      <p:sp>
        <p:nvSpPr>
          <p:cNvPr id="24" name="Cell"/>
          <p:cNvSpPr/>
          <p:nvPr/>
        </p:nvSpPr>
        <p:spPr>
          <a:xfrm>
            <a:off x="8366759" y="3520440"/>
            <a:ext cx="32004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아무것도 안 나오면 정상 (나오면 localhost 대신 IP)</a:t>
            </a:r>
          </a:p>
        </p:txBody>
      </p:sp>
      <p:sp>
        <p:nvSpPr>
          <p:cNvPr id="25" name="Cell"/>
          <p:cNvSpPr/>
          <p:nvPr/>
        </p:nvSpPr>
        <p:spPr>
          <a:xfrm>
            <a:off x="594360" y="4161536"/>
            <a:ext cx="8229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</a:p>
        </p:txBody>
      </p:sp>
      <p:sp>
        <p:nvSpPr>
          <p:cNvPr id="26" name="Cell"/>
          <p:cNvSpPr/>
          <p:nvPr/>
        </p:nvSpPr>
        <p:spPr>
          <a:xfrm>
            <a:off x="1417320" y="4161536"/>
            <a:ext cx="274320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계정 · DB 이름</a:t>
            </a:r>
          </a:p>
        </p:txBody>
      </p:sp>
      <p:sp>
        <p:nvSpPr>
          <p:cNvPr id="27" name="Cell"/>
          <p:cNvSpPr/>
          <p:nvPr/>
        </p:nvSpPr>
        <p:spPr>
          <a:xfrm>
            <a:off x="4160520" y="4161536"/>
            <a:ext cx="420624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User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root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· 비밀번호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shop1234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· Database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</a:t>
            </a:r>
          </a:p>
        </p:txBody>
      </p:sp>
      <p:sp>
        <p:nvSpPr>
          <p:cNvPr id="28" name="Cell"/>
          <p:cNvSpPr/>
          <p:nvPr/>
        </p:nvSpPr>
        <p:spPr>
          <a:xfrm>
            <a:off x="8366759" y="4161536"/>
            <a:ext cx="320040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Access denied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면 비밀번호부터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정리 — 오늘은 '읽고 확인하는' 하루였습니다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D10 상품①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코드를 적게 짜고, 원리를 많이 확인한 하루였습니다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11887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교시</a:t>
            </a:r>
          </a:p>
        </p:txBody>
      </p:sp>
      <p:sp>
        <p:nvSpPr>
          <p:cNvPr id="10" name="Cell"/>
          <p:cNvSpPr/>
          <p:nvPr/>
        </p:nvSpPr>
        <p:spPr>
          <a:xfrm>
            <a:off x="1783080" y="2093976"/>
            <a:ext cx="7772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것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2" name="Cell"/>
          <p:cNvSpPr/>
          <p:nvPr/>
        </p:nvSpPr>
        <p:spPr>
          <a:xfrm>
            <a:off x="1783080" y="2569464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 관련 파일 여섯 개를 읽고 구조를 확인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1188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14" name="Cell"/>
          <p:cNvSpPr/>
          <p:nvPr/>
        </p:nvSpPr>
        <p:spPr>
          <a:xfrm>
            <a:off x="1783080" y="3044952"/>
            <a:ext cx="7772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등록·조회를 직접 호출, 검증도 회원과 동일함을 확인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16" name="Cell"/>
          <p:cNvSpPr/>
          <p:nvPr/>
        </p:nvSpPr>
        <p:spPr>
          <a:xfrm>
            <a:off x="1783080" y="3520440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★ 수정(변경 감지)·삭제·검색(URL 인코딩 함정)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1188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18" name="Cell"/>
          <p:cNvSpPr/>
          <p:nvPr/>
        </p:nvSpPr>
        <p:spPr>
          <a:xfrm>
            <a:off x="1783080" y="3995928"/>
            <a:ext cx="7772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@Transactional 정리 · 이미 있는 화면 확인 · 면접 질문 · 내일 예고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