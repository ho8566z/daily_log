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6447" autoAdjust="0"/>
  </p:normalViewPr>
  <p:slideViewPr>
    <p:cSldViewPr snapToGrid="0" snapToObjects="1">
      <p:cViewPr varScale="1">
        <p:scale>
          <a:sx n="57" d="100"/>
          <a:sy n="57" d="100"/>
        </p:scale>
        <p:origin x="18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094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**안녕하세요. 추석 연휴 잘 보내셨나요. 오늘은 아홉째 날입니다.**</a:t>
            </a:r>
          </a:p>
          <a:p>
            <a:endParaRPr/>
          </a:p>
          <a:p>
            <a:r>
              <a:t>**오늘 배울 내용부터 말씀드릴게요. 로그인 상태를 '기억'하는 방법, 세션이냐 토큰이냐 중에서 세션 방식으로 확정했습니다.**</a:t>
            </a:r>
          </a:p>
          <a:p>
            <a:endParaRPr/>
          </a:p>
          <a:p>
            <a:r>
              <a:t>**오늘 먼저 `login()`, `matches()` 코드를 강사가 미리 준비해드린 걸 함께 열어봅니다.** 이 코드는 '이 아이디와 비밀번호가 맞는지'만 확인하고 끝나는 코드입니다. 로그인에 성공했다는 사실을, **그다음 요청에서도 서버가 계속 기억하게 만드는 부분이 아직 없죠.** 오늘 그 '기억하는 장치'를 여러분 손으로 직접 만들어 붙입니다.</a:t>
            </a:r>
          </a:p>
          <a:p>
            <a:endParaRPr/>
          </a:p>
          <a:p>
            <a:r>
              <a:t>**오늘 하루의 흐름입니다.** 오교시에는 왜 세션인지, 세션이 정확히 뭔지 개념부터 잡습니다. 육교시에는 `login()`에 직접 코드를 추가해서 세션을 저장합니다. 칠교시에는 지금 로그인한 사람이 누군지 확인하는 API와 로그아웃을 만듭니다. 팔교시에는 여러 사람이 동시에 로그인해도 서로 안 섞이는지 확인하고 마무리합니다.</a:t>
            </a:r>
          </a:p>
          <a:p>
            <a:endParaRPr/>
          </a:p>
          <a:p>
            <a:r>
              <a:t>**오늘도 코드를 많이 치지는 않습니다.** 대신 '서버가 어떻게 나를 기억하는가'라는 개념을 실제 쿠키를 주고받으며 눈으로 확인하는 데 시간을 씁니다.</a:t>
            </a:r>
          </a:p>
          <a:p>
            <a:endParaRPr/>
          </a:p>
          <a:p>
            <a:r>
              <a:t>**오늘까지 마치면, 회원 도메인의 핵심 흐름 하나가 완전히 마무리됩니다.** 회원가입(지난 시간, D8) → 로그인 확인과 상태 유지(오늘), **이 흐름이 다음 주부터 만들 상품 기능에서도 그대로 반복되는 뼈대**가 됩니다. 오늘이 회원 도메인의 사실상 마지막 날이라고 생각하시면 됩니다.</a:t>
            </a:r>
          </a:p>
          <a:p>
            <a:endParaRPr/>
          </a:p>
          <a:p>
            <a:r>
              <a:t>**돌아보면, 회원 도메인 전체가 결국 하나의 이야기였습니다.** '비밀번호를 안전하게 저장하고(지난 시간, D8), 그 비밀번호로 본인이 맞는지 확인하고, 확인된 사실을 잊지 않고 기억한다' — 이 세 가지가 합쳐져야 회원이라는 도메인이 가져야 할 최소한의 신뢰 관계가 완성됩니다. **앞의 두 가지는 오늘 5교시에 코드로 먼저 확인하고, 마지막 '기억하기'는 오늘 여러분이 직접 만듭니다.**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**오늘 하루를 그림으로 보여드립니다.**</a:t>
            </a:r>
          </a:p>
          <a:p>
            <a:endParaRPr/>
          </a:p>
          <a:p>
            <a:r>
              <a:t>**첫 칸, 세션 방식을 확정하고 개념을 잡습니다.** 왜 세션인지, 세션이 뭔지 먼저 정리합니다.</a:t>
            </a:r>
          </a:p>
          <a:p>
            <a:endParaRPr/>
          </a:p>
          <a:p>
            <a:r>
              <a:t>**둘째 칸, `login()`에 세션 저장 코드를 추가합니다.** 로그인에 성공하면 서버가 '이 사람을 기억하겠다'고 표시해두는 코드입니다.</a:t>
            </a:r>
          </a:p>
          <a:p>
            <a:endParaRPr/>
          </a:p>
          <a:p>
            <a:r>
              <a:t>**셋째 칸, `/me`와 `/logout`을 만듭니다.** 지금 로그인한 사람이 누구인지 물어보는 API와, 그 기억을 지우는 API입니다.</a:t>
            </a:r>
          </a:p>
          <a:p>
            <a:endParaRPr/>
          </a:p>
          <a:p>
            <a:r>
              <a:t>**넷째 칸, 여러 사람이 동시에 로그인해도 서로의 정보가 안 섞이는지 확인합니다.** 오늘의 결론이자, 세션이라는 개념의 핵심이기도 합니다.</a:t>
            </a:r>
          </a:p>
          <a:p>
            <a:endParaRPr/>
          </a:p>
          <a:p>
            <a:r>
              <a:t>**이 네 칸이 순서대로 이어진다는 것도 기억해두세요.** 개념(5교시)을 모르면 코드(6교시)가 왜 그렇게 생겼는지 이해가 안 되고, 저장(6교시)을 안 해두면 확인(7교시)할 게 없고, 확인(7교시)이 안 되면 독립성(8교시)도 검증할 수 없습니다. **오늘은 앞 교시가 다음 교시의 재료가 되는 하루**입니다.</a:t>
            </a:r>
          </a:p>
          <a:p>
            <a:endParaRPr/>
          </a:p>
          <a:p>
            <a:r>
              <a:t>**오늘 그림을 계속 다시 보여드리는 이유가 있습니다.** 세션이라는 개념은 **손으로 코드를 치는 동작보다, 머릿속에서 흐름을 그려낼 수 있는지가 훨씬 중요**합니다. 코드 자체는 몇 줄 안 되지만, **그 몇 줄이 이 네 칸 그림 중 어디에 해당하는지 항상 짝지어서 기억**해두시면 오늘 하루가 훨씬 오래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**오늘 다루는 내용은 완전히 처음부터 함께 만들어보는 개념입니다. 차근차근 가겠습니다.**</a:t>
            </a:r>
          </a:p>
          <a:p>
            <a:endParaRPr/>
          </a:p>
          <a:p>
            <a:r>
              <a:t>**먼저 아주 기본적인 사실 하나부터 짚고 갑니다. HTTP는 원래 '기억을 못 하는' 통신 방식입니다.** 여러분이 방금 로그인에 성공했다고 해도, **바로 다음 요청을 보내면 서버는 여러분이 누구인지 다시 모릅니다.** 매 요청이 완전히 독립된, 서로 남남인 대화이기 때문입니다.</a:t>
            </a:r>
          </a:p>
          <a:p>
            <a:endParaRPr/>
          </a:p>
          <a:p>
            <a:r>
              <a:t>**이걸 어려운 말로 '무상태(stateless)'라고 부릅니다.** 상태(state) 즉 '방금 무슨 일이 있었는지'를 서버가 유지(저장)하지 않는다(less)는 뜻입니다. 서버 입장에서는 **요청 하나하나가 완전히 새로 걸려온 전화**와 같습니다 — 방금 전 통화 내용을 전혀 기억 못 하는 사람과 통화하는 것과 비슷합니다.</a:t>
            </a:r>
          </a:p>
          <a:p>
            <a:endParaRPr/>
          </a:p>
          <a:p>
            <a:r>
              <a:t>**직접 떠올려볼까요.** 지난 시간(D8)에 만든 회원가입·조회 API를 생각해보세요. **로그인 API를 호출해서 성공 응답을 받아도, 그다음에 다른 API를 호출하면 서버는 방금 그 사람이 로그인했다는 사실을 전혀 모릅니다.** 코드 어디에도 '이 사람을 기억해둬라'는 부분이 아직 없기 때문입니다.</a:t>
            </a:r>
          </a:p>
          <a:p>
            <a:endParaRPr/>
          </a:p>
          <a:p>
            <a:r>
              <a:t>**그래서 문제가 생깁니다.** 온라인 쇼핑몰에서 로그인했는데, 페이지를 하나 넘길 때마다 다시 로그인하라고 하면 아무도 그 사이트를 쓰지 않겠죠. **우리는 사용자가 한 번 로그인하면, 그 사실을 서버가 '기억'해주길 원합니다.**</a:t>
            </a:r>
          </a:p>
          <a:p>
            <a:endParaRPr/>
          </a:p>
          <a:p>
            <a:r>
              <a:t>**오늘 하루의 목표를 한 문장으로 요약하면 이겁니다 — 원래는 기억을 못 하는 HTTP 위에, '기억하는 장치'를 우리 손으로 직접 답니다.** 그 장치의 이름이 바로 오늘 배울 '세션'입니다.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**방금 확인한 문제(서버가 매 요청을 기억 못 함)를 푸는 방법은 크게 두 가지입니다. '세션'과 '토큰'입니다.**</a:t>
            </a:r>
          </a:p>
          <a:p>
            <a:endParaRPr/>
          </a:p>
          <a:p>
            <a:r>
              <a:t>**두 방법 모두, '이 사람이 로그인했다'는 증거를 다음 요청에 실어 보내는 건 똑같습니다.** 차이는 **그 증거를 어디에 보관하느냐**입니다.</a:t>
            </a:r>
          </a:p>
          <a:p>
            <a:endParaRPr/>
          </a:p>
          <a:p>
            <a:r>
              <a:t>**세션 방식은 서버가 직접 정보를 들고 있고, 클라이언트는 그 정보를 찾아갈 '번호표'만 들고 다닙니다.** 반면 **토큰 방식(JWT 등)은 정보 자체를 암호로 서명해서 클라이언트에게 통째로 들려 보냅니다.** 서버는 그 서명만 검증하면 되고, 따로 저장해둘 필요가 없습니다.</a:t>
            </a:r>
          </a:p>
          <a:p>
            <a:endParaRPr/>
          </a:p>
          <a:p>
            <a:r>
              <a:t>**오늘은 세션 방식으로 갑니다. 이유는 단순합니다.** 토큰 방식은 별도 라이브러리와 서명 생성·검증 로직이 추가로 필요합니다. **우리에게 남은 시간과 다음 주부터 시작될 배포 준비를 생각하면, 오늘은 가장 단순한 형태로 '로그인 상태 유지'라는 개념만 확실히 잡고 넘어가는 게 낫습니다.**</a:t>
            </a:r>
          </a:p>
          <a:p>
            <a:endParaRPr/>
          </a:p>
          <a:p>
            <a:r>
              <a:t>**둘 중 어느 게 '더 좋다'는 정답은 없습니다.** 실무에서는 서비스 특성에 따라 둘 다 흔히 씁니다. 오늘은 우리 상황(시간, 최소 복잡도)에 맞는 선택을 한 것뿐이라는 것도 함께 기억해두세요.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**세션을 비유로 정리하겠습니다.** 헬스장이나 수영장의 물품보관함을 떠올려보세요.</a:t>
            </a:r>
          </a:p>
          <a:p>
            <a:endParaRPr/>
          </a:p>
          <a:p>
            <a:r>
              <a:t>**로그인에 성공하면, 서버가 보관함 하나를 배정하고 번호표를 줍니다.** 이 번호표가 '세션 ID'입니다.</a:t>
            </a:r>
          </a:p>
          <a:p>
            <a:endParaRPr/>
          </a:p>
          <a:p>
            <a:r>
              <a:t>**보관함 안에는 '이 사람이 누구인지'에 대한 정보가 들어갑니다.** 오늘 우리 코드에서는 회원 `id` 하나만 넣을 거예요.</a:t>
            </a:r>
          </a:p>
          <a:p>
            <a:endParaRPr/>
          </a:p>
          <a:p>
            <a:r>
              <a:t>**그다음부터는, 여러분이 매번 이름표를 다시 보여줄 필요 없이 번호표만 내밀면 됩니다.** 서버는 번호표(세션 ID)를 보고 보관함을 열어서 '아, 이 사람이구나' 하고 알아봅니다. **다음 장에서 이 번호표가 실제로 어떻게 전달되는지 봅니다.**</a:t>
            </a:r>
          </a:p>
          <a:p>
            <a:endParaRPr/>
          </a:p>
          <a:p>
            <a:r>
              <a:t>**이 비유에서 중요한 포인트가 하나 더 있습니다. 보관함 안의 내용물(회원 정보 전체)을 매번 들고 다니는 게 아니라, 번호표 하나만 들고 다닌다는 것**입니다. 번호표(세션 ID) 자체는 아주 짧은 문자열이고, **진짜 정보는 서버 쪽 보관함 안에 안전하게 남아 있습니다.** 그래서 세션 ID가 노출돼도, 그 자체로는 아무 의미 없는 문자열처럼 보입니다 — 서버만이 그 번호와 보관함을 연결할 수 있으니까요.</a:t>
            </a:r>
          </a:p>
          <a:p>
            <a:endParaRPr/>
          </a:p>
          <a:p>
            <a:r>
              <a:t>**비유를 하나 더 붙여볼게요. 물품보관함 번호표를 잃어버리면 어떻게 될까요?** 관리인(서버)에게 가서 다시 확인받아야 하죠. **로그인 창이 다시 뜨는 것도 똑같은 이치**입니다 — 쿠키(번호표)가 없어지거나 만료되면, 서버는 '누구신지 다시 확인해주세요'라고 요구할 수밖에 없습니다.</a:t>
            </a:r>
          </a:p>
          <a:p>
            <a:endParaRPr/>
          </a:p>
          <a:p>
            <a:r>
              <a:t>**브라우저의 '시크릿 모드(비공개 모드)'로 로그인 사이트를 여시면 항상 로그아웃 상태로 시작하는 이유도 이 비유로 설명됩니다.** 시크릿 모드는 **매번 새 쿠키 저장소로 시작**하니까요. 번호표를 아예 안 가진 채로 들어가는 셈이라, 서버 입장에서는 처음 오신 분과 똑같이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**아까 번호표라고 비유했던 세션 ID, 실제로는 '쿠키'라는 형태로 브라우저와 서버 사이를 오갑니다.**</a:t>
            </a:r>
          </a:p>
          <a:p>
            <a:endParaRPr/>
          </a:p>
          <a:p>
            <a:r>
              <a:t>**로그인에 성공하면, 서버가 세션을 하나 만들고, 그 ID를 `JSESSIONID`라는 이름의 쿠키에 담아 응답에 실어 보냅니다.**</a:t>
            </a:r>
          </a:p>
          <a:p>
            <a:endParaRPr/>
          </a:p>
          <a:p>
            <a:r>
              <a:t>**브라우저는 이 쿠키를 저장해뒀다가, 같은 서버로 보내는 다음 요청마다 자동으로 동봉합니다.** 우리가 따로 신경 쓸 필요가 없어요 — **브라우저가 알아서 해주는 부분**입니다.</a:t>
            </a:r>
          </a:p>
          <a:p>
            <a:endParaRPr/>
          </a:p>
          <a:p>
            <a:r>
              <a:t>**서버는 요청에 실려온 `JSESSIONID`를 보고, 그 번호에 해당하는 보관함(세션)을 찾아서 '누구인지'를 알아냅니다.** 오늘 우리는 `curl`로 이 과정을 직접 재현해볼 겁니다 — 브라우저 대신 `-c`, `-b` 옵션으로 쿠키를 다뤄보면서요.</a:t>
            </a:r>
          </a:p>
          <a:p>
            <a:endParaRPr/>
          </a:p>
          <a:p>
            <a:r>
              <a:t>**`JSESSIONID`라는 이름 자체도 짚어드릴게요.** 자바 진영(Tomcat 같은 서블릿 컨테이너)에서 세션 쿠키에 기본으로 쓰는 이름입니다. **다른 언어·프레임워크는 이름이 다를 수 있습니다**(예: PHP는 `PHPSESSID`). 이름은 달라도, **'로그인 시 쿠키로 번호표를 주고받는다'는 원리 자체는 거의 모든 웹 프레임워크에서 똑같습니다.**</a:t>
            </a:r>
          </a:p>
          <a:p>
            <a:endParaRPr/>
          </a:p>
          <a:p>
            <a:r>
              <a:t>**쿠키가 오가는 방향도 정확히 짚고 갈게요.** 서버 → 브라우저 방향은 응답 헤더의 `Set-Cookie`, **브라우저 → 서버 방향은 요청 헤더의 `Cookie`**입니다. 이름이 비슷해서 자주 헷갈리는데, **'Set'이 붙으면 서버가 새로 보내는 것, 그냥 `Cookie`면 브라우저가 갖고 있던 걸 실어 보내는 것**이라고 구분하시면 됩니다.</a:t>
            </a:r>
          </a:p>
          <a:p>
            <a:endParaRPr/>
          </a:p>
          <a:p>
            <a:r>
              <a:t>**정리하면 이렇습니다. 로그인 응답에는 `Set-Cookie`가 한 번 나오고, 그 이후의 모든 요청에는 `Cookie`가 계속 실립니다.** 처음 한 번만 발급받고, **그 뒤로는 계속 같은 번호표를 제시하는 구조**라는 걸 기억해두시면, 다음 장에서 직접 헤더를 눈으로 확인하실 때 훨씬 이해가 빠르실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**세션이 정확히 어디에 저장되는지도 짚고 갈게요.** 오늘 우리가 `session.setAttribute(...)`로 넣는 값은, **DB 테이블이 아니라 서버(자바 프로세스)의 메모리 안에 저장됩니다.**</a:t>
            </a:r>
          </a:p>
          <a:p>
            <a:endParaRPr/>
          </a:p>
          <a:p>
            <a:r>
              <a:t>**그래서 빠릅니다.** 매번 DB를 조회할 필요 없이, 메모리에서 바로 꺼내 쓰니까요.</a:t>
            </a:r>
          </a:p>
          <a:p>
            <a:endParaRPr/>
          </a:p>
          <a:p>
            <a:r>
              <a:t>**대신 단점도 있습니다. 서버(자바 프로세스)를 재시작하면, 메모리에 있던 세션이 전부 사라집니다.** 지난 시간에 배운 `ddl-auto: create-drop`과는 또 다른 이유로, **오늘도 재시작하면 로그인 상태가 초기화된다는 것**, 기억해두세요.</a:t>
            </a:r>
          </a:p>
          <a:p>
            <a:endParaRPr/>
          </a:p>
          <a:p>
            <a:r>
              <a:t>**서비스 규모가 커지면 세션을 DB나 별도 저장소(Redis 등)에 두기도 하는데, 오늘은 기본값 그대로, 가장 단순한 메모리 저장 방식으로 갑니다.**</a:t>
            </a:r>
          </a:p>
          <a:p>
            <a:endParaRPr/>
          </a:p>
          <a:p>
            <a:r>
              <a:t>**서버가 여러 대로 늘어나면(다음 학기 이후 배우실 내용) 이 '메모리 저장'이 골칫거리가 되기도 합니다.** A 서버에 로그인했는데 다음 요청이 B 서버로 가면, B 서버 메모리엔 그 세션이 없으니까요. 그래서 규모가 커진 서비스들이 세션을 Redis 같은 공용 저장소로 옮기는 겁니다. **오늘은 서버가 딱 한 대뿐이라 이 문제가 안 생기지만, 왜 그런 도구가 필요한지 이유는 미리 알아두시면 좋습니다.**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**오늘 다룰 API 세 개를 미리 보여드릴게요.**</a:t>
            </a:r>
          </a:p>
          <a:p>
            <a:endParaRPr/>
          </a:p>
          <a:p>
            <a:r>
              <a:t>**`POST /api/users/login`은 강사가 미리 만들어 배포해뒀습니다.** 오늘은 이 코드에 딱 한 부분, **로그인 성공 시 세션에 정보를 저장하는 부분만 직접 추가**합니다.</a:t>
            </a:r>
          </a:p>
          <a:p>
            <a:endParaRPr/>
          </a:p>
          <a:p>
            <a:r>
              <a:t>**`GET /api/users/me`는 오늘 새로 만듭니다.** 지금 이 쿠키를 들고 온 사람이 로그인한 상태인지, 로그인했다면 누구인지 알려주는 API입니다.</a:t>
            </a:r>
          </a:p>
          <a:p>
            <a:endParaRPr/>
          </a:p>
          <a:p>
            <a:r>
              <a:t>**`POST /api/users/logout`도 오늘 새로 만듭니다.** 세션을 지워서, 로그인 상태를 끝냅니다.</a:t>
            </a:r>
          </a:p>
          <a:p>
            <a:endParaRPr/>
          </a:p>
          <a:p>
            <a:r>
              <a:t>**세 API 모두 오늘 코드로 확인하고, 실제로 `curl`로 눌러본 결과까지 함께 봅니다.**</a:t>
            </a:r>
          </a:p>
          <a:p>
            <a:endParaRPr/>
          </a:p>
          <a:p>
            <a:r>
              <a:t>**세 API의 HTTP 메서드도 미리 눈여겨보세요.** `login`과 `logout`은 **상태를 바꾸는 동작**이라 `POST`를 쓰고, `me`는 **그냥 조회**라서 `GET`을 씁니다. 지난 시간까지 배우신 '무엇을 하느냐에 따라 메서드를 고른다'는 규칙이, 오늘 만드실 API에도 그대로 적용됩니다.</a:t>
            </a:r>
          </a:p>
          <a:p>
            <a:endParaRPr/>
          </a:p>
          <a:p>
            <a:r>
              <a:t>**URL 경로도 미리 눈에 익혀두세요.** 셋 다 `/api/users` 아래에 있습니다 — `/api/users/login`, `/api/users/me`, `/api/users/logout`. **지난 시간까지 만든 `/api/users`(회원가입·조회) 그룹 안에, 오늘 세 개가 자연스럽게 추가되는 것**뿐입니다. 완전히 새로운 경로 체계를 배우는 게 아니에요.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**로그인한 채로 컴퓨터를 켜두고 한참 자리를 비웠다가 돌아오면, 로그아웃되어 있던 경험 있으실 거예요. 이것도 오늘 배우는 세션과 관련이 있습니다.**</a:t>
            </a:r>
          </a:p>
          <a:p>
            <a:endParaRPr/>
          </a:p>
          <a:p>
            <a:r>
              <a:t>**서버는 일정 시간 동안 그 세션으로 아무 요청도 안 오면, '이 사람은 이제 안 쓰는구나' 판단하고 세션을 자동으로 지웁니다.** 이걸 세션 타임아웃이라고 부릅니다. **스프링의 기본값은 30분**입니다.</a:t>
            </a:r>
          </a:p>
          <a:p>
            <a:endParaRPr/>
          </a:p>
          <a:p>
            <a:r>
              <a:t>**오늘은 이 값을 직접 바꾸는 설정까지는 다루지 않습니다.** 다만 **'로그아웃을 안 눌러도, 언젠가는 자동으로 로그인이 풀린다'는 사실**만 알아두시면, 나중에 관련 설정을 만나셨을 때 훨씬 빨리 이해하실 수 있을 거예요.</a:t>
            </a:r>
          </a:p>
          <a:p>
            <a:endParaRPr/>
          </a:p>
          <a:p>
            <a:r>
              <a:t>**은행 앱이 유독 로그인 유지 시간이 짧게 느껴지는 이유도 이 설정값 때문입니다.** 금융 서비스는 **보안을 위해 세션 타임아웃을 일부러 짧게(몇 분 단위로) 잡아두는 경우가 많습니다.** 반대로 잘 안 쓰는 커뮤니티 사이트는 꽤 오래 로그인이 유지되기도 하죠 — 서비스 성격에 따라 이 숫자를 다르게 정한다는 것도 알아두시면 좋습니다.</a:t>
            </a:r>
          </a:p>
          <a:p>
            <a:endParaRPr/>
          </a:p>
          <a:p>
            <a:r>
              <a:t>**이 값도 결국 하나의 '트레이드오프(장단점의 교환)'입니다.** 타임아웃을 짧게 잡으면 안전하지만 이용자가 자주 다시 로그인해야 해서 불편해지고, 길게 잡으면 편하지만 쿠키가 유출됐을 때 위험이 더 오래갑니다. **정답은 없고, 서비스의 성격에 맞게 균형을 잡는 값**이라는 걸 기억해두세요.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**강사가 오늘 수업 전에 미리 코드를 끝까지 만들어서 확인해둔 화면입니다. `user-controller` 아래를 보시면, `POST /api/users`(회원가입), `POST /api/users/logout`, `POST /api/users/login` 같은 API들이 보이죠.**</a:t>
            </a:r>
          </a:p>
          <a:p>
            <a:endParaRPr/>
          </a:p>
          <a:p>
            <a:r>
              <a:t>**여러분은 오늘 육교시부터 이 API들을 하나씩 직접 만들어가시게 됩니다.** 지금은 '오늘 목표가 이거구나' 하고 미리 눈에 익혀두시면 됩니다.</a:t>
            </a:r>
          </a:p>
          <a:p>
            <a:endParaRPr/>
          </a:p>
          <a:p>
            <a:r>
              <a:t>**Swagger 화면에 새 API가 추가되는 걸 보시면, 실감이 나실 거예요.** 지금까지 네 개였던 `user-controller`의 API가, 오늘 끝나면 여섯 개가 되어 있을 겁니다.</a:t>
            </a:r>
          </a:p>
          <a:p>
            <a:endParaRPr/>
          </a:p>
          <a:p>
            <a:r>
              <a:t>**Swagger 화면이 이렇게 API 목록을 자동으로 보여주는 이유도 잠깐 짚을게요.** 우리가 컨트롤러에 `@GetMapping`, `@PostMapping` 같은 어노테이션을 붙여두면, **springdoc이라는 라이브러리가 그 정보를 읽어서 이 화면을 자동으로 만들어줍니다.** 우리가 API 문서를 따로 손으로 적을 필요가 없는 거예요 — 코드가 곧 문서가 되는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**아까 캡처 화면에서 보셨던 `JSESSIONID` 값, `D07AF244D2DD2ECB1EAEB822C80ECFE8`처럼 길고 무작위한 문자열이었죠. 이게 우연이 아닙니다.**</a:t>
            </a:r>
          </a:p>
          <a:p>
            <a:endParaRPr/>
          </a:p>
          <a:p>
            <a:r>
              <a:t>**만약 세션 ID가 `1`, `2`, `3`처럼 순서대로 매겨졌다면 어떨까요?** 로그인 안 한 사람도 **아무 숫자나 넣어보면서 '혹시 이게 누군가의 로그인 상태 아닐까' 시도할 수 있습니다.** 이걸 막으려면 **세션 ID가 충분히 길고, 규칙 없이 무작위**여야 합니다.</a:t>
            </a:r>
          </a:p>
          <a:p>
            <a:endParaRPr/>
          </a:p>
          <a:p>
            <a:r>
              <a:t>**다행히 이건 우리가 신경 쓸 필요가 없습니다.** 스프링(정확히는 Tomcat이라는 서버 프로그램)이 `getSession()`을 호출할 때마다, **이미 충분히 안전한 무작위 값을 알아서 만들어줍니다.** 우리는 그 값을 어떻게 쓸지만 고민하면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[5교시]</a:t>
            </a:r>
          </a:p>
          <a:p>
            <a:endParaRPr/>
          </a:p>
          <a:p>
            <a:r>
              <a:t>**오교시를 정리하겠습니다.**</a:t>
            </a:r>
          </a:p>
          <a:p>
            <a:endParaRPr/>
          </a:p>
          <a:p>
            <a:r>
              <a:t>**세션 방식으로 확정했고, 그 이유(HTTP가 원래 기억을 못 한다는 문제, 최소 복잡도)도 짚었습니다.**</a:t>
            </a:r>
          </a:p>
          <a:p>
            <a:endParaRPr/>
          </a:p>
          <a:p>
            <a:r>
              <a:t>**세션은 서버 메모리에 저장되고, 그 열쇠(세션 ID)는 `JSESSIONID`라는 쿠키에 담겨 브라우저와 서버 사이를 오간다는 것도 확인했습니다.**</a:t>
            </a:r>
          </a:p>
          <a:p>
            <a:endParaRPr/>
          </a:p>
          <a:p>
            <a:r>
              <a:t>**남은 시간 동안 하실 일입니다.**</a:t>
            </a:r>
          </a:p>
          <a:p>
            <a:endParaRPr/>
          </a:p>
          <a:p>
            <a:r>
              <a:t>**첫째, 오늘 만들 세 API(`login`, `me`, `logout`)의 역할을 각자 한 문장씩 말해보세요.**</a:t>
            </a:r>
          </a:p>
          <a:p>
            <a:endParaRPr/>
          </a:p>
          <a:p>
            <a:r>
              <a:t>**둘째, '세션 ID'와 '쿠키'라는 두 단어의 관계를 스스로 설명해보세요. 번호표와 보관함 비유를 떠올리시면 됩니다.**</a:t>
            </a:r>
          </a:p>
          <a:p>
            <a:endParaRPr/>
          </a:p>
          <a:p>
            <a:r>
              <a:t>**육교시에 만납니다. 이제부터 직접 코드를 만집니다.**</a:t>
            </a:r>
          </a:p>
          <a:p>
            <a:endParaRPr/>
          </a:p>
          <a:p>
            <a:r>
              <a:t>**셋째, 오늘 처음 나오는 단어들(세션, 쿠키, `HttpSession`)을 입으로 한 번씩 소리 내어 말해보세요.** 낯선 용어는 눈으로만 보고 넘기면 금방 잊어버립니다. **입으로 소리 내어 말해보는 것만으로도 기억에 훨씬 오래 남는다는 걸, 지금까지 여러 날 겪어보셨을 거예요.**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**육교시 시작합니다. 강사가 미리 만들어 배포해둔 `login()` 메서드를 `UserController.java`에서 함께 열어보겠습니다.**</a:t>
            </a:r>
          </a:p>
          <a:p>
            <a:endParaRPr/>
          </a:p>
          <a:p>
            <a:r>
              <a:t>**아이디·비밀번호를 받아서 `userService.login(...)`을 호출하고, 결과(`UserResponse`)를 그대로 돌려주는 코드입니다.** 지금까지는 여기까지였습니다 — **확인은 하지만, 기억은 안 합니다.**</a:t>
            </a:r>
          </a:p>
          <a:p>
            <a:endParaRPr/>
          </a:p>
          <a:p>
            <a:r>
              <a:t>**여기에 딱 몇 줄이 추가돼 있습니다.** 로그인이 성공한 바로 그 순간에, **'이 사람을 세션에 기억해두자'는 코드가 끼워 들어간 거예요.**</a:t>
            </a:r>
          </a:p>
          <a:p>
            <a:endParaRPr/>
          </a:p>
          <a:p>
            <a:r>
              <a:t>**메서드 이름도, 하는 일의 핵심(아이디·비밀번호 확인)도 그대로입니다.** 딱 '기억하기' 한 가지 역할만 추가된다는 것, 기억하고 시작하겠습니다.</a:t>
            </a:r>
          </a:p>
          <a:p>
            <a:endParaRPr/>
          </a:p>
          <a:p>
            <a:r>
              <a:t>**기존 코드를 지우고 다시 쓰는 게 아니라 '더하는' 방식으로 진행합니다.** 이미 있는 로직(아이디·비밀번호 확인)은 그대로 두고, **그 결과가 나온 바로 다음 줄에 새 코드를 끼워 넣는 것**뿐이에요. 이렇게 기존 코드를 최대한 건드리지 않고 기능을 더하는 습관은, 실무에서 버그를 줄이는 가장 기본적인 태도이기도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**세션을 쓰려면 `HttpServletRequest`라는 객체가 필요합니다. 이름이 길고 낯설어 보이지만, 하는 일은 단순합니다.**</a:t>
            </a:r>
          </a:p>
          <a:p>
            <a:endParaRPr/>
          </a:p>
          <a:p>
            <a:r>
              <a:t>**말 그대로 '지금 들어온 이 요청 자체'를 표현하는 객체**입니다. 요청 헤더, 쿠키, 그리고 오늘 쓸 세션까지, **이 요청과 관련된 정보는 전부 여기서 꺼낼 수 있습니다.**</a:t>
            </a:r>
          </a:p>
          <a:p>
            <a:endParaRPr/>
          </a:p>
          <a:p>
            <a:r>
              <a:t>**받는 방법도 간단합니다.** 컨트롤러 메서드의 파라미터 자리에 `HttpServletRequest request`를 그냥 추가하면, **스프링이 알아서 지금 요청 객체를 넣어줍니다.** 지난 시간에 `@RequestBody`로 본문을 받았던 것과 비슷한 원리예요 — **필요한 타입을 파라미터에 적어두면 스프링이 채워주는 패턴**입니다.</a:t>
            </a:r>
          </a:p>
          <a:p>
            <a:endParaRPr/>
          </a:p>
          <a:p>
            <a:r>
              <a:t>**이 패턴에는 이름도 있습니다. '의존성 주입(Dependency Injection)'이라고 부르는데, 이번 주 내내 여러분이 계속 써오신 방식**입니다. `UserService`를 생성자로 받았던 것, `PasswordEncoder`를 받았던 것, **전부 같은 원리였어요.** 오늘은 그 대상이 우리가 직접 만든 클래스가 아니라, **스프링(서블릿 컨테이너)이 이미 만들어둔 `HttpServletRequest`라는 점만 다릅니다.**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**`request.getSession()`, 오늘 나올 코드 중 가장 중요한 한 줄입니다.**</a:t>
            </a:r>
          </a:p>
          <a:p>
            <a:endParaRPr/>
          </a:p>
          <a:p>
            <a:r>
              <a:t>**이 메서드는 '지금 이 요청에 딸린 세션을 가져오라'는 뜻입니다.** 만약 이 브라우저(또는 이 `curl` 요청)가 세션을 이미 갖고 있다면 그 세션을, **없다면 서버가 새 세션을 하나 만들어서 돌려줍니다.**</a:t>
            </a:r>
          </a:p>
          <a:p>
            <a:endParaRPr/>
          </a:p>
          <a:p>
            <a:r>
              <a:t>**아까 물품보관함 비유로 치면, '내 보관함을 줘, 없으면 하나 새로 배정해줘'라고 요청하는 것**과 같습니다.</a:t>
            </a:r>
          </a:p>
          <a:p>
            <a:endParaRPr/>
          </a:p>
          <a:p>
            <a:r>
              <a:t>**돌려받은 `HttpSession` 객체에, 우리가 원하는 정보(오늘은 회원 `id`)를 담으면 됩니다. 다음 장에서 직접 코드로 담아보겠습니다.**</a:t>
            </a:r>
          </a:p>
          <a:p>
            <a:endParaRPr/>
          </a:p>
          <a:p>
            <a:r>
              <a:t>**그래서 '세션이 있다'는 것과 '로그인이 됐다'는 것은 엄밀히 다른 이야기**입니다. 세션은 껍데기(보관함)만 먼저 만들어질 수 있고, **그 안에 `LOGIN_USER_ID`라는 값이 실제로 들어 있어야 비로소 '로그인된 상태'**라고 부를 수 있습니다. 이 구분이 칠교시에 만들 `/me`의 판단 로직에서 그대로 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**세션에 값을 넣기 전에, 작은 파일을 하나 먼저 만듭니다. `SessionConst.java`입니다.**</a:t>
            </a:r>
          </a:p>
          <a:p>
            <a:endParaRPr/>
          </a:p>
          <a:p>
            <a:r>
              <a:t>**세션에 값을 넣고 꺼낼 때는 '키(key) 이름'이 필요합니다.** 예를 들면 `"loginUserId"`처럼요. **이 문자열을 코드 여기저기서 직접 타이핑하면, 한 곳에서 오타가 나도 컴파일러가 못 잡아냅니다.** `"loginUserId"`와 `"loginUseId"`(오타)는 자바 입장에서 그냥 서로 다른 두 개의 문자열이니까요.</a:t>
            </a:r>
          </a:p>
          <a:p>
            <a:endParaRPr/>
          </a:p>
          <a:p>
            <a:r>
              <a:t>**그래서 상수(`static final`) 하나로 빼서, 코드 어디서든 `SessionConst.LOGIN_USER_ID`라고만 쓰기로 합니다.** 이러면 오타를 내면 그 자리에서 컴파일 에러가 납니다 — **지난 시간에 배운 '컴파일러가 못 잡는 실수'와는 정반대로, 이번엔 컴파일러가 잡아주는 안전장치**를 만든 거예요.</a:t>
            </a:r>
          </a:p>
          <a:p>
            <a:endParaRPr/>
          </a:p>
          <a:p>
            <a:r>
              <a:t>**이 상수는 오늘 세 곳(로그인, `/me`, 로그아웃)에서 전부 같이 씁니다.** 값을 넣을 때 쓴 이름표와, 꺼낼 때 쓴 이름표가 조금이라도 다르면 영원히 못 찾습니다. **한 곳에서 정의해두고 여러 곳에서 똑같이 참조하는 것**, 이게 상수를 쓰는 가장 큰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**`setAttribute`를 코드로 치기 전에, 이 메서드가 받는 두 개의 값을 정확히 짚고 가겠습니다.**</a:t>
            </a:r>
          </a:p>
          <a:p>
            <a:endParaRPr/>
          </a:p>
          <a:p>
            <a:r>
              <a:t>**첫 번째 자리는 '이름표(키)'입니다.** 나중에 이 값을 다시 꺼낼 때, **이 이름표를 보고 찾습니다.** 우리는 `SessionConst.LOGIN_USER_ID`(`"loginUserId"`)를 씁니다.</a:t>
            </a:r>
          </a:p>
          <a:p>
            <a:endParaRPr/>
          </a:p>
          <a:p>
            <a:r>
              <a:t>**두 번째 자리는 '물건(값)'입니다.** 오늘은 `user.getId()`, 즉 **방금 로그인한 회원의 숫자 id**를 넣습니다.</a:t>
            </a:r>
          </a:p>
          <a:p>
            <a:endParaRPr/>
          </a:p>
          <a:p>
            <a:r>
              <a:t>**보관함 하나에 이름표 하나, 물건 하나가 짝을 이룬다고 생각하시면 됩니다.** 나중에 필요하면 같은 세션에 다른 이름표로 또 다른 물건을 추가로 넣을 수도 있습니다 — 오늘은 딱 하나(회원 id)만 넣습니다.</a:t>
            </a:r>
          </a:p>
          <a:p>
            <a:endParaRPr/>
          </a:p>
          <a:p>
            <a:r>
              <a:t>**타이핑하실 때 오타를 특히 조심하셔야 할 부분이 `SessionConst.LOGIN_USER_ID`입니다.** 알파벳 대소문자, 언더스코어(`_`) 위치 하나만 틀려도 **완전히 다른 상수로 취급되거나, 아예 컴파일 에러가 납니다.** 직접 타이핑하기보다, 인텔리제이의 자동완성(코드 일부를 치고 Tab)을 활용하시면 오타를 줄이실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**완성된 코드입니다. 어떤 부분이 새로 들어갔는지 자세히 보겠습니다.**</a:t>
            </a:r>
          </a:p>
          <a:p>
            <a:endParaRPr/>
          </a:p>
          <a:p>
            <a:r>
              <a:t>**먼저 파라미터에 `HttpServletRequest request`가 추가됐습니다.** 지금까지는 `@RequestBody Map&lt;String, String&gt; body` 하나였는데, 오늘은 하나 더 늘어났습니다.</a:t>
            </a:r>
          </a:p>
          <a:p>
            <a:endParaRPr/>
          </a:p>
          <a:p>
            <a:r>
              <a:t>**로그인 확인은 그대로 두고, 그 아래 세 줄이 새로 붙었습니다.** `request.getSession()`으로 세션을 가져오고, **`session.setAttribute(SessionConst.LOGIN_USER_ID, user.getId())`로 회원 `id`를 세션에 저장**합니다.</a:t>
            </a:r>
          </a:p>
          <a:p>
            <a:endParaRPr/>
          </a:p>
          <a:p>
            <a:r>
              <a:t>**`setAttribute`는 '보관함에 물건을 넣는다'는 뜻으로 이해하시면 됩니다.** 첫 번째 자리는 물건에 붙일 이름표(키), 두 번째 자리는 넣을 물건(값)입니다.</a:t>
            </a:r>
          </a:p>
          <a:p>
            <a:endParaRPr/>
          </a:p>
          <a:p>
            <a:r>
              <a:t>**다음 장에서 이 코드가 실제로 실행된 결과를 확인해보겠습니다.**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**코드를 다 쓰셨으니, 잠깐 DB를 조회해서 오교시에 배운 내용을 다시 확인해보겠습니다.**</a:t>
            </a:r>
          </a:p>
          <a:p>
            <a:endParaRPr/>
          </a:p>
          <a:p>
            <a:r>
              <a:t>**`SHOW TABLES`로 우리 DB의 테이블 목록을 보면, `products`와 `users`만 보입니다. `session`이라는 테이블은 없습니다.**</a:t>
            </a:r>
          </a:p>
          <a:p>
            <a:endParaRPr/>
          </a:p>
          <a:p>
            <a:r>
              <a:t>**이게 바로 오교시에 말씀드렸던, '세션은 서버 메모리에 저장된다'는 내용의 증거입니다.** 우리가 곧 `session.setAttribute(...)`로 저장할 값은, **MySQL 어디에도 기록되지 않습니다.** 애플리케이션(자바 프로세스)이 꺼지면, 그 값도 같이 사라진다는 뜻이에요. 이제 실제로 코드를 실행해서 세션을 만들어보겠습니다.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**로그인 명령에 새로운 옵션이 하나 붙었습니다. `-c cookies.txt`.** 이건 **'서버가 응답으로 준 쿠키를, `cookies.txt`라는 파일에 저장해라'**는 뜻입니다.</a:t>
            </a:r>
          </a:p>
          <a:p>
            <a:endParaRPr/>
          </a:p>
          <a:p>
            <a:r>
              <a:t>**지금까지는 로그인 응답(회원 정보)만 봤는데, 오늘은 그 응답에 딸려오는 쿠키까지 같이 챙기는 거예요.** 이 쿠키 파일이, 앞으로 우리가 '로그인한 상태'를 유지하는 열쇠가 됩니다.</a:t>
            </a:r>
          </a:p>
          <a:p>
            <a:endParaRPr/>
          </a:p>
          <a:p>
            <a:r>
              <a:t>**본인 계정으로 직접 로그인해서 확인해보셔도 좋습니다.** 다음 장에서 실제 결과를 같이 보겠습니다.</a:t>
            </a:r>
          </a:p>
          <a:p>
            <a:endParaRPr/>
          </a:p>
          <a:p>
            <a:r>
              <a:t>**혹시 만드신 계정이 기억 안 나신다면, `GET /api/users`로 전체 목록을 먼저 조회해보세요.** 지난 시간에 배운 API가 오늘도 그대로 쓸모 있다는 걸 다시 확인하실 수 있을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**방금 로그인 요청의 실제 응답 화면입니다. 제 컴퓨터에서 직접 캡처했습니다.**</a:t>
            </a:r>
          </a:p>
          <a:p>
            <a:endParaRPr/>
          </a:p>
          <a:p>
            <a:r>
              <a:t>**`Set-Cookie: JSESSIONID=D07AF244D2DD2ECB1EAEB822C80ECFE8; Path=/; HttpOnly`, 이 줄을 보세요.** 이게 바로 **서버가 방금 만든 세션의 번호표(세션 ID)를, 쿠키 형태로 우리에게 건네주는 부분**입니다.</a:t>
            </a:r>
          </a:p>
          <a:p>
            <a:endParaRPr/>
          </a:p>
          <a:p>
            <a:r>
              <a:t>**아래쪽에는 지금까지와 똑같이 회원 정보(`UserResponse`)가 JSON으로 돌아옵니다.** 겉보기엔 이전 응답과 거의 비슷해 보이지만, **`Set-Cookie` 헤더가 새로 생겼다는 게 오늘의 핵심 변화**입니다.</a:t>
            </a:r>
          </a:p>
          <a:p>
            <a:endParaRPr/>
          </a:p>
          <a:p>
            <a:r>
              <a:t>**이 헤더는 우리가 코드로 직접 만든 게 아닙니다. `session.setAttribute(...)`를 호출하는 순간, 스프링이 알아서 이 헤더를 응답에 붙여줍니다.** 우리는 '기억해둬'라고만 했을 뿐인데, **그 기억을 상대방에게 전달하는 방법(쿠키)까지 스프링이 처리해준 것**입니다.</a:t>
            </a:r>
          </a:p>
          <a:p>
            <a:endParaRPr/>
          </a:p>
          <a:p>
            <a:r>
              <a:t>**`HttpOnly`라는 단어도 눈여겨보세요.** 이 쿠키를 **자바스크립트(브라우저 화면 쪽 코드)가 읽지 못하게 막는 표시**입니다. 오늘은 자세히 다루지 않지만, **혹시 웹페이지에 악성 스크립트가 끼어들어도 로그인 쿠키를 훔쳐가지 못하게 막는 기본적인 보호 장치**라는 정도만 알아두시면 됩니다. 스프링이 기본값으로 이미 켜둔 안전장치예요.</a:t>
            </a:r>
          </a:p>
          <a:p>
            <a:endParaRPr/>
          </a:p>
          <a:p>
            <a:r>
              <a:t>**이 화면 속 헤더 하나하나가, 사실 전부 스프링이 기본값으로 채워준 것들**입니다. `Path`, `HttpOnly`, 만료 시각까지 — **우리는 `session.setAttribute()` 한 줄만 호출했을 뿐인데, 이 모든 옵션이 안전한 기본값으로 자동 설정**됐습니다. 스프링이 왜 '기본값이 안전한' 프레임워크로 불리는지, 오늘 이 화면 하나로 체감하셨을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**혹시 궁금하실 것 같아 미리 답해드릴게요. 만약 `session.setAttribute(...)` 줄을 실수로 빼먹으면 어떻게 될까요?**</a:t>
            </a:r>
          </a:p>
          <a:p>
            <a:endParaRPr/>
          </a:p>
          <a:p>
            <a:r>
              <a:t>**`request.getSession()`까지는 정상적으로 실행돼서, 빈 세션이 하나 만들어지고 쿠키도 발급됩니다.** 겉으로는 로그인이 성공한 것처럼 보여요.</a:t>
            </a:r>
          </a:p>
          <a:p>
            <a:endParaRPr/>
          </a:p>
          <a:p>
            <a:r>
              <a:t>**하지만 그 세션 안에는 아무 정보도 없습니다.** 나중에 `/me`에서 `session.getAttribute(...)`로 꺼내려고 하면, **`null`이 나와서 결국 '로그인이 필요합니다' 에러**로 이어집니다. 지난 시간에 배운 것처럼, **이런 실수도 컴파일러는 못 잡아줍니다** — 문법적으로 완전히 정상인 코드니까요.</a:t>
            </a:r>
          </a:p>
          <a:p>
            <a:endParaRPr/>
          </a:p>
          <a:p>
            <a:r>
              <a:t>**이런 실수를 실제로 겪게 되면 당황스러울 수 있습니다. '로그인은 성공했다는데 왜 나를 못 알아보지?'** 이럴 때 확인하실 순서를 알려드릴게요. **첫째 `login()` 메서드에 `setAttribute` 줄이 있는지, 둘째 그 줄이 `if`문이나 예외 처리 바깥의 정상 흐름에 있는지, 셋째 재시작을 한 뒤 테스트했는지.** 이 세 가지만 순서대로 확인하면 대부분 해결됩니다.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**혹시 궁금하실 것 같아 짚고 갈게요. 왜 회원 정보 전체가 아니라, 숫자 하나(`id`)만 세션에 저장할까요?**</a:t>
            </a:r>
          </a:p>
          <a:p>
            <a:endParaRPr/>
          </a:p>
          <a:p>
            <a:r>
              <a:t>**첫째, 가볍습니다.** 세션은 서버 메모리에 쌓이는데, **로그인한 사람이 많아질수록 세션 하나하나가 무거우면 메모리를 많이 씁니다.** 숫자 하나는 거의 공간을 차지하지 않습니다.</a:t>
            </a:r>
          </a:p>
          <a:p>
            <a:endParaRPr/>
          </a:p>
          <a:p>
            <a:r>
              <a:t>**둘째, 더 중요한 이유입니다. 정보가 최신 상태로 유지됩니다.** 만약 회원 전체 정보를 세션에 통째로 저장해뒀는데, **그 사이에 이름을 바꾸셨다면 어떻게 될까요?** 세션 속 정보는 로그인했던 그 순간에 멈춰 있으니, **바뀐 이름이 반영이 안 됩니다.**</a:t>
            </a:r>
          </a:p>
          <a:p>
            <a:endParaRPr/>
          </a:p>
          <a:p>
            <a:r>
              <a:t>**`id`만 저장해두고, `/me`를 부를 때마다 `findById`로 다시 조회하면, 항상 그 순간의 최신 정보를 돌려줄 수 있습니다.** 오늘 우리 코드가 왜 이렇게 짜여 있는지, 이유가 있었던 거예요.</a:t>
            </a:r>
          </a:p>
          <a:p>
            <a:endParaRPr/>
          </a:p>
          <a:p>
            <a:r>
              <a:t>**이 원칙에 이름을 붙이자면 '진짜 정보는 한 곳(DB)에만 두고, 나머지는 그곳을 가리키는 열쇠만 들고 다닌다'**입니다. 세션 안의 `id`도, 로그인 시 받은 쿠키도, 전부 **진짜 데이터(회원 정보)가 아니라 그 데이터를 찾아가는 열쇠**일 뿐입니다. 오늘 배운 세션 전체를 관통하는 설계 철학이 바로 이것입니다.</a:t>
            </a:r>
          </a:p>
          <a:p>
            <a:endParaRPr/>
          </a:p>
          <a:p>
            <a:r>
              <a:t>**이 원칙을 한 문장으로 줄이면 '한 곳에 진실을(Single Source of Truth)'**이라고도 부릅니다. 회원 정보의 진짜 주인은 언제나 DB 하나뿐이고, **세션이든 쿠키든 그 진짜 정보를 잠깐 빌려 쓰는 사본이 아니라, 찾아가는 길잡이 역할만 한다는 것**을 오늘 코드로 직접 확인하신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[6교시]</a:t>
            </a:r>
          </a:p>
          <a:p>
            <a:endParaRPr/>
          </a:p>
          <a:p>
            <a:r>
              <a:t>**육교시를 정리하겠습니다.**</a:t>
            </a:r>
          </a:p>
          <a:p>
            <a:endParaRPr/>
          </a:p>
          <a:p>
            <a:r>
              <a:t>**`login()` 메서드에 딱 세 줄(`getSession`, `setAttribute`, 파라미터 추가)을 더했더니, 서버가 자동으로 `JSESSIONID` 쿠키를 발급했습니다.**</a:t>
            </a:r>
          </a:p>
          <a:p>
            <a:endParaRPr/>
          </a:p>
          <a:p>
            <a:r>
              <a:t>**우리는 '쿠키를 만들어라'는 코드를 한 줄도 안 썼습니다. 세션에 값을 넣는 순간, 스프링이 알아서 쿠키까지 처리해준다는 것도 확인했습니다.**</a:t>
            </a:r>
          </a:p>
          <a:p>
            <a:endParaRPr/>
          </a:p>
          <a:p>
            <a:r>
              <a:t>**뒤 시간 동안 하실 일입니다.**</a:t>
            </a:r>
          </a:p>
          <a:p>
            <a:endParaRPr/>
          </a:p>
          <a:p>
            <a:r>
              <a:t>**첫째, 본인 계정으로 다시 로그인해보고, `cookies.txt` 파일을 직접 열어서 `JSESSIONID` 값을 확인해보세요.**</a:t>
            </a:r>
          </a:p>
          <a:p>
            <a:endParaRPr/>
          </a:p>
          <a:p>
            <a:r>
              <a:t>**둘째, 같은 계정으로 로그인을 두 번 하면, 매번 `JSESSIONID` 값이 달라지는지도 확인해보세요.**</a:t>
            </a:r>
          </a:p>
          <a:p>
            <a:endParaRPr/>
          </a:p>
          <a:p>
            <a:r>
              <a:t>**칠교시에는 이 쿠키를 들고 가서, 서버에게 '저 누군지 아시죠?'라고 물어보는 `/me`를 만듭니다. 곧 뵙겠습니다.**</a:t>
            </a:r>
          </a:p>
          <a:p>
            <a:endParaRPr/>
          </a:p>
          <a:p>
            <a:r>
              <a:t>**셋째, 지금까지 본 코드 세 줄(`getSession`, `setAttribute`, 파라미터 추가)을 다른 사람에게 설명하듯 소리 내어 말해보세요.** '요청을 받아서, 세션을 가져오고, 거기에 회원 아이디를 저장한다' — 이렇게 한 문장으로 요약이 되신다면, 오늘 육교시 목표는 완전히 달성하신 겁니다.</a:t>
            </a:r>
          </a:p>
          <a:p>
            <a:endParaRPr/>
          </a:p>
          <a:p>
            <a:r>
              <a:t>**넷째, 오늘 만드신 `cookies.txt` 파일을 텍스트 편집기로 직접 열어서, 그 안의 값이 정확히 무슨 뜻인지 한 줄씩 짚어보세요.** 도메인, 경로, 만료 시각, 그리고 `JSESSIONID` 값까지 — **화면에 찍힌 결과를 그냥 넘기지 않고 한 번 더 들여다보는 습관**이, 오늘 배운 개념을 확실히 내 것으로 만드는 방법입니다.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**칠교시 시작합니다. 오늘 두 번째 API, `GET /api/users/me`를 만듭니다.**</a:t>
            </a:r>
          </a:p>
          <a:p>
            <a:endParaRPr/>
          </a:p>
          <a:p>
            <a:r>
              <a:t>**이 API가 하는 일을 한 문장으로 말하면, '지금 이 쿠키를 들고 온 사람이 누구인지 알려줘'입니다.**</a:t>
            </a:r>
          </a:p>
          <a:p>
            <a:endParaRPr/>
          </a:p>
          <a:p>
            <a:r>
              <a:t>**그림으로 보시죠. 요청이 오면, 먼저 세션이 있는지 확인합니다. 없으면 '로그인 안 하셨네요'라고 401을 돌려줍니다.**</a:t>
            </a:r>
          </a:p>
          <a:p>
            <a:endParaRPr/>
          </a:p>
          <a:p>
            <a:r>
              <a:t>**세션이 있으면, 그 안에 저장해둔 회원 `id`를 꺼냅니다. 육교시에 `setAttribute`로 넣어뒀던 바로 그 값이에요.**</a:t>
            </a:r>
          </a:p>
          <a:p>
            <a:endParaRPr/>
          </a:p>
          <a:p>
            <a:r>
              <a:t>**마지막으로 그 `id`로 회원을 조회해서, 지난 시간부터 계속 써온 `UserResponse`로 돌려줍니다. 코드로 직접 보겠습니다.**</a:t>
            </a:r>
          </a:p>
          <a:p>
            <a:endParaRPr/>
          </a:p>
          <a:p>
            <a:r>
              <a:t>**이 API에 몸(body)이 없다는 것도 눈여겨보세요.** 회원가입이나 로그인은 아이디·비밀번호 같은 정보를 body에 실어 보냈지만, **`/me`는 아무것도 안 보냅니다.** 필요한 정보(누구인지)가 이미 쿠키 안에 들어 있기 때문이에요. **몸이 없어도 되는 이유를 스스로 설명하실 수 있다면, 오늘 배운 세션의 핵심을 정확히 이해하신 겁니다.**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**육교시에 쓴 `request.getSession()`과, `/me`에서 쓸 `request.getSession(false)`는 다릅니다.**</a:t>
            </a:r>
          </a:p>
          <a:p>
            <a:endParaRPr/>
          </a:p>
          <a:p>
            <a:r>
              <a:t>**괄호를 비워두면(`getSession()`), 세션이 없을 때 서버가 알아서 새 세션을 만들어서 돌려줍니다.** 로그인할 때는 이게 맞아요 — 어차피 새로 로그인하는 거니까요.</a:t>
            </a:r>
          </a:p>
          <a:p>
            <a:endParaRPr/>
          </a:p>
          <a:p>
            <a:r>
              <a:t>**그런데 `/me`는 '확인만' 하는 API입니다. 세션이 없는 사람에게 새 세션을 만들어줄 이유가 없어요.** 그래서 `getSession(false)`를 씁니다 — **세션이 없으면 그냥 `null`을 돌려달라는 뜻**입니다.</a:t>
            </a:r>
          </a:p>
          <a:p>
            <a:endParaRPr/>
          </a:p>
          <a:p>
            <a:r>
              <a:t>**만약 여기서도 `getSession()`(인자 없이)을 쓰면 어떻게 될까요?** 로그인 안 한 사람이 `/me`를 호출할 때마다, **불필요한 빈 세션이 계속 만들어지는 낭비**가 생깁니다. 오늘 이 차이를 정확히 짚고 넘어가겠습니다.</a:t>
            </a:r>
          </a:p>
          <a:p>
            <a:endParaRPr/>
          </a:p>
          <a:p>
            <a:r>
              <a:t>**정리하면 규칙은 단순합니다. 로그인처럼 '없으면 만들어야 하는 상황'은 `getSession()`, `/me`나 `/logout`처럼 '있어야만 의미가 있는 상황'은 `getSession(false)`.** 오늘 세 API를 만드시면서, 이 규칙이 각 상황에 왜 맞는지 한 번씩 되짚어보시면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**세션을 가져온 다음, 두 가지를 확인합니다.**</a:t>
            </a:r>
          </a:p>
          <a:p>
            <a:endParaRPr/>
          </a:p>
          <a:p>
            <a:r>
              <a:t>**첫째, 세션 자체가 `null`인가(애초에 로그인을 한 적이 없는가). 둘째, 세션은 있는데 그 안에 `LOGIN_USER_ID`가 없는가(비어 있는 세션인가).**</a:t>
            </a:r>
          </a:p>
          <a:p>
            <a:endParaRPr/>
          </a:p>
          <a:p>
            <a:r>
              <a:t>**둘 중 하나라도 해당하면, `IllegalStateException`을 던집니다.** `"로그인이 필요합니다"`라는 메시지와 함께요.</a:t>
            </a:r>
          </a:p>
          <a:p>
            <a:endParaRPr/>
          </a:p>
          <a:p>
            <a:r>
              <a:t>**지난 시간에 계속 보셨던 패턴이죠. `IllegalArgumentException`을 던지면 `ApiExceptionHandler`가 잡아서 `400`으로 바꿔줬던 것처럼, 오늘은 `IllegalStateException`을 잡아서 `401`(인증 필요)로 바꿔주는 코드를 `ApiExceptionHandler`에 추가해둘 겁니다.** 다음 장에서 그 부분도 보여드릴게요.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**세션 확인을 통과했으면, 이제 진짜 값을 꺼냅니다.**</a:t>
            </a:r>
          </a:p>
          <a:p>
            <a:endParaRPr/>
          </a:p>
          <a:p>
            <a:r>
              <a:t>**`session.getAttribute(SessionConst.LOGIN_USER_ID)`, 육교시에 `setAttribute`로 넣을 때 썼던 바로 그 키를 그대로 씁니다.** 넣을 때 쓴 열쇠로, 똑같이 다시 여는 거예요.</a:t>
            </a:r>
          </a:p>
          <a:p>
            <a:endParaRPr/>
          </a:p>
          <a:p>
            <a:r>
              <a:t>**`(Long)`이 앞에 붙은 것도 눈여겨보세요.** `getAttribute`는 무엇이든 담을 수 있게 설계돼서, 꺼낼 때는 원래 타입(`Long`)으로 **직접 지정해서 바꿔줘야 합니다.** 이걸 캐스팅이라고 부릅니다.</a:t>
            </a:r>
          </a:p>
          <a:p>
            <a:endParaRPr/>
          </a:p>
          <a:p>
            <a:r>
              <a:t>**꺼낸 `userId`로 `userService.findById(...)`를 호출하면, 지난 시간에 이미 있던 코드가 그대로 회원 정보를 찾아줍니다.** 새로 짤 게 아니라 **지난 시간에 만든 조회 기능을 그대로 재사용**하는 거예요.</a:t>
            </a:r>
          </a:p>
          <a:p>
            <a:endParaRPr/>
          </a:p>
          <a:p>
            <a:r>
              <a:t>**지난 시간에 만든 `findById`는 `@PathVariable Long id`로, URL에 적힌 숫자를 그대로 받았었죠(`GET /api/users/{id}`).** 오늘은 URL이 아니라 **세션 안에 숨겨져 있던 `id`를 꺼내서 똑같은 메서드에 넘기는 것**뿐입니다. `findById` 입장에서는 **그 `id`가 URL에서 왔는지 세션에서 왔는지 전혀 상관하지 않습니다** — 그냥 숫자 하나를 받아서 조회할 뿐이에요.</a:t>
            </a:r>
          </a:p>
          <a:p>
            <a:endParaRPr/>
          </a:p>
          <a:p>
            <a:r>
              <a:t>**이게 바로 '재사용 가능한 코드'가 갖는 힘입니다.** 지난 시간에 `findById`를 만들 때는 '남의 정보를 볼 때 쓰겠지' 정도로만 생각하셨을 텐데, 오늘 **'내 정보를 확인할 때도 똑같이 쓸 수 있다'는 걸 발견**하신 셈이에요. 코드를 잘게 나눠서 각자 한 가지 일만 하게 만들어두면, **나중에 예상 못 한 곳에서도 그대로 재사용되는 경우가 실무에서 아주 흔합니다.**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**방금 나눠서 본 세 조각이, 하나의 메서드로 이렇게 합쳐져 있습니다.**</a:t>
            </a:r>
          </a:p>
          <a:p>
            <a:endParaRPr/>
          </a:p>
          <a:p>
            <a:r>
              <a:t>**`@GetMapping("/me")` — 로그인과 달리 정보를 조회하는 거라 GET을 씁니다.** 요청 본문(body)도 필요 없어요. 쿠키 하나로 충분합니다.</a:t>
            </a:r>
          </a:p>
          <a:p>
            <a:endParaRPr/>
          </a:p>
          <a:p>
            <a:r>
              <a:t>**메서드 안에서 순서대로, 세션을 가져오고, 없으면 예외를 던지고, 있으면 값을 꺼내 회원을 조회합니다.**</a:t>
            </a:r>
          </a:p>
          <a:p>
            <a:endParaRPr/>
          </a:p>
          <a:p>
            <a:r>
              <a:t>**이제 실제로 눌러본 결과를 다음 장부터 보겠습니다.**</a:t>
            </a:r>
          </a:p>
          <a:p>
            <a:endParaRPr/>
          </a:p>
          <a:p>
            <a:r>
              <a:t>**세 조각의 순서도 다시 한번 확인해주세요.** 세션 확인이 제일 먼저, 예외 처리가 그다음, 값 조회가 맨 마지막입니다. **순서가 바뀌면(예: 값부터 꺼내려고 하면) 세션이 없을 때 `null`에서 바로 에러가 나버립니다.**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**아직 로그인을 안 한 상태에서(쿠키 없이) `/me`를 먼저 호출해보겠습니다.**</a:t>
            </a:r>
          </a:p>
          <a:p>
            <a:endParaRPr/>
          </a:p>
          <a:p>
            <a:r>
              <a:t>**일부러 순서를 이렇게 잡았습니다.** 오늘 육교시에서 '고장부터 내고 고친다'는 순서로 갔던 것과 비슷한 이유예요 — **정상 상태(로그인 후)를 보기 전에, 비정상 상태(로그인 전)가 어떻게 보이는지 먼저 확인하면, 나중의 차이가 더 선명해집니다.**</a:t>
            </a:r>
          </a:p>
          <a:p>
            <a:endParaRPr/>
          </a:p>
          <a:p>
            <a:r>
              <a:t>**`-b`(쿠키 보내기) 옵션 없이, 그냥 `curl -i`로만 호출합니다.** 쿠키가 없으니 세션도 없겠죠. 다음 장에서 결과를 같이 보겠습니다.</a:t>
            </a:r>
          </a:p>
          <a:p>
            <a:endParaRPr/>
          </a:p>
          <a:p>
            <a:r>
              <a:t>**혹시 `-i` 옵션이 낯설게 느껴지신다면, `-i`는 응답 본문뿐 아니라 상태 코드와 헤더까지 같이 보여달라는 뜻**입니다. 지금까지도 종종 쓰셨던 옵션인데, **오늘은 특히 `401`이라는 상태 코드 자체를 눈으로 확인하는 게 중요하기 때문에 꼭 붙여서 호출**합니다.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**실제로 호출한 결과입니다. `HTTP/1.1 401 Unauthorized`와 함께 `{"message":"로그인이 필요합니다"}`가 돌아왔습니다.**</a:t>
            </a:r>
          </a:p>
          <a:p>
            <a:endParaRPr/>
          </a:p>
          <a:p>
            <a:r>
              <a:t>**이 메시지, 낯익으시죠? 우리가 `IllegalStateException`을 던질 때 직접 적어넣은 바로 그 문장입니다.** 코드에 적은 문장이 그대로 화면에 나타난다는 것, 오늘도 다시 확인하셨습니다.</a:t>
            </a:r>
          </a:p>
          <a:p>
            <a:endParaRPr/>
          </a:p>
          <a:p>
            <a:r>
              <a:t>**`401`이라는 상태 코드도 짚고 갈게요. `400`(잘못된 요청)과는 다릅니다.** `401`은 **'당신이 누구인지 확인이 안 됩니다'라는 뜻**이고, 흔히 '인증 필요'로 번역합니다. `ApiExceptionHandler`에서 `IllegalStateException`을 `401`로 매핑해뒀기 때문에 이렇게 나오는 거예요.</a:t>
            </a:r>
          </a:p>
          <a:p>
            <a:endParaRPr/>
          </a:p>
          <a:p>
            <a:r>
              <a:t>**상태 코드 앞자리만 봐도 대략적인 의미를 짐작할 수 있습니다.** `2XX`는 성공, `4XX`는 요청을 보낸 쪽(클라이언트)의 문제, `5XX`는 서버 쪽 문제입니다. **`400`과 `401`은 둘 다 `4XX`(내 요청에 문제가 있다는 뜻)이지만, `400`은 '값이 이상하다', `401`은 '누군지 모르겠다'로 조금 더 세분화된 것**이라고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**이번엔 먼저 로그인해서 쿠키를 `cookies.txt`에 저장하고, 그 쿠키를 들고 `/me`를 호출해보겠습니다.**</a:t>
            </a:r>
          </a:p>
          <a:p>
            <a:endParaRPr/>
          </a:p>
          <a:p>
            <a:r>
              <a:t>**두 번째 명령의 `-b cookies.txt`를 보세요. `-c`(쿠키를 저장해라)와 반대로, `-b`는 '이 파일에 있는 쿠키를 요청에 실어서 보내라'는 뜻**입니다. 로그인(`-c`)과 확인(`-b`), 두 옵션이 짝을 이룹니다.</a:t>
            </a:r>
          </a:p>
          <a:p>
            <a:endParaRPr/>
          </a:p>
          <a:p>
            <a:r>
              <a:t>**브라우저였다면 이 과정을 우리가 신경 쓸 필요가 없었을 거예요. 브라우저가 쿠키 저장과 동봉을 알아서 해주니까요.** 우리는 지금 브라우저가 해주는 일을 `curl` 옵션으로 손수 흉내 내고 있는 겁니다. 다음 장에서 결과를 확인하겠습니다.</a:t>
            </a:r>
          </a:p>
          <a:p>
            <a:endParaRPr/>
          </a:p>
          <a:p>
            <a:r>
              <a:t>**`-c`와 `-b`를 같은 파일 이름으로 함께 쓸 수도 있습니다.** `curl -b cookies.txt -c cookies.txt ...`처럼요. **보낼 때는 파일에서 읽고(`-b`), 응답으로 새 쿠키가 오면 다시 그 파일에 갱신해서 저장(`-c`)한다는 뜻**입니다. 오늘 실습에서는 이해하기 쉽도록 두 단계로 나눠서 하지만, 실무 스크립트에서는 이렇게 한 번에 처리하는 경우도 많습니다.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**이번엔 `200 OK`와 함께 회원 정보가 돌아왔습니다. `id`, `loginId`, `name`, `email`까지요.**</a:t>
            </a:r>
          </a:p>
          <a:p>
            <a:endParaRPr/>
          </a:p>
          <a:p>
            <a:r>
              <a:t>**아까와 완전히 같은 API(`GET /api/users/me`)인데, 결과가 정반대입니다.** 차이는 딱 하나, **쿠키(세션 ID)를 들고 왔느냐 아니냐**뿐이었습니다.</a:t>
            </a:r>
          </a:p>
          <a:p>
            <a:endParaRPr/>
          </a:p>
          <a:p>
            <a:r>
              <a:t>**이게 바로 '로그인 상태 유지'의 실체입니다.** 아이디·비밀번호를 매번 다시 보내지 않아도, **한 번 로그인해서 받은 쿠키 하나로 계속 '나'임을 증명할 수 있는 거예요.**</a:t>
            </a:r>
          </a:p>
          <a:p>
            <a:endParaRPr/>
          </a:p>
          <a:p>
            <a:r>
              <a:t>**여러분이 평소 쓰시는 웹사이트들도 똑같습니다.** 로그인 창을 매번 다시 안 봐도 되는 건, 브라우저가 이 쿠키를 들고 계속 요청에 실어 보내고 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**마지막 API, 로그아웃입니다. 여기도 `getSession(false)`를 씁니다** — 세션이 없는 사람이 로그아웃을 눌러도, 새 세션을 만들 필요는 없으니까요.</a:t>
            </a:r>
          </a:p>
          <a:p>
            <a:endParaRPr/>
          </a:p>
          <a:p>
            <a:r>
              <a:t>**세션이 있으면, `session.invalidate()`를 호출합니다. '이 세션을 무효로 만들어라'는 뜻**입니다. 물품보관함 비유로 치면, **보관함 안의 내용물을 비우고 번호표 자체를 못 쓰게 만드는 것**과 같아요.</a:t>
            </a:r>
          </a:p>
          <a:p>
            <a:endParaRPr/>
          </a:p>
          <a:p>
            <a:r>
              <a:t>**이후 같은 쿠키(`JSESSIONID`)를 들고 다시 요청해도, 서버는 그 번호표를 더 이상 인식하지 못합니다.** 코드는 짧지만, **오늘 배운 개념(세션ID→보관함) 전체가 이 한 줄에 걸려 있습니다.** 직접 타이핑하고 테스트해보겠습니다.</a:t>
            </a:r>
          </a:p>
          <a:p>
            <a:endParaRPr/>
          </a:p>
          <a:p>
            <a:r>
              <a:t>**메서드 리턴 타입이 `void`(아무것도 안 돌려줌)인 것도 눈여겨보세요.** 로그아웃은 **'해라, 그리고 성공했다는 것만 알려주면 된다'**는 동작이라, 돌려줄 특별한 정보가 없습니다. 스프링은 `void` 메서드가 예외 없이 끝나면, **자동으로 `200 OK`(본문 없음)를 응답**으로 보냅니다.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**로그아웃을 호출한 뒤, 아까와 똑같은 쿠키 파일로 다시 `/me`를 호출한 실제 결과입니다.**</a:t>
            </a:r>
          </a:p>
          <a:p>
            <a:endParaRPr/>
          </a:p>
          <a:p>
            <a:r>
              <a:t>**로그아웃(`POST /api/users/logout`)은 `200 OK`로 성공했고, 그 직후 같은 쿠키로 `/me`를 다시 호출하니 다시 `401`이 돌아왔습니다.** `{"message":"로그인이 필요합니다"}` — 로그인 전과 똑같은 메시지예요.</a:t>
            </a:r>
          </a:p>
          <a:p>
            <a:endParaRPr/>
          </a:p>
          <a:p>
            <a:r>
              <a:t>**쿠키 파일(`cookies.txt`) 자체는 그대로 남아 있는데, 서버 쪽 세션이 지워졌기 때문에 더 이상 통하지 않는 겁니다.** 번호표는 그대로인데, **보관함이 없어진 셈**이죠.</a:t>
            </a:r>
          </a:p>
          <a:p>
            <a:endParaRPr/>
          </a:p>
          <a:p>
            <a:r>
              <a:t>**여러분도 직접 해보세요. 로그인 → `/me`(성공) → 로그아웃 → `/me`(다시 401), 이 네 단계를 순서대로 눌러보시면 오늘 배운 게 한 번에 정리됩니다.**</a:t>
            </a:r>
          </a:p>
          <a:p>
            <a:endParaRPr/>
          </a:p>
          <a:p>
            <a:r>
              <a:t>**만약 로그아웃 후에도 `/me`가 여전히 `200`으로 성공한다면, `invalidate()` 줄이 실행 안 된 상황일 겁니다.** `session != null` 조건 안에 제대로 들어가 있는지 코드를 보면 원인을 찾을 수 있습니다 — 이런 사소한 조건문 실수는 문법적으로는 멀쩡해서 컴파일러가 못 잡아줍니다.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**아까 `/me`와 `logout`에서 던진 `IllegalStateException`이, 어떻게 `401`이라는 상태 코드로 바뀌어 나갔는지 마지막으로 짚고 갈게요.**</a:t>
            </a:r>
          </a:p>
          <a:p>
            <a:endParaRPr/>
          </a:p>
          <a:p>
            <a:r>
              <a:t>**`ApiExceptionHandler.java`를 열어보시면, `IllegalArgumentException`을 `400`으로 바꿔주던 코드 바로 옆에, `IllegalStateException`을 `401`로 바꿔주는 코드가 추가돼 있습니다.**</a:t>
            </a:r>
          </a:p>
          <a:p>
            <a:endParaRPr/>
          </a:p>
          <a:p>
            <a:r>
              <a:t>**이 파일이 왜 있는지, 지난 시간(D8)에 잠깐 스쳐 지나가셨을 텐데 오늘 그 쓸모가 확실히 보이실 거예요.** 컨트롤러 코드 안에서는 **그냥 예외를 던지기만 하면 되고, '그 예외를 어떤 상태 코드로 바꿀지'는 이 파일 한 곳에서 전부 관리**됩니다. 오늘도 새로운 컨트롤러 코드는 한 줄도 안 늘렸는데, 이 파일 하나 덕분에 `401`이 자동으로 처리된 거예요.</a:t>
            </a:r>
          </a:p>
          <a:p>
            <a:endParaRPr/>
          </a:p>
          <a:p>
            <a:r>
              <a:t>**앞으로 새로운 종류의 실패 상황이 생길 때마다, 이 파일에 `@ExceptionHandler`를 하나씩 추가하는 패턴을 계속 쓰시게 될 거예요.** 상품 기능에서 '재고가 부족합니다' 같은 새로운 예외가 생기더라도, **똑같은 방식(예외 던지기 + 이 파일에서 처리)으로 대응**하시면 됩니다. 오늘 이 구조를 확실히 이해해두시면, 다음 시간이 훨씬 수월해집니다.</a:t>
            </a:r>
          </a:p>
          <a:p>
            <a:endParaRPr/>
          </a:p>
          <a:p>
            <a:r>
              <a:t>**칠교시 마지막으로 하나만 더, 오늘 새로 만든 파일이 하나도 없다는 것도 짚고 넘어갈게요.** `UserController.java`와 `ApiExceptionHandler.java`, **둘 다 이미 있던 파일을 고친 것**뿐입니다. `SessionConst.java`만 유일하게 새로 만든 파일이었죠. 적은 수의 파일로도 오늘만큼의 기능을 완성할 수 있었다는 것도 기억해두시면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[7교시]</a:t>
            </a:r>
          </a:p>
          <a:p>
            <a:endParaRPr/>
          </a:p>
          <a:p>
            <a:r>
              <a:t>**칠교시를 정리하겠습니다.**</a:t>
            </a:r>
          </a:p>
          <a:p>
            <a:endParaRPr/>
          </a:p>
          <a:p>
            <a:r>
              <a:t>**`/me`를 만들어서, 쿠키가 있을 때와 없을 때 결과가 어떻게 갈리는지 직접 확인했습니다.**</a:t>
            </a:r>
          </a:p>
          <a:p>
            <a:endParaRPr/>
          </a:p>
          <a:p>
            <a:r>
              <a:t>**`/logout`을 만들어서, `session.invalidate()` 한 줄이 세션을 통째로 지운다는 것도 확인했습니다.**</a:t>
            </a:r>
          </a:p>
          <a:p>
            <a:endParaRPr/>
          </a:p>
          <a:p>
            <a:r>
              <a:t>**`ApiExceptionHandler`에 `IllegalStateException` 처리를 추가해서, 로그인이 필요한 상황을 `401`로 일관되게 응답하도록 만들었습니다.**</a:t>
            </a:r>
          </a:p>
          <a:p>
            <a:endParaRPr/>
          </a:p>
          <a:p>
            <a:r>
              <a:t>**뒤 시간 동안 하실 일입니다.**</a:t>
            </a:r>
          </a:p>
          <a:p>
            <a:endParaRPr/>
          </a:p>
          <a:p>
            <a:r>
              <a:t>**첫째, 로그인 → `/me` → 로그아웃 → `/me`, 이 순서를 본인 계정으로 처음부터 끝까지 다시 해보세요.**</a:t>
            </a:r>
          </a:p>
          <a:p>
            <a:endParaRPr/>
          </a:p>
          <a:p>
            <a:r>
              <a:t>**둘째, `cookies.txt` 파일 안의 `JSESSIONID` 값이 로그인할 때마다 바뀌는지도 확인해보세요.**</a:t>
            </a:r>
          </a:p>
          <a:p>
            <a:endParaRPr/>
          </a:p>
          <a:p>
            <a:r>
              <a:t>**팔교시에는 여러 사람이 동시에 로그인해도 서로 안 섞이는지 확인하고, 오늘을 마무리합니다. 곧 뵙겠습니다.**</a:t>
            </a:r>
          </a:p>
          <a:p>
            <a:endParaRPr/>
          </a:p>
          <a:p>
            <a:r>
              <a:t>**넷째, 지금까지 만든 세 API를 정확히 어느 파일에서 어떤 이름으로 만들었는지, 파일명과 메서드명만 놓고 스스로 떠올려보세요.** `UserController.java`의 `login`, `me`, `logout`, 그리고 `ApiExceptionHandler.java`의 `handleUnauthorized`. **이렇게 이름만으로 구조가 떠오르신다면, 코드를 안 보고도 오늘 배운 걸 설명하실 수 있는 상태**입니다.</a:t>
            </a:r>
          </a:p>
          <a:p>
            <a:endParaRPr/>
          </a:p>
          <a:p>
            <a:r>
              <a:t>**다섯째, 아직 두 계정으로 동시 로그인을 안 해보셨다면 지금 미리 해보세요.** 팔교시가 시작되면 바로 이 실습부터 들어갑니다. **미리 계정 두 개를 준비해두시면, 팔교시 앞부분이 훨씬 수월하게 진행될 거예요.**</a:t>
            </a:r>
          </a:p>
          <a:p>
            <a:endParaRPr/>
          </a:p>
          <a:p>
            <a:r>
              <a:t>**여섯째, 지금까지 오늘 배운 내용 중에 가장 헷갈렸던 부분 하나를 스스로 골라보세요.** 팔교시 질문 시간에 그 부분을 먼저 여쭤보시면, **오늘 대본에는 없던 각도의 설명을 들으실 수도 있습니다.** 미리 질문거리를 정리해두시는 것도 좋은 복습 방법이에요.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**팔교시 시작합니다. 오늘의 마지막 실습이자 질문입니다.**</a:t>
            </a:r>
          </a:p>
          <a:p>
            <a:endParaRPr/>
          </a:p>
          <a:p>
            <a:r>
              <a:t>**만약 두 사람이 동시에 이 서버에 로그인하면 어떻게 될까요? 예를 들어 여러분과 옆에 앉은 동료분이 동시에 로그인한다면요.**</a:t>
            </a:r>
          </a:p>
          <a:p>
            <a:endParaRPr/>
          </a:p>
          <a:p>
            <a:r>
              <a:t>**셋 중에 골라보세요.** A, 나중에 로그인한 사람 정보로 덮어써진다. B, 각자 자기 쿠키로 각자의 정보만 본다. C, 둘 다 로그인이 안 된다.</a:t>
            </a:r>
          </a:p>
          <a:p>
            <a:endParaRPr/>
          </a:p>
          <a:p>
            <a:r>
              <a:t>**채팅창에 답을 남겨주세요. 오늘 배운 '세션 ID'와 '쿠키'라는 개념을 떠올리시면 답이 보이실 거예요.** 직접 두 계정으로 실습하면서 확인해보겠습니다.</a:t>
            </a:r>
          </a:p>
          <a:p>
            <a:endParaRPr/>
          </a:p>
          <a:p>
            <a:r>
              <a:t>**이 질문이 오늘 하루 전체를 관통하는 마지막 질문입니다.** 오교시의 물품보관함 비유, 육교시의 `setAttribute`, 칠교시의 `/me`·`/logout`, **이 모든 게 결국 '각자의 보관함이 독립적으로 관리된다'는 사실을 만들기 위한 장치**였습니다. 팔교시는 그 사실을 실제로 눈으로 확인하는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**계정이 두 개 필요합니다. 없으시면 지금 하나 더 만드셔도 좋고, 옆 동료분과 짝을 지어 서로 다른 계정을 써보셔도 좋습니다.**</a:t>
            </a:r>
          </a:p>
          <a:p>
            <a:endParaRPr/>
          </a:p>
          <a:p>
            <a:r>
              <a:t>**핵심은 쿠키 파일을 각각 다른 이름으로 저장하는 겁니다.** `cookies_A.txt`, `cookies_B.txt`처럼요. **`-c` 옵션 뒤의 파일 이름만 다르게 하면, 마치 서로 다른 두 대의 브라우저에서 로그인하는 것과 같은 상황**이 됩니다.</a:t>
            </a:r>
          </a:p>
          <a:p>
            <a:endParaRPr/>
          </a:p>
          <a:p>
            <a:r>
              <a:t>**두 계정 모두 로그인에 성공하셨으면, 다음 장에서 각자의 `/me`를 호출해서 정말 서로 다른 정보가 나오는지 확인하겠습니다.**</a:t>
            </a:r>
          </a:p>
          <a:p>
            <a:endParaRPr/>
          </a:p>
          <a:p>
            <a:r>
              <a:t>**실습 짝이 없어서 혼자 하시는 분도 전혀 문제없습니다.** 같은 컴퓨터, 같은 터미널에서 **쿠키 파일 이름만 다르게(`cookies_A.txt`, `cookies_B.txt`) 주면, 서버 입장에서는 완전히 다른 두 방문자가 접속한 것과 동일하게 처리**됩니다.</a:t>
            </a:r>
          </a:p>
          <a:p>
            <a:endParaRPr/>
          </a:p>
          <a:p>
            <a:r>
              <a:t>**두 계정이 마땅치 않으시면, 지난 시간(D8)에 실습으로 만드셨던 `user_a`, `user_b` 계정을 그대로 쓰셔도 됩니다.** 비밀번호까지 기억이 안 나신다면, **지금 두 개를 새로 만드는 것도 1분이면 충분합니다.** `POST /api/users`로 계정 두 개 뚝딱 만드시고 바로 시작해보세요.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**실제로 두 계정을 동시에 로그인시키고, 각자의 쿠키로 `/me`를 호출한 결과입니다.**</a:t>
            </a:r>
          </a:p>
          <a:p>
            <a:endParaRPr/>
          </a:p>
          <a:p>
            <a:r>
              <a:t>**A 쿠키로 조회하면 A의 정보만, B 쿠키로 조회하면 B의 정보만 나옵니다.** 화면 아래에 세션 ID도 같이 적어뒀는데, **두 값이 완전히 다릅니다.**</a:t>
            </a:r>
          </a:p>
          <a:p>
            <a:endParaRPr/>
          </a:p>
          <a:p>
            <a:r>
              <a:t>**아까 질문의 정답은 B였습니다. 각자 자기 쿠키로 각자의 정보만 봅니다.** 서버는 **쿠키에 실린 세션 ID로 보관함을 구분**하기 때문에, 두 사람이 동시에 로그인해도 **보관함 자체가 다르니 섞일 일이 없는 것**입니다.</a:t>
            </a:r>
          </a:p>
          <a:p>
            <a:endParaRPr/>
          </a:p>
          <a:p>
            <a:r>
              <a:t>**이게 오늘 배운 전체 개념이 실제로 맞아떨어지는 증거 화면입니다.** 세션 ID가 다르다 → 보관함이 다르다 → 내용물(회원 정보)도 다르다, 이 사슬이 그대로 확인됐습니다.</a:t>
            </a:r>
          </a:p>
          <a:p>
            <a:endParaRPr/>
          </a:p>
          <a:p>
            <a:r>
              <a:t>**이 실습을 마치신 여러분은, 오늘 아침 오교시에 배운 개념(물품보관함 비유)을 실제 화면으로 완전히 확인하신 겁니다.** 비유로만 듣던 이야기가, **터미널 화면에 찍힌 서로 다른 두 개의 긴 문자열(세션 ID)로 눈앞에 나타난 순간**이었어요.</a:t>
            </a:r>
          </a:p>
          <a:p>
            <a:endParaRPr/>
          </a:p>
          <a:p>
            <a:r>
              <a:t>**이 화면을 보시면서, 처음 오교시에 보여드렸던 '오늘 하루 지도' 그림을 다시 떠올려보세요.** 첫 칸(개념)에서 말로만 설명했던 게, 넷째 칸(독립성 확인)에서 실제 데이터로 증명됐습니다. **하루 전체가 하나의 실험이었고, 지금 이 화면이 그 실험의 결론**입니다.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**세션이 독립적이라는 걸 확인했으니, 한 가지 함정도 짚고 넘어갈게요.**</a:t>
            </a:r>
          </a:p>
          <a:p>
            <a:endParaRPr/>
          </a:p>
          <a:p>
            <a:r>
              <a:t>**만약 제 `JSESSIONID` 값을 여러분이 알아내서, 그 값을 자신의 쿠키에 그대로 넣는다면 어떻게 될까요?** 서버 입장에서는 **그 세션 ID를 들고 왔으니, 저인 줄 알고 그대로 응답해줍니다.**</a:t>
            </a:r>
          </a:p>
          <a:p>
            <a:endParaRPr/>
          </a:p>
          <a:p>
            <a:r>
              <a:t>**이런 걸 '세션 하이재킹'이라고 부릅니다.** 오늘 우리는 `-c`, `-b` 옵션으로 파일에 쿠키를 저장해서 실습했는데, **실제 서비스에서는 이 쿠키가 노출되지 않도록 HTTPS로 통신하고, `HttpOnly` 속성(자바스크립트가 쿠키를 못 읽게 막음)을 켜두는 게 기본**입니다.</a:t>
            </a:r>
          </a:p>
          <a:p>
            <a:endParaRPr/>
          </a:p>
          <a:p>
            <a:r>
              <a:t>**공용 컴퓨터에서 로그아웃을 꼭 눌러야 하는 이유도 바로 이겁니다.** 로그아웃(`invalidate`)을 안 하면, **다음 사람이 같은 브라우저에서 내 세션을 그대로 이어받을 수 있으니까요.**</a:t>
            </a:r>
          </a:p>
          <a:p>
            <a:endParaRPr/>
          </a:p>
          <a:p>
            <a:r>
              <a:t>**여러분이 나중에 실무에서 로그인 기능을 만드실 때도, '이 쿠키가 유출되면 무슨 일이 벌어지나'를 항상 한 번씩 생각해보시는 습관을 들이시면 좋습니다.** 오늘처럼 작은 실습 환경에서는 큰 위험이 없지만, **실제 서비스에서는 이 쿠키 하나가 그 사람의 신원 전체를 대신하는 열쇠**이기 때문입니다.</a:t>
            </a:r>
          </a:p>
          <a:p>
            <a:endParaRPr/>
          </a:p>
          <a:p>
            <a:r>
              <a:t>**오늘 실습을 마치고 나면, 이 `cookies.txt` 파일들은 지우셔도 됩니다.** 연습용 계정의 세션 ID일 뿐이라 큰 위험은 없지만, **실습이 끝난 자료를 정리하는 습관도 오늘처럼 보안을 주제로 다룬 날에는 함께 챙겨보시면 좋습니다.**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**하루를 마무리하기 전에, 오늘 배운 두 가지 역할을 나란히 놓고 비교해보겠습니다.** 이 비교표를 끝까지 보시고 나면, 오늘 하루가 왜 필요했는지 자연스럽게 정리되실 거예요.</a:t>
            </a:r>
          </a:p>
          <a:p>
            <a:endParaRPr/>
          </a:p>
          <a:p>
            <a:r>
              <a:t>**`matches()`는 아이디·비밀번호가 맞는지 확인하는 것, 그게 전부입니다.** 확인이 끝나면, **그 결과는 그 순간의 응답에만 남고 사라집니다.** 바로 다음 요청에서는 서버가 다시 '당신 누구세요'라고 묻는 상태였어요 — 5교시에 확인한 바로 그 문제입니다.</a:t>
            </a:r>
          </a:p>
          <a:p>
            <a:endParaRPr/>
          </a:p>
          <a:p>
            <a:r>
              <a:t>**오늘 여러분이 직접 만든 세션 코드는, 그 확인 결과를 붙잡아둡니다.** 한 번 로그인하면, **쿠키 하나로 계속 '나'임을 증명**할 수 있고, `/me`로 언제든 다시 확인할 수 있고, `/logout`으로 그 기억을 지울 수도 있습니다.</a:t>
            </a:r>
          </a:p>
          <a:p>
            <a:endParaRPr/>
          </a:p>
          <a:p>
            <a:r>
              <a:t>**둘을 붙여보면, '로그인'이라는 한 단어 안에 사실 두 가지 다른 일(확인하기, 기억하기)이 들어 있었다는 게 보이실 거예요.** 확인하기는 강사가 미리 준비한 코드로 오늘 아침에 함께 확인했고, 기억하기는 오늘 여러분이 직접 만들었습니다.</a:t>
            </a:r>
          </a:p>
          <a:p>
            <a:endParaRPr/>
          </a:p>
          <a:p>
            <a:r>
              <a:t>**이 둘을 나눠서 이해하는 게 중요한 이유가 있습니다.** 두 가지를 뭉뚱그려서 생각하면, **어느 코드가 '확인'을 위한 것이고 어느 코드가 '기억'을 위한 것인지 자주 헷갈립니다.** 오늘처럼 역할을 나눠서, 먼저 확인을 완전히 이해하고 그 위에 기억을 얹었기 때문에 **두 개념이 뒤섞이지 않고 각각 선명하게 남으실 거예요.**</a:t>
            </a:r>
          </a:p>
          <a:p>
            <a:endParaRPr/>
          </a:p>
          <a:p>
            <a:r>
              <a:t>**표를 다시 한번 보시면, 왼쪽과 오른쪽의 첫 줄이 똑같이 `matches()`를 가리키고 있다는 것도 눈에 들어오실 거예요.** `matches()` 자체는 바뀌지 않았습니다. **달라진 건 그 결과를 어떻게 다루느냐였을 뿐**입니다. 왼쪽은 그 결과를 그냥 돌려주고 끝났고, 오른쪽은 그 결과를 세션에 붙잡아뒀습니다.</a:t>
            </a:r>
          </a:p>
          <a:p>
            <a:endParaRPr/>
          </a:p>
          <a:p>
            <a:r>
              <a:t>**이 작은 표 하나가 오늘 강의 전체의 요약이라고 봐도 무방합니다.** 누군가 여러분께 '오늘 뭘 배웠나요'라고 묻는다면, **이 표를 그대로 말로 옮기시면 정확하고 깔끔한 답이 됩니다.**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**오늘까지 만든 회원 관련 API 전체를 하나의 그림으로 이어보겠습니다.**</a:t>
            </a:r>
          </a:p>
          <a:p>
            <a:endParaRPr/>
          </a:p>
          <a:p>
            <a:r>
              <a:t>**회원가입(지난 시간, D8)은 여러분이 직접 구현하셨고, 비밀번호는 암호화된 채로 저장됩니다. 로그인(오늘)은 강사가 미리 준비한 `matches()` 확인 코드를 먼저 함께 열어본 뒤, 오늘부터는 거기에 세션까지 직접 저장하게 됐습니다.**</a:t>
            </a:r>
          </a:p>
          <a:p>
            <a:endParaRPr/>
          </a:p>
          <a:p>
            <a:r>
              <a:t>**`/me`로 지금 로그인한 사람을 확인하고, `/logout`으로 그 기억을 지웁니다.**</a:t>
            </a:r>
          </a:p>
          <a:p>
            <a:endParaRPr/>
          </a:p>
          <a:p>
            <a:r>
              <a:t>**회원가입부터 로그인 상태 유지까지, '회원가입 → 로그인 확인 → 로그인 상태 유지'라는 하나의 이야기가 오늘 완성됐습니다.** 다음 시간부터는 이 회원 기능 위에서, **상품이라는 새로운 도메인을 만들어가시게 됩니다.**</a:t>
            </a:r>
          </a:p>
          <a:p>
            <a:endParaRPr/>
          </a:p>
          <a:p>
            <a:r>
              <a:t>**이 그림을 나중에 다시 꺼내 보시게 될 거예요.** 상품 기능에도 등록(암호화는 없지만 검증은 있음) → 조회 → 필요하면 권한 확인, **비슷한 모양의 흐름이 반복**됩니다. 오늘 이 흐름을 눈에 익혀두시면, 새로운 도메인을 만나셨을 때 **완전히 새로운 게 아니라 '어, 이거 회원 때 봤던 구조네'라고 느끼시게 될 겁니다.**</a:t>
            </a:r>
          </a:p>
          <a:p>
            <a:endParaRPr/>
          </a:p>
          <a:p>
            <a:r>
              <a:t>**특히 마지막 단계('필요하면 권한 확인')는 오늘 배운 세션이 그대로 쓰이는 지점**입니다. '상품 등록은 ADMIN만' 같은 규칙을 만들 때, **오늘 `/me`에서 썼던 것과 똑같은 방식으로 세션 안의 정보(이번엔 `role`)를 확인**하게 됩니다. 오늘 배운 코드가 나중에 이름만 바꿔서 다시 등장하는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 배운 내용 중, 면접에서 특히 자주 나오는 질문 하나를 정리하고 넘어가겠습니다. '세션과 쿠키의 차이가 뭔가요?'**</a:t>
            </a:r>
          </a:p>
          <a:p>
            <a:endParaRPr/>
          </a:p>
          <a:p>
            <a:r>
              <a:t>**많은 분들이 이 둘을 같은 것으로 헷갈리시는데, 오늘 실습을 다 마치신 여러분은 정확히 구분하실 수 있습니다.** **쿠키는 세션 ID를 담아 나르는 '그릇(전달 수단)'이고, 세션은 그 ID로 찾아가는 서버 쪽 '보관함(저장소)'**입니다.</a:t>
            </a:r>
          </a:p>
          <a:p>
            <a:endParaRPr/>
          </a:p>
          <a:p>
            <a:r>
              <a:t>**'세션은 어디에 저장되나요'라는 후속 질문에도, 오늘은 '서버 메모리에 저장됩니다'라고 정확히 답하실 수 있죠.** 그리고 서비스 규모가 커지면 Redis 같은 외부 저장소로 옮기기도 한다는 것까지 덧붙이시면, **오늘 배운 내용을 제대로 소화하셨다는 게 드러납니다.**</a:t>
            </a:r>
          </a:p>
          <a:p>
            <a:endParaRPr/>
          </a:p>
          <a:p>
            <a:r>
              <a:t>**면접관 입장에서 이런 질문을 왜 하는지도 생각해보시면 좋습니다.** 정답을 외웠는지 확인하려는 게 아니라, **'로그인이라는 익숙한 기능 뒤에서 실제로 무슨 일이 벌어지는지 궁금해하고 파고들어 봤는가'를 보려는 것**입니다. 오늘처럼 직접 코드를 짜고 쿠키를 눈으로 확인해본 경험이 있으면, 어떤 각도로 질문이 들어와도 흔들리지 않고 답하실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 실습이 제대로 됐는지 표로 점검하겠습니다.**</a:t>
            </a:r>
          </a:p>
          <a:p>
            <a:endParaRPr/>
          </a:p>
          <a:p>
            <a:r>
              <a:t>**네 가지 전부 확인해보세요. 로그인 응답에 쿠키가 발급되는지, 로그인 전/후 `/me` 결과가 다른지, 로그아웃 후엔 다시 막히는지.**</a:t>
            </a:r>
          </a:p>
          <a:p>
            <a:endParaRPr/>
          </a:p>
          <a:p>
            <a:r>
              <a:t>**넷 중 하나라도 예상과 다르게 동작한다면, 가장 먼저 `UserController.java`의 세 메서드(`login`, `me`, `logout`)를 처음부터 다시 읽어보세요.** 지금까지처럼, **오타 하나(특히 `SessionConst.LOGIN_USER_ID` 철자)가 조용히 문제를 일으키는 경우가 가장 흔합니다.**</a:t>
            </a:r>
          </a:p>
          <a:p>
            <a:endParaRPr/>
          </a:p>
          <a:p>
            <a:r>
              <a:t>**전부 정상이면, 오늘 목표는 다 이루신 겁니다.**</a:t>
            </a:r>
          </a:p>
          <a:p>
            <a:endParaRPr/>
          </a:p>
          <a:p>
            <a:r>
              <a:t>**혹시 시간이 남으신 분은, 오늘 배운 걸로 작은 응용을 해보셔도 좋습니다.** `/me` 응답에 로그인 유지 시간이나 마지막 접속 시각 같은 정보를 더 담으려면 어디를 고쳐야 할지 한번 생각해보세요. **힌트는, `session.setAttribute`를 한 번 더 호출하면 된다는 것**입니다.</a:t>
            </a:r>
          </a:p>
          <a:p>
            <a:endParaRPr/>
          </a:p>
          <a:p>
            <a:r>
              <a:t>**네 항목을 전부 확인하신 분들은, 이제 정말로 오늘 실습이 끝난 겁니다.** 다음 순서는 강사가 팔교시 남은 시간 동안 여러분 화면을 하나씩 확인하며 돌아다니는 시간이에요. **막히신 부분이 있으면 손을 들어주시거나 채팅에 남겨주세요.**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**아까 잠깐 언급했던 Redis, 조금만 더 설명드릴게요.**</a:t>
            </a:r>
          </a:p>
          <a:p>
            <a:endParaRPr/>
          </a:p>
          <a:p>
            <a:r>
              <a:t>**Redis는 메모리 기반으로 동작하는, 아주 빠른 외부 저장소**입니다. 세션을 서버 자신의 메모리가 아니라 **Redis라는 별도의 프로그램에 저장**해두는 방식이에요.</a:t>
            </a:r>
          </a:p>
          <a:p>
            <a:endParaRPr/>
          </a:p>
          <a:p>
            <a:r>
              <a:t>**이렇게 하면 좋은 점이, 서버가 여러 대로 늘어나도 문제가 없어집니다.** A 서버든 B 서버든, **다들 같은 Redis를 보고 있으니 어느 서버가 요청을 받아도 세션을 찾을 수 있습니다.**</a:t>
            </a:r>
          </a:p>
          <a:p>
            <a:endParaRPr/>
          </a:p>
          <a:p>
            <a:r>
              <a:t>**여러분이 나중에 이 개념을 실제로 도입하시게 되면, `getSession()`이나 `setAttribute()` 같은 오늘 배운 코드는 거의 그대로 씁니다.** 스프링 세션 라이브러리 설정만 조금 추가하면, **저장 위치가 서버 메모리에서 Redis로 자동으로 바뀝니다.** 오늘 배운 개념 위에 살짝 얹히는 정도라고 생각하시면 됩니다.</a:t>
            </a:r>
          </a:p>
          <a:p>
            <a:endParaRPr/>
          </a:p>
          <a:p>
            <a:r>
              <a:t>**오늘은 Redis를 직접 설치하거나 연결하지 않습니다.** 도커로 컨테이너를 하나 더 띄우고 설정을 추가하는 작업인데, **오늘 수업의 범위를 넘어서는 내용**이에요. 다만 '왜 그런 도구가 필요한지'를 미리 알아두시면, 나중에 실제로 만나셨을 때 **처음 보는 개념이 아니라 이미 알던 문제의 해결책**으로 받아들이실 수 있을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**정리에 들어가기 전에, 질문 시간을 갖겠습니다.**</a:t>
            </a:r>
          </a:p>
          <a:p>
            <a:endParaRPr/>
          </a:p>
          <a:p>
            <a:r>
              <a:t>**표에 오늘 자주 막히는 지점 세 가지를 정리해뒀습니다.** 세션이 안 생기는 경우, `/me`가 계속 401만 나오는 경우, 캐스팅 에러가 나는 경우.</a:t>
            </a:r>
          </a:p>
          <a:p>
            <a:endParaRPr/>
          </a:p>
          <a:p>
            <a:r>
              <a:t>**이 중 하나라도 겪고 계신 분, 지금 편하게 말씀해주세요.** 특히 `curl` 명령에 `-b cookies.txt`를 빼먹고 호출하시는 경우가 매번 몇 분씩은 꼭 계셨어요 — **쿠키를 저장하는 옵션(`-c`)과 보내는 옵션(`-b`)을 자주 헷갈리는 부분입니다.**</a:t>
            </a:r>
          </a:p>
          <a:p>
            <a:endParaRPr/>
          </a:p>
          <a:p>
            <a:r>
              <a:t>**질문이 없으시면, 오늘 하루를 정리하고 내일을 예고하겠습니다.**</a:t>
            </a:r>
          </a:p>
          <a:p>
            <a:endParaRPr/>
          </a:p>
          <a:p>
            <a:r>
              <a:t>**질문을 부끄러워하지 않으셨으면 좋겠습니다.** 오늘처럼 눈에 보이지 않는 개념(서버 메모리, 세션, 쿠키의 왕래)을 다루는 주제는, **한 번 설명을 듣는 것과 직접 궁금증을 던지고 답을 들어보는 것 사이에 큰 차이**가 있습니다. 지금까지 나온 질문들 중에는 저조차 대본에 미처 안 담았던 좋은 관점도 여럿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**다음 시간부터 이어질 상품 기능을 살짝 미리 보여드릴게요.**</a:t>
            </a:r>
          </a:p>
          <a:p>
            <a:endParaRPr/>
          </a:p>
          <a:p>
            <a:r>
              <a:t>**표를 보시면, 왼쪽(회원)과 오른쪽(상품)이 이름만 다를 뿐 구조가 거의 똑같습니다.** 컨트롤러가 요청을 받고, 서비스가 로직을 처리하고, 리포지토리가 DB에 접근하고, 엔티티가 테이블과 짝을 이루는 — **이번 주 내내 익히신 그 뼈대가 그대로 반복**됩니다.</a:t>
            </a:r>
          </a:p>
          <a:p>
            <a:endParaRPr/>
          </a:p>
          <a:p>
            <a:r>
              <a:t>**다른 점이 있다면, 상품에는 비밀번호 같은 암호화가 필요 없고, 대신 '재고가 0 이상이어야 한다' 같은 새로운 검증 규칙이 등장한다는 정도**입니다.</a:t>
            </a:r>
          </a:p>
          <a:p>
            <a:endParaRPr/>
          </a:p>
          <a:p>
            <a:r>
              <a:t>**이번 주를 잘 따라오셨다면, 상품 기능은 완전히 새로운 것을 배운다기보다, 같은 틀에 새로운 도메인을 채워 넣는 연습에 가깝게 느껴지실 거예요.**</a:t>
            </a:r>
          </a:p>
          <a:p>
            <a:endParaRPr/>
          </a:p>
          <a:p>
            <a:r>
              <a:t>**한 가지 차이는 미리 말씀드릴게요.** 상품은 **회원처럼 '나'를 나타내는 게 아니라, 여러 사람이 함께 보는 '목록'**입니다. 그래서 조회 API 하나(`GET /api/products`)만 봐도, **검색어로 걸러내는 기능(`keyword`)처럼 회원 도메인에는 없던 기능이 새로 등장**합니다. 뼈대는 같지만, 도메인마다 필요한 기능은 조금씩 다르다는 것도 나중에 체감하시게 될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 하루를 마무리하기 전에, 앞으로 남은 일정을 한 번 짚고 가겠습니다.** 첫날 말씀드렸던 그 약속, **'여러분의 앱이 인터넷에 있는 것'**을 향해 오늘로 아홉 번째 수업이 끝났습니다.</a:t>
            </a:r>
          </a:p>
          <a:p>
            <a:endParaRPr/>
          </a:p>
          <a:p>
            <a:r>
              <a:t>**내일은 상품 기능입니다.** 오늘과 비슷하게, 이미 완성된 코드를 읽고 직접 호출해서 확인하는 방식으로 갑니다.</a:t>
            </a:r>
          </a:p>
          <a:p>
            <a:endParaRPr/>
          </a:p>
          <a:p>
            <a:r>
              <a:t>**그다음은 이 앱을 도커 컨테이너 하나로 포장하는 `Dockerfile`, 그리고 배포 리허설과 구글 계정으로 로그인하는 기능을 추가하는 시간이 이어집니다.** 구글 로그인은 오늘 배운 세션 위에 '본인 확인 방법'이 하나 더 늘어나는 것뿐이라, 지금까지 배우신 것 위에서 크게 새로울 게 없습니다.</a:t>
            </a:r>
          </a:p>
          <a:p>
            <a:endParaRPr/>
          </a:p>
          <a:p>
            <a:r>
              <a:t>**그리고 결승선, GCP 배포입니다.** 그날 이후로는 `localhost`가 아니라 진짜 인터넷 주소로 여러분 앱에 접속할 수 있게 됩니다.</a:t>
            </a:r>
          </a:p>
          <a:p>
            <a:endParaRPr/>
          </a:p>
          <a:p>
            <a:r>
              <a:t>**마지막 며칠은 면접·포트폴리오 준비와 전체 회고로 마무리합니다.** 남은 일정이 촘촘하긴 하지만, **오늘까지 배운 것만으로 이미 회원 도메인 하나를 처음부터 끝까지 완성**하셨습니다 — 남은 일정은 이 위에 층을 하나씩 더 쌓는 과정일 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[8교시]</a:t>
            </a:r>
          </a:p>
          <a:p>
            <a:endParaRPr/>
          </a:p>
          <a:p>
            <a:r>
              <a:t>**오늘을 정리하겠습니다.**</a:t>
            </a:r>
          </a:p>
          <a:p>
            <a:endParaRPr/>
          </a:p>
          <a:p>
            <a:r>
              <a:t>**오교시, 세션 방식을 확정하고 세션·쿠키 개념을 물품보관함 비유로 정리했습니다.**</a:t>
            </a:r>
          </a:p>
          <a:p>
            <a:endParaRPr/>
          </a:p>
          <a:p>
            <a:r>
              <a:t>**육교시, `login()`에 세 줄을 추가해서 세션에 회원 `id`를 저장했고, 그 순간 `JSESSIONID` 쿠키가 자동으로 발급되는 걸 확인했습니다.**</a:t>
            </a:r>
          </a:p>
          <a:p>
            <a:endParaRPr/>
          </a:p>
          <a:p>
            <a:r>
              <a:t>**칠교시, `/me`와 `/logout`을 새로 만들어서, 쿠키 유무에 따라 결과가 완전히 갈리는 걸 직접 봤습니다.**</a:t>
            </a:r>
          </a:p>
          <a:p>
            <a:endParaRPr/>
          </a:p>
          <a:p>
            <a:r>
              <a:t>**팔교시, 두 사람이 동시에 로그인해도 세션이 서로 독립적이라는 것, 그리고 쿠키가 노출되면 안 되는 이유까지 확인했습니다.**</a:t>
            </a:r>
          </a:p>
          <a:p>
            <a:endParaRPr/>
          </a:p>
          <a:p>
            <a:r>
              <a:t>**내일 예고입니다.**</a:t>
            </a:r>
          </a:p>
          <a:p>
            <a:endParaRPr/>
          </a:p>
          <a:p>
            <a:r>
              <a:t>**다음 시간부터는 상품 기능으로 넘어갈 예정입니다. 상품 등록·조회·수정·삭제, 회원 때와 똑같은 패턴(컨트롤러→서비스→리포지토리→엔티티)이 그대로 반복됩니다.**</a:t>
            </a:r>
          </a:p>
          <a:p>
            <a:endParaRPr/>
          </a:p>
          <a:p>
            <a:r>
              <a:t>⚠️ **오늘 배운 세션은 상품 기능 자체에는 안 쓰이지만, '관리자만 상품을 등록할 수 있게' 만들 때 다시 등장합니다. 오늘 개념을 확실히 잡아두시면 그때 훨씬 수월합니다.**</a:t>
            </a:r>
          </a:p>
          <a:p>
            <a:endParaRPr/>
          </a:p>
          <a:p>
            <a:r>
              <a:t>**오늘 하루도 고생 많으셨습니다. 내일 뵙겠습니다.**</a:t>
            </a:r>
          </a:p>
          <a:p>
            <a:endParaRPr/>
          </a:p>
          <a:p>
            <a:r>
              <a:t>**여유가 되시면, 오늘 만든 세 API(로그인·확인·로그아웃)를 처음부터 끝까지 혼자 다시 만들어보시는 것도 좋은 복습입니다.** 코드를 안 보고 기억나는 만큼 짜보시고, 막히는 부분만 오늘 대본에서 찾아보시면, **다음 시간에 상품 기능을 시작하실 때 회원 도메인이 훨씬 단단하게 남아 있을 거예요.**</a:t>
            </a:r>
          </a:p>
          <a:p>
            <a:endParaRPr/>
          </a:p>
          <a:p>
            <a:r>
              <a:t>**회원가입부터 오늘 로그인 상태 유지까지, 회원 도메인 하나를 시작부터 끝까지 완성해보신 경험**은 앞으로 어떤 새 프로젝트를 만나시든 똑같이 적용됩니다. **회원가입 → 암호화 → 로그인 확인 → 로그인 상태 유지, 이 네 단계는 웹 서비스라면 거의 예외 없이 등장하는 뼈대**이니까요. 수고 많으셨습니다.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D9 — 로그인 상태 유지: 세션 방식으로 갑니다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🔔 5교시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2026-09-29 · 오후 4교시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212848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" y="2048255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 dirty="0" err="1" smtClean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</a:t>
            </a:r>
            <a:r>
              <a:rPr sz="1900" b="0" i="0" dirty="0" smtClean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b="0" i="0" dirty="0" err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방식입니다</a:t>
            </a:r>
            <a:endParaRPr sz="1900" b="0" i="0" dirty="0">
              <a:solidFill>
                <a:srgbClr val="1A1A2E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하루 지도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개념을 잡는다 → 저장한다 → 확인한다 → 독립을 검증한다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세션 방식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확정 + 개념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login()에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세션 저장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/me · /logout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만들고 테스트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8교시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세션 독립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 + 정리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처음 배우는 개념 — HTTP는 매 요청을 기억하지 못합니다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로그인에 성공해도, 바로 다음 요청에서 서버는 다시 '누구세요'라고 묻습니다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요청 1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로그인 요청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성공 응답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 끊김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요청이 끝나면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서버는 다 잊음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요청 2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같은 사람인데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서버는 모름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할 일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기억하는 장치를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직접 답니다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그래서 필요한 것 — 서버가 어딘가에 상태를 남겨야 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방법은 크게 두 가지입니다 — 오늘은 더 단순한 쪽을 고릅니다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세션(오늘 선택)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별도 라이브러리 불필요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HttpSession 하나로 구현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서버가 상태를 직접 들고 있음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토큰(JWT 등)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서명·검증 라이브러리 필요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서버는 상태를 안 들고 있음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배포까지 갈 시간이 줄어듦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세션이란 — 물품보관함에 비유합니다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로그인하면 서버가 보관함 번호(세션 ID)를 하나 내줍니다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비유</a:t>
            </a:r>
          </a:p>
        </p:txBody>
      </p:sp>
      <p:sp>
        <p:nvSpPr>
          <p:cNvPr id="10" name="Cell"/>
          <p:cNvSpPr/>
          <p:nvPr/>
        </p:nvSpPr>
        <p:spPr>
          <a:xfrm>
            <a:off x="3703320" y="2093976"/>
            <a:ext cx="6583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실제로는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보관함 번호표</a:t>
            </a:r>
          </a:p>
        </p:txBody>
      </p:sp>
      <p:sp>
        <p:nvSpPr>
          <p:cNvPr id="12" name="Cell"/>
          <p:cNvSpPr/>
          <p:nvPr/>
        </p:nvSpPr>
        <p:spPr>
          <a:xfrm>
            <a:off x="3703320" y="2569464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 ID — 서버가 로그인 시 발급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보관함 안의 물건</a:t>
            </a:r>
          </a:p>
        </p:txBody>
      </p:sp>
      <p:sp>
        <p:nvSpPr>
          <p:cNvPr id="14" name="Cell"/>
          <p:cNvSpPr/>
          <p:nvPr/>
        </p:nvSpPr>
        <p:spPr>
          <a:xfrm>
            <a:off x="3703320" y="3044952"/>
            <a:ext cx="6583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 메모리에 저장된 '이 사람은 누구'라는 정보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번호표를 다시 내미는 것</a:t>
            </a:r>
          </a:p>
        </p:txBody>
      </p:sp>
      <p:sp>
        <p:nvSpPr>
          <p:cNvPr id="16" name="Cell"/>
          <p:cNvSpPr/>
          <p:nvPr/>
        </p:nvSpPr>
        <p:spPr>
          <a:xfrm>
            <a:off x="3703320" y="3520440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다음 요청마다 쿠키로 세션 ID를 함께 보냄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번호표는 쿠키에 담겨 오갑니다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JSESSIONID라는 이름으로, 브라우저가 자동으로 들고 다닙니다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로그인 성공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서버가 세션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하나를 만듦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쿠키 발급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JSESSIONID를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응답에 실어 보냄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브라우저 저장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요청마다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자동으로 동봉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서버 확인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쿠키의 ID로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보관함을 찾음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세션은 어디에 저장될까요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DB가 아니라, 서버(자바 프로세스)의 메모리 안입니다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저장 위치</a:t>
            </a:r>
          </a:p>
        </p:txBody>
      </p:sp>
      <p:sp>
        <p:nvSpPr>
          <p:cNvPr id="10" name="Cell"/>
          <p:cNvSpPr/>
          <p:nvPr/>
        </p:nvSpPr>
        <p:spPr>
          <a:xfrm>
            <a:off x="3703320" y="2093976"/>
            <a:ext cx="6583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특징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 메모리(오늘 방식)</a:t>
            </a:r>
          </a:p>
        </p:txBody>
      </p:sp>
      <p:sp>
        <p:nvSpPr>
          <p:cNvPr id="12" name="Cell"/>
          <p:cNvSpPr/>
          <p:nvPr/>
        </p:nvSpPr>
        <p:spPr>
          <a:xfrm>
            <a:off x="3703320" y="2569464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빠르다 — 서버 재시작하면 전부 사라진다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DB(선택 사항)</a:t>
            </a:r>
          </a:p>
        </p:txBody>
      </p:sp>
      <p:sp>
        <p:nvSpPr>
          <p:cNvPr id="14" name="Cell"/>
          <p:cNvSpPr/>
          <p:nvPr/>
        </p:nvSpPr>
        <p:spPr>
          <a:xfrm>
            <a:off x="3703320" y="3044952"/>
            <a:ext cx="6583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느리지만 서버 재시작해도 유지된다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우리 코드</a:t>
            </a:r>
          </a:p>
        </p:txBody>
      </p:sp>
      <p:sp>
        <p:nvSpPr>
          <p:cNvPr id="16" name="Cell"/>
          <p:cNvSpPr/>
          <p:nvPr/>
        </p:nvSpPr>
        <p:spPr>
          <a:xfrm>
            <a:off x="3703320" y="3520440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기본값 그대로 — 메모리에 저장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만들 API 세 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로그인은 강사가 미리 준비해뒀죠 — 오늘은 이 코드에 기억을 붙이고, 확인·해제를 더합니다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6576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API</a:t>
            </a:r>
          </a:p>
        </p:txBody>
      </p:sp>
      <p:sp>
        <p:nvSpPr>
          <p:cNvPr id="10" name="Cell"/>
          <p:cNvSpPr/>
          <p:nvPr/>
        </p:nvSpPr>
        <p:spPr>
          <a:xfrm>
            <a:off x="4251960" y="2093976"/>
            <a:ext cx="60350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65760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POST /api/users/login (선배포+오늘)</a:t>
            </a:r>
          </a:p>
        </p:txBody>
      </p:sp>
      <p:sp>
        <p:nvSpPr>
          <p:cNvPr id="12" name="Cell"/>
          <p:cNvSpPr/>
          <p:nvPr/>
        </p:nvSpPr>
        <p:spPr>
          <a:xfrm>
            <a:off x="4251960" y="2569464"/>
            <a:ext cx="6035040" cy="641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 확인(이미 있음) + ★ 오늘부터 세션 저장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210560"/>
            <a:ext cx="36576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GET /api/users/me (신규)</a:t>
            </a:r>
          </a:p>
        </p:txBody>
      </p:sp>
      <p:sp>
        <p:nvSpPr>
          <p:cNvPr id="14" name="Cell"/>
          <p:cNvSpPr/>
          <p:nvPr/>
        </p:nvSpPr>
        <p:spPr>
          <a:xfrm>
            <a:off x="4251960" y="3210560"/>
            <a:ext cx="60350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지금 세션이 누구인지 확인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686047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POST /api/users/logout (신규)</a:t>
            </a:r>
          </a:p>
        </p:txBody>
      </p:sp>
      <p:sp>
        <p:nvSpPr>
          <p:cNvPr id="16" name="Cell"/>
          <p:cNvSpPr/>
          <p:nvPr/>
        </p:nvSpPr>
        <p:spPr>
          <a:xfrm>
            <a:off x="4251960" y="3686047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세션을 지운다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세션에는 얼마나 오래 로그인 상태가 유지될까요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가만히 두면, 세션도 시간이 지나면 자동으로 만료됩니다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endParaRPr/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내용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 타임아웃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일정 시간 요청이 없으면 서버가 세션을 자동 삭제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스프링 기본값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30분 — 설정으로 바꿀 수 있다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범위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기본값 그대로 사용, 직접 설정은 다루지 않음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Swagger에 새 API가 보입니다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만들 /me · /logout이 이미 준비되어 있습니다(강사가 미리 완성해 확인함)</a:t>
            </a:r>
          </a:p>
        </p:txBody>
      </p:sp>
      <p:pic>
        <p:nvPicPr>
          <p:cNvPr id="9" name="Picture 8" descr="swagger_new_end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587" y="2185416"/>
            <a:ext cx="6102519" cy="3803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 ID는 아무거나 쓰면 안 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누군가 금방 추측할 수 있다면, 그 자체가 보안 구멍입니다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1089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</a:p>
        </p:txBody>
      </p:sp>
      <p:sp>
        <p:nvSpPr>
          <p:cNvPr id="10" name="Cell"/>
          <p:cNvSpPr/>
          <p:nvPr/>
        </p:nvSpPr>
        <p:spPr>
          <a:xfrm>
            <a:off x="3703320" y="2093976"/>
            <a:ext cx="65836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충분히 길고 무작위</a:t>
            </a:r>
          </a:p>
        </p:txBody>
      </p:sp>
      <p:sp>
        <p:nvSpPr>
          <p:cNvPr id="12" name="Cell"/>
          <p:cNvSpPr/>
          <p:nvPr/>
        </p:nvSpPr>
        <p:spPr>
          <a:xfrm>
            <a:off x="3703320" y="2569464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다른 사람이 순서대로 대입해서 맞힐 수 없어야 함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1089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예측 불가능</a:t>
            </a:r>
          </a:p>
        </p:txBody>
      </p:sp>
      <p:sp>
        <p:nvSpPr>
          <p:cNvPr id="14" name="Cell"/>
          <p:cNvSpPr/>
          <p:nvPr/>
        </p:nvSpPr>
        <p:spPr>
          <a:xfrm>
            <a:off x="3703320" y="3044952"/>
            <a:ext cx="6583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1, 2, 3처럼 규칙이 있으면 위험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1089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우리 코드</a:t>
            </a:r>
          </a:p>
        </p:txBody>
      </p:sp>
      <p:sp>
        <p:nvSpPr>
          <p:cNvPr id="16" name="Cell"/>
          <p:cNvSpPr/>
          <p:nvPr/>
        </p:nvSpPr>
        <p:spPr>
          <a:xfrm>
            <a:off x="3703320" y="3520440"/>
            <a:ext cx="6583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스프링(Tomcat)이 알아서 안전하게 생성해줌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5교시 정리 — 그리고 남은 시간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4ED8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5교시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개념은 끝났습니다 — 육교시부터 손을 움직입니다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배운 것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 방식 확정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HTTP 무상태 문제 해결 + 최소 복잡도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세션의 정체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 메모리에 저장된 '이 사람이 누구인지' 정보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 ID 전달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JSESSIONID 쿠키로, 브라우저가 자동 동봉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6교시 — login()에 '기억'을 붙입니다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🔔 6교시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강사가 이미 완성해서 붙여둔 코드입니다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194560"/>
            <a:ext cx="10972800" cy="157530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// 강사가 미리 준비해둔 login() — 아이디·비밀번호 확인까지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@PostMapping("/login")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UserResponse login(@RequestBody Map&lt;String, String&gt; body)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return userService.login(body.get("loginId"), body.get("password"));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HttpServletRequest가 하는 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지금 들어온 이 요청 자체를 다루는 객체입니다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endParaRPr/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내용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HttpServletRequest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지금 들어온 HTTP 요청 그 자체를 표현하는 객체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필요한 이유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여기서 getSession()을 불러야 세션을 쓸 수 있다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받는 방법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컨트롤러 메서드 파라미터에 그냥 추가하면 스프링이 넣어줌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request.getSession()이 하는 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세션이 있으면 꺼내오고, 없으면 새로 만듭니다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133705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HttpSession session = request.getSession();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// 지금 이 요청에 딸린 세션을 가져온다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// 이미 있으면 그 세션을, 없으면 새로 만들어서 돌려준다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SessionConst.java — 세션 키를 상수로 뺍니다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문자열을 그냥 쓰면, 오타 하나로 로그인 상태가 조용히 깨집니다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src/main/java/com/dwacademy/shop/config/SessionConst.java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109880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class SessionConst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public static final String LOGIN_USER_ID = "loginUserId";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setAttribute — 이름표와 물건, 두 개가 필요합니다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첫 번째는 키(이름표), 두 번째는 값(물건)입니다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157530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session.setAttribute("이름표", 물건);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// 오늘 우리 코드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session.setAttribute(SessionConst.LOGIN_USER_ID, user.getId());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//                    ─── 이름표 ───              ── 물건 ──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login()에 세션 저장 코드가 이렇게 들어갔습니다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완성된 코드를 자세히 뜯어봅니다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src/main/java/com/dwacademy/shop/controller/UserController.java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229006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@PostMapping("/login")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UserResponse login(@RequestBody Map&lt;String, String&gt; body,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                   HttpServletRequest request)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UserResponse user = userService.login(body.get("loginId"), body.get("password"));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HttpSession session = request.getSession();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session.setAttribute(SessionConst.LOGIN_USER_ID, user.getId());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return user;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세션이 DB에는 저장되지 않습니다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오교시에 배운 내용을 코드 짠 직후 다시 확인합니다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157530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docker exec shop-mysql8 mysql -uroot -pshop1234 shop \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  -e "SHOW TABLES;"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products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users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E94560"/>
                </a:solidFill>
                <a:latin typeface="D2Coding"/>
                <a:ea typeface="D2Coding"/>
                <a:cs typeface="D2Coding"/>
              </a:rPr>
              <a:t># 세션(session)이라는 테이블은 없다 — 서버 메모리 안에만 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실제로 로그인해보면 — 쿠키를 파일로 저장합니다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-c 옵션으로 서버가 주는 쿠키를 파일로 저장합니다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860552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-i -c cookies.txt -X POST http://localhost:8080/api/users/login \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  -d '{"loginId":"본인아이디","password":"본인비밀번호"}'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서버가 쿠키를 내줍니다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Set-Cookie: JSESSIONID=... 줄이 오늘의 증거입니다</a:t>
            </a:r>
          </a:p>
        </p:txBody>
      </p:sp>
      <p:pic>
        <p:nvPicPr>
          <p:cNvPr id="9" name="Picture 8" descr="login_sets_cook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847" y="2185416"/>
            <a:ext cx="9144000" cy="22328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만약 setAttribute를 빼먹으면 어떻게 될까요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코드는 멀쩡히 돌아가지만, 세션에 아무것도 안 남습니다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setAttribute 있음(오늘 코드)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세션에 회원 id 저장됨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다음 요청에서 알아볼 수 있음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setAttribute 빠짐(실수)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세션은 만들어지지만 빈 채로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누구인지 기억을 못 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왜 id만 저장하고 회원 전체를 저장하지 않을까요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가볍게 만들고, 필요할 때마다 최신 정보를 다시 조회합니다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id만 저장(오늘 방식)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세션이 가볍다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/me 호출 때마다 최신 정보 조회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회원 객체 통째로 저장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세션이 무거워진다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이름을 바꿔도 세션 속 정보는 옛날 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6교시 정리 — 그리고 남은 시간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6교시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 코드에 딱 세 줄을 더했더니, 쿠키가 발급됐습니다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배운 것</a:t>
            </a:r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HttpServletRequest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지금 들어온 요청 자체를 다루는 객체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request.getSession()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세션을 가져온다(없으면 새로 만든다)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session.setAttribute(...)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세션에 값을 저장한다 → 쿠키가 자동 발급된다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7교시 — 지금 누가 로그인했는지 물어봅니다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🔔 7교시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쿠키를 들고 온 사람이 누구인지, 서버가 대답하는 API입니다</a:t>
            </a:r>
          </a:p>
        </p:txBody>
      </p:sp>
      <p:sp>
        <p:nvSpPr>
          <p:cNvPr id="10" name="FlowBox"/>
          <p:cNvSpPr/>
          <p:nvPr/>
        </p:nvSpPr>
        <p:spPr>
          <a:xfrm>
            <a:off x="594360" y="2286000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요청 도착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쿠키(JSESSIONID)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함께 옴</a:t>
            </a:r>
          </a:p>
        </p:txBody>
      </p:sp>
      <p:sp>
        <p:nvSpPr>
          <p:cNvPr id="11" name="Arrow"/>
          <p:cNvSpPr/>
          <p:nvPr/>
        </p:nvSpPr>
        <p:spPr>
          <a:xfrm>
            <a:off x="3083813" y="2843784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owBox"/>
          <p:cNvSpPr/>
          <p:nvPr/>
        </p:nvSpPr>
        <p:spPr>
          <a:xfrm>
            <a:off x="3431286" y="2286000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세션 확인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없으면 401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있으면 계속</a:t>
            </a:r>
          </a:p>
        </p:txBody>
      </p:sp>
      <p:sp>
        <p:nvSpPr>
          <p:cNvPr id="13" name="Arrow"/>
          <p:cNvSpPr/>
          <p:nvPr/>
        </p:nvSpPr>
        <p:spPr>
          <a:xfrm>
            <a:off x="5920740" y="2843784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owBox"/>
          <p:cNvSpPr/>
          <p:nvPr/>
        </p:nvSpPr>
        <p:spPr>
          <a:xfrm>
            <a:off x="6268212" y="2286000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id 꺼내기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세션에서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회원 id 조회</a:t>
            </a:r>
          </a:p>
        </p:txBody>
      </p:sp>
      <p:sp>
        <p:nvSpPr>
          <p:cNvPr id="15" name="Arrow"/>
          <p:cNvSpPr/>
          <p:nvPr/>
        </p:nvSpPr>
        <p:spPr>
          <a:xfrm>
            <a:off x="8757665" y="2843784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owBox"/>
          <p:cNvSpPr/>
          <p:nvPr/>
        </p:nvSpPr>
        <p:spPr>
          <a:xfrm>
            <a:off x="9105138" y="2286000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회원 조회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그 id로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UserResponse 반환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getSession(false) — 왜 false를 넣을까요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세션이 없을 때 새로 만들지 말라는 뜻입니다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getSession()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세션이 없으면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★ 새로 하나 만들어서 반환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getSession(false)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세션이 없으면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★ null을 반환(새로 안 만듦)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세션이 없으면 예외를 던집니다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지난 시간에 배운 예외 패턴을 오늘도 그대로 씁니다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src/main/java/com/dwacademy/shop/controller/UserController.java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133705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HttpSession session = request.getSession(false);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if (session == null || session.getAttribute(SessionConst.LOGIN_USER_ID) == null)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throw new IllegalStateException("로그인이 필요합니다");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세션에서 값을 꺼내 회원을 조회합니다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넣을 때 쓴 그 키(LOGIN_USER_ID)로, 똑같이 꺼냅니다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src/main/java/com/dwacademy/shop/controller/UserController.java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860552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Long userId = (Long) session.getAttribute(SessionConst.LOGIN_USER_ID);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return userService.findById(userId);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완성된 /me 메서드 — 세 조각이 합쳐진 모습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 조각(확인·예외·조회)이 하나의 메서드로 합쳐져 있습니다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src/main/java/com/dwacademy/shop/controller/UserController.java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252831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@GetMapping("/me")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UserResponse me(HttpServletRequest request)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HttpSession session = request.getSession(false);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if (session == null || session.getAttribute(SessionConst.LOGIN_USER_ID) == null)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throw new IllegalStateException("로그인이 필요합니다");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Long userId = (Long) session.getAttribute(SessionConst.LOGIN_USER_ID);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return userService.findById(userId);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 전에 먼저 눌러보면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세션(쿠키) 없이 /me를 호출하면 어떻게 될까요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7315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-i http://localhost:8080/api/users/me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로그인 전 /me는 401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로그인이 필요합니다 — 우리가 직접 쓴 그 메시지 그대로입니다</a:t>
            </a:r>
          </a:p>
        </p:txBody>
      </p:sp>
      <p:pic>
        <p:nvPicPr>
          <p:cNvPr id="9" name="Picture 8" descr="me_before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847" y="2185416"/>
            <a:ext cx="9144000" cy="17809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로그인하고 쿠키를 들고 물어보면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-b 옵션으로, 저장해둔 쿠키를 실어 보냅니다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1337056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-c cookies.txt -X POST http://localhost:8080/api/users/login \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  -d '{"loginId":"본인아이디","password":"본인비밀번호"}'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-i -b cookies.txt http://localhost:8080/api/users/me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쿠키를 들고 오니 알아봅니다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같은 API인데, 쿠키 유무에 따라 결과가 완전히 달라집니다</a:t>
            </a:r>
          </a:p>
        </p:txBody>
      </p:sp>
      <p:pic>
        <p:nvPicPr>
          <p:cNvPr id="9" name="Picture 8" descr="me_after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847" y="2185416"/>
            <a:ext cx="9144000" cy="17809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logout — 세션을 지웁니다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invalidate() 한 줄이면 보관함을 통째로 비웁니다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src/main/java/com/dwacademy/shop/controller/UserController.java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2051812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@PostMapping("/logout")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void logout(HttpServletRequest request)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HttpSession session = request.getSession(false);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if (session != null)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</a:t>
            </a:r>
            <a:r>
              <a:rPr sz="1400" b="0" i="0">
                <a:solidFill>
                  <a:srgbClr val="16213E"/>
                </a:solidFill>
                <a:highlight>
                  <a:srgbClr val="FFF200"/>
                </a:highlight>
                <a:latin typeface="D2Coding"/>
                <a:ea typeface="D2Coding"/>
                <a:cs typeface="D2Coding"/>
              </a:rPr>
              <a:t>session.invalidate();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로그아웃하고 다시 확인하면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같은 쿠키로 다시 /me를 호출하면 어떻게 될까요</a:t>
            </a:r>
          </a:p>
        </p:txBody>
      </p:sp>
      <p:pic>
        <p:nvPicPr>
          <p:cNvPr id="9" name="Picture 8" descr="logout_then_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847" y="2185416"/>
            <a:ext cx="9144000" cy="22328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ApiExceptionHandler에 한 줄을 추가했습니다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IllegalStateException을 401로 바꿔주는 코드입니다</a:t>
            </a:r>
          </a:p>
        </p:txBody>
      </p:sp>
      <p:sp>
        <p:nvSpPr>
          <p:cNvPr id="9" name="FilePath"/>
          <p:cNvSpPr txBox="1"/>
          <p:nvPr/>
        </p:nvSpPr>
        <p:spPr>
          <a:xfrm>
            <a:off x="594360" y="20756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3460"/>
                </a:solidFill>
                <a:latin typeface="Apple SD Gothic Neo"/>
                <a:ea typeface="Apple SD Gothic Neo"/>
                <a:cs typeface="Apple SD Gothic Neo"/>
              </a:rPr>
              <a:t>📂 src/main/java/com/dwacademy/shop/controller/ApiExceptionHandler.java</a:t>
            </a:r>
          </a:p>
        </p:txBody>
      </p:sp>
      <p:sp>
        <p:nvSpPr>
          <p:cNvPr id="10" name="CodeBox"/>
          <p:cNvSpPr/>
          <p:nvPr/>
        </p:nvSpPr>
        <p:spPr>
          <a:xfrm>
            <a:off x="594360" y="2459736"/>
            <a:ext cx="10972800" cy="157530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@ExceptionHandler(IllegalStateException.class)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public ResponseEntity&lt;Map&lt;String, String&gt;&gt; handleUnauthorized(IllegalStateException e) {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return ResponseEntity.status(HttpStatus.UNAUTHORIZED)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            .body(Map.of("message", e.getMessage()));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6213E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7교시 정리 — 그리고 남은 시간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7교시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로그인·확인·로그아웃, 세 API로 로그인 상태 유지가 완성됐습니다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2918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API</a:t>
            </a:r>
          </a:p>
        </p:txBody>
      </p:sp>
      <p:sp>
        <p:nvSpPr>
          <p:cNvPr id="10" name="Cell"/>
          <p:cNvSpPr/>
          <p:nvPr/>
        </p:nvSpPr>
        <p:spPr>
          <a:xfrm>
            <a:off x="3886200" y="2093976"/>
            <a:ext cx="58521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확인한 것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2918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GET /api/users/me</a:t>
            </a:r>
          </a:p>
        </p:txBody>
      </p:sp>
      <p:sp>
        <p:nvSpPr>
          <p:cNvPr id="12" name="Cell"/>
          <p:cNvSpPr/>
          <p:nvPr/>
        </p:nvSpPr>
        <p:spPr>
          <a:xfrm>
            <a:off x="3886200" y="2569464"/>
            <a:ext cx="58521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쿠키 없으면 401, 있으면 회원 정보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2918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POST /api/users/logout</a:t>
            </a:r>
          </a:p>
        </p:txBody>
      </p:sp>
      <p:sp>
        <p:nvSpPr>
          <p:cNvPr id="14" name="Cell"/>
          <p:cNvSpPr/>
          <p:nvPr/>
        </p:nvSpPr>
        <p:spPr>
          <a:xfrm>
            <a:off x="3886200" y="3044952"/>
            <a:ext cx="58521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session.invalidate()로 세션 삭제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2918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ApiExceptionHandler</a:t>
            </a:r>
          </a:p>
        </p:txBody>
      </p:sp>
      <p:sp>
        <p:nvSpPr>
          <p:cNvPr id="16" name="Cell"/>
          <p:cNvSpPr/>
          <p:nvPr/>
        </p:nvSpPr>
        <p:spPr>
          <a:xfrm>
            <a:off x="3886200" y="3520440"/>
            <a:ext cx="58521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IllegalStateException → 401 자동 변환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8교시 — 세션은 각자 독립적입니다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PeriodBreakBadge"/>
          <p:cNvSpPr txBox="1"/>
          <p:nvPr/>
        </p:nvSpPr>
        <p:spPr>
          <a:xfrm>
            <a:off x="8394192" y="768096"/>
            <a:ext cx="32186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🔔 8교시 시작 — 끊어서 진행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55063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576" y="1490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두 사람이 동시에 로그인하면, 서로의 정보가 섞일까요</a:t>
            </a:r>
          </a:p>
        </p:txBody>
      </p:sp>
      <p:sp>
        <p:nvSpPr>
          <p:cNvPr id="10" name="Cell"/>
          <p:cNvSpPr/>
          <p:nvPr/>
        </p:nvSpPr>
        <p:spPr>
          <a:xfrm>
            <a:off x="594360" y="2194560"/>
            <a:ext cx="45720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여러분의 예상</a:t>
            </a:r>
          </a:p>
        </p:txBody>
      </p:sp>
      <p:sp>
        <p:nvSpPr>
          <p:cNvPr id="11" name="Cell"/>
          <p:cNvSpPr/>
          <p:nvPr/>
        </p:nvSpPr>
        <p:spPr>
          <a:xfrm>
            <a:off x="5166360" y="2194560"/>
            <a:ext cx="51206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endParaRPr/>
          </a:p>
        </p:txBody>
      </p:sp>
      <p:sp>
        <p:nvSpPr>
          <p:cNvPr id="12" name="Cell"/>
          <p:cNvSpPr/>
          <p:nvPr/>
        </p:nvSpPr>
        <p:spPr>
          <a:xfrm>
            <a:off x="594360" y="2670048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A. 나중에 로그인한 사람 정보로 덮어써진다</a:t>
            </a:r>
          </a:p>
        </p:txBody>
      </p:sp>
      <p:sp>
        <p:nvSpPr>
          <p:cNvPr id="13" name="Cell"/>
          <p:cNvSpPr/>
          <p:nvPr/>
        </p:nvSpPr>
        <p:spPr>
          <a:xfrm>
            <a:off x="5166360" y="2670048"/>
            <a:ext cx="51206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endParaRPr/>
          </a:p>
        </p:txBody>
      </p:sp>
      <p:sp>
        <p:nvSpPr>
          <p:cNvPr id="14" name="Cell"/>
          <p:cNvSpPr/>
          <p:nvPr/>
        </p:nvSpPr>
        <p:spPr>
          <a:xfrm>
            <a:off x="594360" y="3145536"/>
            <a:ext cx="45720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B. 각자 자기 쿠키로 각자의 정보만 본다</a:t>
            </a:r>
          </a:p>
        </p:txBody>
      </p:sp>
      <p:sp>
        <p:nvSpPr>
          <p:cNvPr id="15" name="Cell"/>
          <p:cNvSpPr/>
          <p:nvPr/>
        </p:nvSpPr>
        <p:spPr>
          <a:xfrm>
            <a:off x="5166360" y="3145536"/>
            <a:ext cx="51206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endParaRPr/>
          </a:p>
        </p:txBody>
      </p:sp>
      <p:sp>
        <p:nvSpPr>
          <p:cNvPr id="16" name="Cell"/>
          <p:cNvSpPr/>
          <p:nvPr/>
        </p:nvSpPr>
        <p:spPr>
          <a:xfrm>
            <a:off x="594360" y="3621024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C. 둘 다 로그인이 안 된다</a:t>
            </a:r>
          </a:p>
        </p:txBody>
      </p:sp>
      <p:sp>
        <p:nvSpPr>
          <p:cNvPr id="17" name="Cell"/>
          <p:cNvSpPr/>
          <p:nvPr/>
        </p:nvSpPr>
        <p:spPr>
          <a:xfrm>
            <a:off x="5166360" y="3621024"/>
            <a:ext cx="51206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두 계정으로 동시에 로그인해보면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쿠키 파일을 A용, B용으로 따로 만듭니다</a:t>
            </a:r>
          </a:p>
        </p:txBody>
      </p:sp>
      <p:sp>
        <p:nvSpPr>
          <p:cNvPr id="9" name="CodeBox"/>
          <p:cNvSpPr/>
          <p:nvPr/>
        </p:nvSpPr>
        <p:spPr>
          <a:xfrm>
            <a:off x="594360" y="2093976"/>
            <a:ext cx="10972800" cy="1575308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rtlCol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-c cookies_A.txt -X POST http://localhost:8080/api/users/login \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  -d '{"loginId":"계정A","password":"비번A"}'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D2Coding"/>
                <a:ea typeface="D2Coding"/>
                <a:cs typeface="D2Coding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curl -c cookies_B.txt -X POST http://localhost:8080/api/users/login \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D2Coding"/>
                <a:ea typeface="D2Coding"/>
                <a:cs typeface="D2Coding"/>
              </a:rPr>
              <a:t>  -d '{"loginId":"계정B","password":"비번B"}'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실제 화면 — 두 개의 독립된 세션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 ID가 서로 다르고, /me 결과도 각자 다릅니다</a:t>
            </a:r>
          </a:p>
        </p:txBody>
      </p:sp>
      <p:pic>
        <p:nvPicPr>
          <p:cNvPr id="9" name="Picture 8" descr="two_sessions_isol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847" y="2185416"/>
            <a:ext cx="9144000" cy="33625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만약 쿠키를 다른 사람에게 보여주면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 ID를 알면, 그 사람인 척 할 수 있다는 뜻이기도 합니다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402336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상황</a:t>
            </a:r>
          </a:p>
        </p:txBody>
      </p:sp>
      <p:sp>
        <p:nvSpPr>
          <p:cNvPr id="10" name="Cell"/>
          <p:cNvSpPr/>
          <p:nvPr/>
        </p:nvSpPr>
        <p:spPr>
          <a:xfrm>
            <a:off x="4617720" y="2093976"/>
            <a:ext cx="566928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4023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내 JSESSIONID를 남에게 알려줌</a:t>
            </a:r>
          </a:p>
        </p:txBody>
      </p:sp>
      <p:sp>
        <p:nvSpPr>
          <p:cNvPr id="12" name="Cell"/>
          <p:cNvSpPr/>
          <p:nvPr/>
        </p:nvSpPr>
        <p:spPr>
          <a:xfrm>
            <a:off x="4617720" y="2569464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 사람이 내 세션으로 /me를 호출 가능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40233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공용 컴퓨터에서 로그아웃 안 함</a:t>
            </a:r>
          </a:p>
        </p:txBody>
      </p:sp>
      <p:sp>
        <p:nvSpPr>
          <p:cNvPr id="14" name="Cell"/>
          <p:cNvSpPr/>
          <p:nvPr/>
        </p:nvSpPr>
        <p:spPr>
          <a:xfrm>
            <a:off x="4617720" y="3044952"/>
            <a:ext cx="56692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다음 사람이 내 세션을 그대로 이어받음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4023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오늘의 교훈</a:t>
            </a:r>
          </a:p>
        </p:txBody>
      </p:sp>
      <p:sp>
        <p:nvSpPr>
          <p:cNvPr id="16" name="Cell"/>
          <p:cNvSpPr/>
          <p:nvPr/>
        </p:nvSpPr>
        <p:spPr>
          <a:xfrm>
            <a:off x="4617720" y="3520440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쿠키는 '지금 이 순간의 나'를 증명하는 열쇠다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 확인과 로그인 기억, 무엇이 다른가요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'로그인'이라는 말 안에 사실 두 가지 다른 일이 들어 있었습니다</a:t>
            </a:r>
          </a:p>
        </p:txBody>
      </p:sp>
      <p:sp>
        <p:nvSpPr>
          <p:cNvPr id="9" name="PanelHeader"/>
          <p:cNvSpPr/>
          <p:nvPr/>
        </p:nvSpPr>
        <p:spPr>
          <a:xfrm>
            <a:off x="594360" y="2148840"/>
            <a:ext cx="5276088" cy="50292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확인하기 — matches()</a:t>
            </a:r>
          </a:p>
        </p:txBody>
      </p:sp>
      <p:sp>
        <p:nvSpPr>
          <p:cNvPr id="10" name="PanelBody"/>
          <p:cNvSpPr/>
          <p:nvPr/>
        </p:nvSpPr>
        <p:spPr>
          <a:xfrm>
            <a:off x="594360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아이디·비밀번호만 확인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확인 끝나면 그걸로 끝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다음 요청은 다시 남남</a:t>
            </a:r>
          </a:p>
        </p:txBody>
      </p:sp>
      <p:sp>
        <p:nvSpPr>
          <p:cNvPr id="11" name="PanelHeader"/>
          <p:cNvSpPr/>
          <p:nvPr/>
        </p:nvSpPr>
        <p:spPr>
          <a:xfrm>
            <a:off x="6291072" y="2148840"/>
            <a:ext cx="5276088" cy="502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기억하기 — 오늘 만든 세션</a:t>
            </a:r>
          </a:p>
        </p:txBody>
      </p:sp>
      <p:sp>
        <p:nvSpPr>
          <p:cNvPr id="12" name="PanelBody"/>
          <p:cNvSpPr/>
          <p:nvPr/>
        </p:nvSpPr>
        <p:spPr>
          <a:xfrm>
            <a:off x="6291072" y="2743200"/>
            <a:ext cx="5276088" cy="23042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28016" rtlCol="0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확인 + 세션 저장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쿠키로 계속 '나'임을 증명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/me로 언제든 재확인 가능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만든 API 지도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회원가입부터 로그인 상태 유지까지, 전체가 하나로 이어집니다</a:t>
            </a:r>
          </a:p>
        </p:txBody>
      </p:sp>
      <p:sp>
        <p:nvSpPr>
          <p:cNvPr id="9" name="FlowBox"/>
          <p:cNvSpPr/>
          <p:nvPr/>
        </p:nvSpPr>
        <p:spPr>
          <a:xfrm>
            <a:off x="594360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회원가입(D8)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직접 구현,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비밀번호 암호화 저장</a:t>
            </a:r>
          </a:p>
        </p:txBody>
      </p:sp>
      <p:sp>
        <p:nvSpPr>
          <p:cNvPr id="10" name="Arrow"/>
          <p:cNvSpPr/>
          <p:nvPr/>
        </p:nvSpPr>
        <p:spPr>
          <a:xfrm>
            <a:off x="3083813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lowBox"/>
          <p:cNvSpPr/>
          <p:nvPr/>
        </p:nvSpPr>
        <p:spPr>
          <a:xfrm>
            <a:off x="3431286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로그인(선배포+오늘)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matches() 확인 +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세션 저장</a:t>
            </a:r>
          </a:p>
        </p:txBody>
      </p:sp>
      <p:sp>
        <p:nvSpPr>
          <p:cNvPr id="12" name="Arrow"/>
          <p:cNvSpPr/>
          <p:nvPr/>
        </p:nvSpPr>
        <p:spPr>
          <a:xfrm>
            <a:off x="5920740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lowBox"/>
          <p:cNvSpPr/>
          <p:nvPr/>
        </p:nvSpPr>
        <p:spPr>
          <a:xfrm>
            <a:off x="6268212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/me(D9)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쿠키로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본인 확인</a:t>
            </a:r>
          </a:p>
        </p:txBody>
      </p:sp>
      <p:sp>
        <p:nvSpPr>
          <p:cNvPr id="14" name="Arrow"/>
          <p:cNvSpPr/>
          <p:nvPr/>
        </p:nvSpPr>
        <p:spPr>
          <a:xfrm>
            <a:off x="8757665" y="2743200"/>
            <a:ext cx="320040" cy="283464"/>
          </a:xfrm>
          <a:prstGeom prst="rightArrow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lowBox"/>
          <p:cNvSpPr/>
          <p:nvPr/>
        </p:nvSpPr>
        <p:spPr>
          <a:xfrm>
            <a:off x="9105138" y="2185416"/>
            <a:ext cx="2462022" cy="1399032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/logout(D9)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세션 삭제 →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다시 401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면접에서 자주 나오는 질문 — 세션과 쿠키의 차이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정확히 구분해서 설명할 수 있게 됐습니다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6576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10" name="Cell"/>
          <p:cNvSpPr/>
          <p:nvPr/>
        </p:nvSpPr>
        <p:spPr>
          <a:xfrm>
            <a:off x="4251960" y="2093976"/>
            <a:ext cx="60350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배운 답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세션과 쿠키, 같은 건가요?</a:t>
            </a:r>
          </a:p>
        </p:txBody>
      </p:sp>
      <p:sp>
        <p:nvSpPr>
          <p:cNvPr id="12" name="Cell"/>
          <p:cNvSpPr/>
          <p:nvPr/>
        </p:nvSpPr>
        <p:spPr>
          <a:xfrm>
            <a:off x="4251960" y="2569464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아니요 — 쿠키는 전달 수단, 세션은 서버 쪽 저장소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6576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세션은 어디에 저장되나요?</a:t>
            </a:r>
          </a:p>
        </p:txBody>
      </p:sp>
      <p:sp>
        <p:nvSpPr>
          <p:cNvPr id="14" name="Cell"/>
          <p:cNvSpPr/>
          <p:nvPr/>
        </p:nvSpPr>
        <p:spPr>
          <a:xfrm>
            <a:off x="4251960" y="3044952"/>
            <a:ext cx="60350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 메모리(오늘 우리 코드 기준)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로그아웃하면 무슨 일이 벌어지나요?</a:t>
            </a:r>
          </a:p>
        </p:txBody>
      </p:sp>
      <p:sp>
        <p:nvSpPr>
          <p:cNvPr id="16" name="Cell"/>
          <p:cNvSpPr/>
          <p:nvPr/>
        </p:nvSpPr>
        <p:spPr>
          <a:xfrm>
            <a:off x="4251960" y="3520440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서버가 session.invalidate()로 저장소를 비운다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체크리스트 — 오늘 실습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다음 시간으로 넘어가기 전에 스스로 점검합니다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42062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 항목</a:t>
            </a:r>
          </a:p>
        </p:txBody>
      </p:sp>
      <p:sp>
        <p:nvSpPr>
          <p:cNvPr id="10" name="Cell"/>
          <p:cNvSpPr/>
          <p:nvPr/>
        </p:nvSpPr>
        <p:spPr>
          <a:xfrm>
            <a:off x="4800600" y="2093976"/>
            <a:ext cx="54864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정상이면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 응답 헤더</a:t>
            </a:r>
          </a:p>
        </p:txBody>
      </p:sp>
      <p:sp>
        <p:nvSpPr>
          <p:cNvPr id="12" name="Cell"/>
          <p:cNvSpPr/>
          <p:nvPr/>
        </p:nvSpPr>
        <p:spPr>
          <a:xfrm>
            <a:off x="4800600" y="2569464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Set-Cookie: JSESSIONID=... 가 보인다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 전 /me</a:t>
            </a:r>
          </a:p>
        </p:txBody>
      </p:sp>
      <p:sp>
        <p:nvSpPr>
          <p:cNvPr id="14" name="Cell"/>
          <p:cNvSpPr/>
          <p:nvPr/>
        </p:nvSpPr>
        <p:spPr>
          <a:xfrm>
            <a:off x="4800600" y="3044952"/>
            <a:ext cx="5486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401 + '로그인이 필요합니다'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 후 /me</a:t>
            </a:r>
          </a:p>
        </p:txBody>
      </p:sp>
      <p:sp>
        <p:nvSpPr>
          <p:cNvPr id="16" name="Cell"/>
          <p:cNvSpPr/>
          <p:nvPr/>
        </p:nvSpPr>
        <p:spPr>
          <a:xfrm>
            <a:off x="4800600" y="3520440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200 + 본인 회원 정보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42062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로그아웃 후 같은 쿠키로 /me</a:t>
            </a:r>
          </a:p>
        </p:txBody>
      </p:sp>
      <p:sp>
        <p:nvSpPr>
          <p:cNvPr id="18" name="Cell"/>
          <p:cNvSpPr/>
          <p:nvPr/>
        </p:nvSpPr>
        <p:spPr>
          <a:xfrm>
            <a:off x="4800600" y="3995928"/>
            <a:ext cx="5486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다시 401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실무에서는 세션을 Redis에 두기도 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배운 걸 그대로 두되, 저장 위치만 바꾸는 방식입니다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endParaRPr/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내용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메모리 기반의 아주 빠른 외부 저장소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서버가 여러 대여도, 모든 서버가 같은 세션을 공유할 수 있음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우리 코드와의 관계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코드 구조(getSession, setAttribute)는 거의 그대로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질문 시간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 하루, 막히신 부분을 편하게 물어보세요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36576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자주 막히는 지점</a:t>
            </a:r>
          </a:p>
        </p:txBody>
      </p:sp>
      <p:sp>
        <p:nvSpPr>
          <p:cNvPr id="10" name="Cell"/>
          <p:cNvSpPr/>
          <p:nvPr/>
        </p:nvSpPr>
        <p:spPr>
          <a:xfrm>
            <a:off x="4251960" y="2093976"/>
            <a:ext cx="60350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먼저 확인할 것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로그인해도 세션이 안 생김</a:t>
            </a:r>
          </a:p>
        </p:txBody>
      </p:sp>
      <p:sp>
        <p:nvSpPr>
          <p:cNvPr id="12" name="Cell"/>
          <p:cNvSpPr/>
          <p:nvPr/>
        </p:nvSpPr>
        <p:spPr>
          <a:xfrm>
            <a:off x="4251960" y="2569464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session.setAttribute 줄을 빼먹지 않았는지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36576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/me가 계속 401</a:t>
            </a:r>
          </a:p>
        </p:txBody>
      </p:sp>
      <p:sp>
        <p:nvSpPr>
          <p:cNvPr id="14" name="Cell"/>
          <p:cNvSpPr/>
          <p:nvPr/>
        </p:nvSpPr>
        <p:spPr>
          <a:xfrm>
            <a:off x="4251960" y="3044952"/>
            <a:ext cx="60350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curl에 -b cookies.txt를 빼먹지 않았는지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36576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캐스팅 에러(ClassCastException)</a:t>
            </a:r>
          </a:p>
        </p:txBody>
      </p:sp>
      <p:sp>
        <p:nvSpPr>
          <p:cNvPr id="16" name="Cell"/>
          <p:cNvSpPr/>
          <p:nvPr/>
        </p:nvSpPr>
        <p:spPr>
          <a:xfrm>
            <a:off x="4251960" y="3520440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(Long) 캐스팅 앞에 괄호를 정확히 썼는지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다음 미리보기 — 상품 도메인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회원 때와 똑같은 패턴이, 새로운 이름(Product)으로 반복될 예정입니다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45720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회원(User) — 이번 주</a:t>
            </a:r>
          </a:p>
        </p:txBody>
      </p:sp>
      <p:sp>
        <p:nvSpPr>
          <p:cNvPr id="10" name="Cell"/>
          <p:cNvSpPr/>
          <p:nvPr/>
        </p:nvSpPr>
        <p:spPr>
          <a:xfrm>
            <a:off x="5166360" y="2093976"/>
            <a:ext cx="51206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상품(Product) — 다음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UserController</a:t>
            </a:r>
          </a:p>
        </p:txBody>
      </p:sp>
      <p:sp>
        <p:nvSpPr>
          <p:cNvPr id="12" name="Cell"/>
          <p:cNvSpPr/>
          <p:nvPr/>
        </p:nvSpPr>
        <p:spPr>
          <a:xfrm>
            <a:off x="5166360" y="2569464"/>
            <a:ext cx="51206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ProductController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45720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UserService · join/login/me</a:t>
            </a:r>
          </a:p>
        </p:txBody>
      </p:sp>
      <p:sp>
        <p:nvSpPr>
          <p:cNvPr id="14" name="Cell"/>
          <p:cNvSpPr/>
          <p:nvPr/>
        </p:nvSpPr>
        <p:spPr>
          <a:xfrm>
            <a:off x="5166360" y="3044952"/>
            <a:ext cx="51206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ProductService · 등록/조회/수정/삭제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UserRepository, User 엔티티</a:t>
            </a:r>
          </a:p>
        </p:txBody>
      </p:sp>
      <p:sp>
        <p:nvSpPr>
          <p:cNvPr id="16" name="Cell"/>
          <p:cNvSpPr/>
          <p:nvPr/>
        </p:nvSpPr>
        <p:spPr>
          <a:xfrm>
            <a:off x="5166360" y="3520440"/>
            <a:ext cx="51206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ProductRepository, Product 엔티티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앞으로 남은 일정 — GCP 배포까지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오늘을 포함해 아홉 번, 마지막 날엔 여러분 앱이 인터넷에 떠 있습니다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27432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endParaRPr/>
          </a:p>
        </p:txBody>
      </p:sp>
      <p:sp>
        <p:nvSpPr>
          <p:cNvPr id="10" name="Cell"/>
          <p:cNvSpPr/>
          <p:nvPr/>
        </p:nvSpPr>
        <p:spPr>
          <a:xfrm>
            <a:off x="3337560" y="2093976"/>
            <a:ext cx="694944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내용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내일</a:t>
            </a:r>
          </a:p>
        </p:txBody>
      </p:sp>
      <p:sp>
        <p:nvSpPr>
          <p:cNvPr id="12" name="Cell"/>
          <p:cNvSpPr/>
          <p:nvPr/>
        </p:nvSpPr>
        <p:spPr>
          <a:xfrm>
            <a:off x="3337560" y="2569464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상품 CRUD — 이미 완성된 코드를 읽고 확인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그다음</a:t>
            </a:r>
          </a:p>
        </p:txBody>
      </p:sp>
      <p:sp>
        <p:nvSpPr>
          <p:cNvPr id="14" name="Cell"/>
          <p:cNvSpPr/>
          <p:nvPr/>
        </p:nvSpPr>
        <p:spPr>
          <a:xfrm>
            <a:off x="3337560" y="3044952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Dockerfile — 앱을 컨테이너 하나로 포장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그다음</a:t>
            </a:r>
          </a:p>
        </p:txBody>
      </p:sp>
      <p:sp>
        <p:nvSpPr>
          <p:cNvPr id="16" name="Cell"/>
          <p:cNvSpPr/>
          <p:nvPr/>
        </p:nvSpPr>
        <p:spPr>
          <a:xfrm>
            <a:off x="3337560" y="3520440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배포 리허설 · 구글 소셜 로그인 추가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27432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★ 결승선</a:t>
            </a:r>
          </a:p>
        </p:txBody>
      </p:sp>
      <p:sp>
        <p:nvSpPr>
          <p:cNvPr id="18" name="Cell"/>
          <p:cNvSpPr/>
          <p:nvPr/>
        </p:nvSpPr>
        <p:spPr>
          <a:xfrm>
            <a:off x="3337560" y="3995928"/>
            <a:ext cx="694944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GCP에 실제로 배포 — 여러분 앱이 인터넷 주소를 가짐</a:t>
            </a:r>
          </a:p>
        </p:txBody>
      </p:sp>
      <p:sp>
        <p:nvSpPr>
          <p:cNvPr id="19" name="Cell"/>
          <p:cNvSpPr/>
          <p:nvPr/>
        </p:nvSpPr>
        <p:spPr>
          <a:xfrm>
            <a:off x="594360" y="4471416"/>
            <a:ext cx="2743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마지막</a:t>
            </a:r>
          </a:p>
        </p:txBody>
      </p:sp>
      <p:sp>
        <p:nvSpPr>
          <p:cNvPr id="20" name="Cell"/>
          <p:cNvSpPr/>
          <p:nvPr/>
        </p:nvSpPr>
        <p:spPr>
          <a:xfrm>
            <a:off x="3337560" y="4471416"/>
            <a:ext cx="69494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면접·포트폴리오 준비, 회고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652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정리 — 오늘 세 가지 API로 '기억'을 완성했습니다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60704"/>
            <a:ext cx="1371600" cy="548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56848" y="38404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DW 아카데미 · 드론 AIoT 5기 · D9 · 8교시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554480"/>
            <a:ext cx="109728" cy="109728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9576" y="138988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로그인·확인·삭제, 세션이라는 하나의 개념으로 묶여 있었습니다</a:t>
            </a:r>
          </a:p>
        </p:txBody>
      </p:sp>
      <p:sp>
        <p:nvSpPr>
          <p:cNvPr id="9" name="Cell"/>
          <p:cNvSpPr/>
          <p:nvPr/>
        </p:nvSpPr>
        <p:spPr>
          <a:xfrm>
            <a:off x="594360" y="2093976"/>
            <a:ext cx="118872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교시</a:t>
            </a:r>
          </a:p>
        </p:txBody>
      </p:sp>
      <p:sp>
        <p:nvSpPr>
          <p:cNvPr id="10" name="Cell"/>
          <p:cNvSpPr/>
          <p:nvPr/>
        </p:nvSpPr>
        <p:spPr>
          <a:xfrm>
            <a:off x="1783080" y="2093976"/>
            <a:ext cx="7772400" cy="475488"/>
          </a:xfrm>
          <a:prstGeom prst="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것</a:t>
            </a:r>
          </a:p>
        </p:txBody>
      </p:sp>
      <p:sp>
        <p:nvSpPr>
          <p:cNvPr id="11" name="Cell"/>
          <p:cNvSpPr/>
          <p:nvPr/>
        </p:nvSpPr>
        <p:spPr>
          <a:xfrm>
            <a:off x="594360" y="2569464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12" name="Cell"/>
          <p:cNvSpPr/>
          <p:nvPr/>
        </p:nvSpPr>
        <p:spPr>
          <a:xfrm>
            <a:off x="1783080" y="2569464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세션 방식 확정 · 세션·쿠키 개념 정리</a:t>
            </a:r>
          </a:p>
        </p:txBody>
      </p:sp>
      <p:sp>
        <p:nvSpPr>
          <p:cNvPr id="13" name="Cell"/>
          <p:cNvSpPr/>
          <p:nvPr/>
        </p:nvSpPr>
        <p:spPr>
          <a:xfrm>
            <a:off x="594360" y="3044952"/>
            <a:ext cx="118872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14" name="Cell"/>
          <p:cNvSpPr/>
          <p:nvPr/>
        </p:nvSpPr>
        <p:spPr>
          <a:xfrm>
            <a:off x="1783080" y="3044952"/>
            <a:ext cx="7772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★ login()에 session.setAttribute() 추가</a:t>
            </a:r>
          </a:p>
        </p:txBody>
      </p:sp>
      <p:sp>
        <p:nvSpPr>
          <p:cNvPr id="15" name="Cell"/>
          <p:cNvSpPr/>
          <p:nvPr/>
        </p:nvSpPr>
        <p:spPr>
          <a:xfrm>
            <a:off x="594360" y="352044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16" name="Cell"/>
          <p:cNvSpPr/>
          <p:nvPr/>
        </p:nvSpPr>
        <p:spPr>
          <a:xfrm>
            <a:off x="1783080" y="3520440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/me · /logout 신규 구현, 401 처리 추가</a:t>
            </a:r>
          </a:p>
        </p:txBody>
      </p:sp>
      <p:sp>
        <p:nvSpPr>
          <p:cNvPr id="17" name="Cell"/>
          <p:cNvSpPr/>
          <p:nvPr/>
        </p:nvSpPr>
        <p:spPr>
          <a:xfrm>
            <a:off x="594360" y="3995928"/>
            <a:ext cx="118872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18" name="Cell"/>
          <p:cNvSpPr/>
          <p:nvPr/>
        </p:nvSpPr>
        <p:spPr>
          <a:xfrm>
            <a:off x="1783080" y="3995928"/>
            <a:ext cx="777240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/>
            <a:r>
              <a:rPr sz="1400" b="0" i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두 세션의 독립성 확인 · 보안 함정 소개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12635</Words>
  <Application>Microsoft Office PowerPoint</Application>
  <PresentationFormat>와이드스크린</PresentationFormat>
  <Paragraphs>1117</Paragraphs>
  <Slides>50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6" baseType="lpstr">
      <vt:lpstr>Apple SD Gothic Neo</vt:lpstr>
      <vt:lpstr>D2Coding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ahnys</cp:lastModifiedBy>
  <cp:revision>3</cp:revision>
  <dcterms:created xsi:type="dcterms:W3CDTF">2013-01-27T09:14:16Z</dcterms:created>
  <dcterms:modified xsi:type="dcterms:W3CDTF">2026-09-29T07:14:15Z</dcterms:modified>
  <cp:category/>
</cp:coreProperties>
</file>